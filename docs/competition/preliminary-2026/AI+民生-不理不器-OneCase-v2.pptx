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  <Relationship Id="rId21" Type="http://schemas.openxmlformats.org/officeDocument/2006/relationships/notesMaster" Target="notesMasters/notesMaster1.xml"/>
</Relationships>
</file>

<file path=ppt/notesMasters/_rels/notesMaster1.xml.rels><?xml version="1.0" encoding="UTF-8" standalone="yes"?>
<Relationships xmlns="http://schemas.openxmlformats.org/package/2006/relationships">
  <Relationship Id="rId1" Type="http://schemas.openxmlformats.org/officeDocument/2006/relationships/theme" Target="../theme/theme2.xml"/>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en-US"/>
    </a:lvl1pPr>
  </p:notesStyle>
</p:notesMaster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2.xml"/>
</Relationships>
</file>

<file path=ppt/notesSlides/_rels/notesSlide1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3.xml"/>
</Relationships>
</file>

<file path=ppt/notesSlides/_rels/notesSlide1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4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各位评委好，我是乔瑞雪，个人团队不理不器，赛道是 AI 加民生。开始之前，先念一条居民的留言：三栋二单元的灯又坏了，另外楼下垃圾今天也没人清。今天的项目就从这条留言讲起——OneCase 要做的，就是把这样的居民反馈，整理成可追踪的社区事项。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请注意，刚才那条留言里其实藏着两件事：灯坏了是一件，垃圾没人清是另一件，要分别跟进。而另一位居民，可能昨天就报过同一盏灯——不应只因消息不同，就重复建档。于是在反馈和正式台账之间，就出现了拆分、查重、誊录这段整理环节，这是社区工作人员和网格员每天的重复劳动。如实说明，这个问题的真实频率和成本我们还没有实测，它目前是一个待验证的假设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我一个人参赛，围绕这一个完整场景，独立做了三件事：产品定义，包括状态机、确认门禁和查重策略这些业务规则；全栈实现，从 Web 工作台到三种模型适配，再到数据层；以及质量和文档，单元测试、不变量测试和端到端测试。我的想法很简单：把一个场景做完整，胜过把十个场景做一半。暂缺的社区业务经验，希望后续通过场景共建来补齐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那这个问题怎么解？OneCase 的第一原则是：AI 提出建议，人决定事实。系统把原始反馈、AI 草稿和正式事项分开保存，分析成功不会自动生成正式事项——每一条正式记录，都必须经过人工确认。您看下面这条链路：居民反馈进来，AI 生成草稿，人检查之后决定新建还是关联，然后持续跟踪。AI 负责提建议，人对事实负责。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具体来说，整理就是两种关系。左边是拆开：一条反馈拆成照明、清运两个草稿，分别处理。右边是汇拢：不同居民的反馈，经人工确认后关联到同一个事项，并且保留各自的来源。系统会按标题词汇、地点、类别和时间给出相似候选，并展示匹配依据；地点不同会给出提示。但请注意——系统不自动合并，最终由人核对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接下来用两分钟做现场演示。第一步，粘贴一段同时包含照明和清运问题的反馈原文。第二步，检查拆出的两个草稿，以及各自带的相似事项候选和依据。第三步是关键：照明问题关联到已有事项，清运问题新建事项——一条反馈，两种去向。第四步，打开事项详情，看来源、处理记录和首页统计的联动。先说明两点：演示数据是合成样例；实际运行的模型模式我会在现场如实标注，是真实模型，还是用于流程验证的 Mock。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建议要进入正式记录，每条路径都有保护。草稿可以修改，新建事项采用人工确认后的字段，并留下修改记录；批量确认时，新建、关联和记录写入同一个事务，决策不完整就整体拒绝；已确认的反馈拒绝重复确认，状态门禁拦住非法流转；AI 失败可以重试，符合条件的反馈还能转人工手动创建。这些保护都有代码和测试兜底。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技术上，模型提取和业务规则是分开的。最上面是 Web 工作台；往下是 AI 适配层，实现了 Mock、通义千问和 OpenAI 三种提供方；再往下是业务控制层，Schema 校验、候选排序、人工确认门禁和状态机都在这一层——这是系统的核心；底层是数据记录，原始反馈、草稿、事项、来源和处理记录全程留痕。技术栈是 Next.js、React、TypeScript、Zod、Prisma 和 SQLite。如实说明：真实模型效果还需专项实测，重复候选目前没有用向量检索。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能核验的，才是可信的。八月三十一日本机实测：一百一十六项单元测试、八十七项业务不变量、二十二项端到端流程，全部通过，另外六个子包的类型检查也全部通过。这些数字不是宣传，是仓库里的测试套件，欢迎现场复核。同样如实说明：这是个人参赛项目，目前没有客户与合作数据，我不拿演示代替客户验证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商业上，我们从一个受控场景开始：先场景共建，再流程验证，最后才是服务采购。使用者是社区工作人员和网格员；潜在付费方是社区服务运营主体，预算和采购路径还需要验证；候选收入是部署配置费加持续运维费；主要成本在模型调用、部署、安全合规和用户支持。如实说：商业化目前是待验证方案，当前没有已验证的价格、合同或收入——先在真实流程里证明价值，再谈收费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下一步，用对照实验回答两个问题：是否省时，是否增加误判。做法是拿同一批经过授权和脱敏的反馈，人工整理和 OneCase 辅助整理各跑一遍，逐条对照。看三类指标：速度上，从原始反馈到确认事项的中位耗时；质量上，漏项、字段错误、误关联和人工修改次数；运行上，模型失败率、兜底频次和单次成本。验收阈值和场景方共同确定，是否继续投入，由实测数据决定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后如实划界。当前已实现的，是文字输入校验、草稿检查编辑、相似候选与人工确认、事项跟踪统计这一条完整链路。试点之前要补齐的，是身份认证权限、组织数据隔离、访问限制和草稿找回。图片语音输入、微信渠道、语义检索，属于后续评估——页面里的入口样式尚未打通，不计入已实现能力。如实划界，比夸大更能建立信任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开源基础与本人贡献，分别说明。组件上，Next.js、React、Zod 是 MIT，Prisma 是 Apache 二点零，Lucide 是 ISC；八月三十一日全量扫描了二十七个直接依赖，没有 GPL 等传染性协议。贡献上，产品定义、业务规则、全部实现与测试由本人独立完成，项目未公开发表、未商业化。开发中使用了 AI 编程工具辅助编码与测试，但产品判断、方案取舍与最终验收由本人负责——框架和第三方代码，不表述为本人原创。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回到那句话：AI 整理建议，人确认事实。让每条反馈有去向，每个事项可追踪。OneCase 下一步需要的，是可以共同验证流程的场景方——真实场景、脱敏样本、流程评估。谢谢各位，欢迎提问。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2.xml"/>
</Relationships>
</file>

<file path=ppt/slides/_rels/slide1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3.xml"/>
</Relationships>
</file>

<file path=ppt/slides/_rels/slide1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4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603504" y="289560"/>
            <a:ext cx="10984992" cy="348615"/>
            <a:chOff x="603504" y="289560"/>
            <a:chExt cx="10984992" cy="348615"/>
          </a:xfrm>
        </p:grpSpPr>
        <p:sp>
          <p:nvSpPr>
            <p:cNvPr id="3" name="TextBox 3"/>
            <p:cNvSpPr txBox="1"/>
            <p:nvPr/>
          </p:nvSpPr>
          <p:spPr>
            <a:xfrm>
              <a:off x="603504" y="289560"/>
              <a:ext cx="318333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spc="150" dirty="0">
                  <a:solidFill>
                    <a:srgbClr val="5C6B64"/>
                  </a:solidFill>
                  <a:latin typeface="Georgia"/>
                  <a:ea typeface="SimSun"/>
                  <a:cs typeface="Georgia"/>
                </a:rPr>
                <a:t>江岸计划 · AI 黑客松创新大赛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9029548" y="289560"/>
              <a:ext cx="25589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spc="225" dirty="0">
                  <a:solidFill>
                    <a:srgbClr val="5C6B64"/>
                  </a:solidFill>
                  <a:latin typeface="Georgia"/>
                  <a:ea typeface="Georgia"/>
                  <a:cs typeface="Georgia"/>
                </a:rPr>
                <a:t>PRELIMINARY · 2026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609600" y="5524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28575">
              <a:solidFill>
                <a:srgbClr val="1E4D40"/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609600" y="6286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8DED6"/>
              </a:solidFill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603504" y="1203960"/>
            <a:ext cx="3633765" cy="234696"/>
            <a:chOff x="603504" y="1203960"/>
            <a:chExt cx="3633765" cy="234696"/>
          </a:xfrm>
        </p:grpSpPr>
        <p:sp>
          <p:nvSpPr>
            <p:cNvPr id="8" name="TextBox 8"/>
            <p:cNvSpPr txBox="1"/>
            <p:nvPr/>
          </p:nvSpPr>
          <p:spPr>
            <a:xfrm>
              <a:off x="603504" y="1203960"/>
              <a:ext cx="363376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375" dirty="0">
                  <a:solidFill>
                    <a:srgbClr val="D97B29"/>
                  </a:solidFill>
                  <a:latin typeface="Arial"/>
                  <a:ea typeface="Microsoft YaHei"/>
                  <a:cs typeface="Arial"/>
                </a:rPr>
                <a:t>AI+民生赛道 · 参赛团队 不理不器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552450" y="1912620"/>
            <a:ext cx="5872734" cy="1440942"/>
            <a:chOff x="552450" y="1912620"/>
            <a:chExt cx="5872734" cy="1440942"/>
          </a:xfrm>
        </p:grpSpPr>
        <p:sp>
          <p:nvSpPr>
            <p:cNvPr id="10" name="TextBox 10"/>
            <p:cNvSpPr txBox="1"/>
            <p:nvPr/>
          </p:nvSpPr>
          <p:spPr>
            <a:xfrm>
              <a:off x="552450" y="1912620"/>
              <a:ext cx="3504408" cy="1047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5400" b="1" dirty="0">
                  <a:solidFill>
                    <a:srgbClr val="1E4D40"/>
                  </a:solidFill>
                  <a:latin typeface="Georgia"/>
                  <a:ea typeface="Georgia"/>
                  <a:cs typeface="Georgia"/>
                </a:rPr>
                <a:t>OneCase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97408" y="2884170"/>
              <a:ext cx="582777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rgbClr val="22302B"/>
                  </a:solidFill>
                  <a:latin typeface="Georgia"/>
                  <a:ea typeface="SimSun"/>
                  <a:cs typeface="Georgia"/>
                </a:rPr>
                <a:t>把居民反馈，整理成可追踪的社区事项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609600" y="3886200"/>
            <a:ext cx="7842809" cy="990600"/>
            <a:chOff x="609600" y="3886200"/>
            <a:chExt cx="7842809" cy="990600"/>
          </a:xfrm>
        </p:grpSpPr>
        <p:sp>
          <p:nvSpPr>
            <p:cNvPr id="13" name="Line 13"/>
            <p:cNvSpPr/>
            <p:nvPr/>
          </p:nvSpPr>
          <p:spPr>
            <a:xfrm>
              <a:off x="609600" y="3886200"/>
              <a:ext cx="9525" cy="990600"/>
            </a:xfrm>
            <a:custGeom>
              <a:avLst/>
              <a:gdLst/>
              <a:ahLst/>
              <a:cxnLst/>
              <a:rect l="l" t="t" r="r" b="b"/>
              <a:pathLst>
                <a:path w="9525" h="990600">
                  <a:moveTo>
                    <a:pt x="0" y="0"/>
                  </a:moveTo>
                  <a:lnTo>
                    <a:pt x="0" y="990600"/>
                  </a:lnTo>
                </a:path>
              </a:pathLst>
            </a:custGeom>
            <a:noFill/>
            <a:ln w="38100">
              <a:solidFill>
                <a:srgbClr val="D97B29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03732" y="4002405"/>
              <a:ext cx="754867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22302B"/>
                  </a:solidFill>
                  <a:latin typeface="Georgia"/>
                  <a:ea typeface="SimSun"/>
                  <a:cs typeface="Georgia"/>
                </a:rPr>
                <a:t>“三栋二单元的灯又坏了……另外楼下垃圾今天也没人清。”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07542" y="4540568"/>
              <a:ext cx="64312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—— 一条居民留言（合成示例）。OneCase 要把它整理成两件可分别追踪的事。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03504" y="6172200"/>
            <a:ext cx="10984992" cy="467106"/>
            <a:chOff x="603504" y="6172200"/>
            <a:chExt cx="10984992" cy="467106"/>
          </a:xfrm>
        </p:grpSpPr>
        <p:sp>
          <p:nvSpPr>
            <p:cNvPr id="17" name="Line 17"/>
            <p:cNvSpPr/>
            <p:nvPr/>
          </p:nvSpPr>
          <p:spPr>
            <a:xfrm>
              <a:off x="609600" y="61722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8DED6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03504" y="6404610"/>
              <a:ext cx="21607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乔瑞雪 · 不理不器 · 个人参赛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154717" y="6404610"/>
              <a:ext cx="143377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8A968F"/>
                  </a:solidFill>
                  <a:latin typeface="Arial"/>
                  <a:ea typeface="Microsoft YaHei"/>
                  <a:cs typeface="Arial"/>
                </a:rPr>
                <a:t>2026 年 9 月 · 南京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93598" y="594360"/>
            <a:ext cx="10988802" cy="805625"/>
            <a:chOff x="593598" y="594360"/>
            <a:chExt cx="10988802" cy="805625"/>
          </a:xfrm>
        </p:grpSpPr>
        <p:sp>
          <p:nvSpPr>
            <p:cNvPr id="3" name="TextBox 3"/>
            <p:cNvSpPr txBox="1"/>
            <p:nvPr/>
          </p:nvSpPr>
          <p:spPr>
            <a:xfrm>
              <a:off x="603504" y="594360"/>
              <a:ext cx="25981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300" dirty="0">
                  <a:solidFill>
                    <a:srgbClr val="D97B29"/>
                  </a:solidFill>
                  <a:latin typeface="Arial"/>
                  <a:ea typeface="Microsoft YaHei"/>
                  <a:cs typeface="Arial"/>
                </a:rPr>
                <a:t>问题 · 整理环节的重复劳动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3598" y="783908"/>
              <a:ext cx="5677510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1E4D40"/>
                  </a:solidFill>
                  <a:latin typeface="Georgia"/>
                  <a:ea typeface="SimSun"/>
                  <a:cs typeface="Georgia"/>
                </a:rPr>
                <a:t>一条居民留言，藏着两件事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609600" y="13525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8DED6"/>
              </a:solidFill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597408" y="1760220"/>
            <a:ext cx="7213092" cy="897255"/>
            <a:chOff x="597408" y="1760220"/>
            <a:chExt cx="7213092" cy="897255"/>
          </a:xfrm>
        </p:grpSpPr>
        <p:sp>
          <p:nvSpPr>
            <p:cNvPr id="7" name="TextBox 7"/>
            <p:cNvSpPr txBox="1"/>
            <p:nvPr/>
          </p:nvSpPr>
          <p:spPr>
            <a:xfrm>
              <a:off x="597408" y="1760220"/>
              <a:ext cx="41867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rgbClr val="1E4D40"/>
                  </a:solidFill>
                  <a:latin typeface="Georgia"/>
                  <a:ea typeface="Georgia"/>
                  <a:cs typeface="Georgia"/>
                </a:rPr>
                <a:t>01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419606" y="176784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一条消息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421892" y="2140268"/>
              <a:ext cx="56657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灯坏了、垃圾没人清——可能包含多个需要分别处理、分别跟进的问题。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609600" y="2647950"/>
              <a:ext cx="7200900" cy="9525"/>
            </a:xfrm>
            <a:custGeom>
              <a:avLst/>
              <a:gdLst/>
              <a:ahLst/>
              <a:cxnLst/>
              <a:rect l="l" t="t" r="r" b="b"/>
              <a:pathLst>
                <a:path w="7200900" h="9525">
                  <a:moveTo>
                    <a:pt x="0" y="0"/>
                  </a:moveTo>
                  <a:lnTo>
                    <a:pt x="7200900" y="0"/>
                  </a:lnTo>
                </a:path>
              </a:pathLst>
            </a:custGeom>
            <a:noFill/>
            <a:ln w="9525">
              <a:solidFill>
                <a:srgbClr val="E4E8E1"/>
              </a:solidFill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597408" y="3093720"/>
            <a:ext cx="7213092" cy="897255"/>
            <a:chOff x="597408" y="3093720"/>
            <a:chExt cx="7213092" cy="897255"/>
          </a:xfrm>
        </p:grpSpPr>
        <p:sp>
          <p:nvSpPr>
            <p:cNvPr id="12" name="TextBox 12"/>
            <p:cNvSpPr txBox="1"/>
            <p:nvPr/>
          </p:nvSpPr>
          <p:spPr>
            <a:xfrm>
              <a:off x="597408" y="3093720"/>
              <a:ext cx="41867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rgbClr val="1E4D40"/>
                  </a:solidFill>
                  <a:latin typeface="Georgia"/>
                  <a:ea typeface="Georgia"/>
                  <a:cs typeface="Georgia"/>
                </a:rPr>
                <a:t>02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419606" y="310134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不同居民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421892" y="3473768"/>
              <a:ext cx="493878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可能重复反映同一个问题——不应只因消息不同，就重复建档。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609600" y="3981450"/>
              <a:ext cx="7200900" cy="9525"/>
            </a:xfrm>
            <a:custGeom>
              <a:avLst/>
              <a:gdLst/>
              <a:ahLst/>
              <a:cxnLst/>
              <a:rect l="l" t="t" r="r" b="b"/>
              <a:pathLst>
                <a:path w="7200900" h="9525">
                  <a:moveTo>
                    <a:pt x="0" y="0"/>
                  </a:moveTo>
                  <a:lnTo>
                    <a:pt x="7200900" y="0"/>
                  </a:lnTo>
                </a:path>
              </a:pathLst>
            </a:custGeom>
            <a:noFill/>
            <a:ln w="9525">
              <a:solidFill>
                <a:srgbClr val="E4E8E1"/>
              </a:solidFill>
            </a:ln>
          </p:spPr>
        </p:sp>
      </p:grpSp>
      <p:grpSp>
        <p:nvGrpSpPr>
          <p:cNvPr id="20" name="Group 20"/>
          <p:cNvGrpSpPr/>
          <p:nvPr/>
        </p:nvGrpSpPr>
        <p:grpSpPr>
          <a:xfrm>
            <a:off x="597408" y="4427220"/>
            <a:ext cx="6126747" cy="644081"/>
            <a:chOff x="597408" y="4427220"/>
            <a:chExt cx="6126747" cy="644081"/>
          </a:xfrm>
        </p:grpSpPr>
        <p:sp>
          <p:nvSpPr>
            <p:cNvPr id="17" name="TextBox 17"/>
            <p:cNvSpPr txBox="1"/>
            <p:nvPr/>
          </p:nvSpPr>
          <p:spPr>
            <a:xfrm>
              <a:off x="597408" y="4427220"/>
              <a:ext cx="41867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rgbClr val="1E4D40"/>
                  </a:solidFill>
                  <a:latin typeface="Georgia"/>
                  <a:ea typeface="Georgia"/>
                  <a:cs typeface="Georgia"/>
                </a:rPr>
                <a:t>03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19606" y="443484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工作人员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421892" y="4807268"/>
              <a:ext cx="530226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需要拆分、查重，再誊入台账——在聊天记录与台账之间来回搬运。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8382000" y="1714500"/>
            <a:ext cx="3200400" cy="1905000"/>
            <a:chOff x="8382000" y="1714500"/>
            <a:chExt cx="3200400" cy="1905000"/>
          </a:xfrm>
        </p:grpSpPr>
        <p:sp>
          <p:nvSpPr>
            <p:cNvPr id="21" name="Rectangle 21"/>
            <p:cNvSpPr/>
            <p:nvPr/>
          </p:nvSpPr>
          <p:spPr>
            <a:xfrm>
              <a:off x="8382000" y="1714500"/>
              <a:ext cx="3200400" cy="1905000"/>
            </a:xfrm>
            <a:prstGeom prst="rect">
              <a:avLst/>
            </a:prstGeom>
            <a:solidFill>
              <a:srgbClr val="F0F2ED"/>
            </a:solidFill>
            <a:ln>
              <a:noFill/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8729662" y="2024062"/>
              <a:ext cx="257175" cy="257176"/>
              <a:chOff x="8729662" y="2024062"/>
              <a:chExt cx="257175" cy="257176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8758238" y="2024062"/>
                <a:ext cx="1143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14300">
                    <a:moveTo>
                      <a:pt x="0" y="57150"/>
                    </a:moveTo>
                    <a:cubicBezTo>
                      <a:pt x="0" y="88713"/>
                      <a:pt x="25587" y="114300"/>
                      <a:pt x="57150" y="114300"/>
                    </a:cubicBezTo>
                    <a:cubicBezTo>
                      <a:pt x="88713" y="114300"/>
                      <a:pt x="114300" y="88713"/>
                      <a:pt x="114300" y="57150"/>
                    </a:cubicBezTo>
                    <a:cubicBezTo>
                      <a:pt x="114300" y="25587"/>
                      <a:pt x="88713" y="0"/>
                      <a:pt x="57150" y="0"/>
                    </a:cubicBezTo>
                    <a:cubicBezTo>
                      <a:pt x="25587" y="0"/>
                      <a:pt x="0" y="25587"/>
                      <a:pt x="0" y="57150"/>
                    </a:cubicBezTo>
                  </a:path>
                </a:pathLst>
              </a:custGeom>
              <a:noFill/>
              <a:ln w="19050">
                <a:solidFill>
                  <a:srgbClr val="1E4D40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8729662" y="2195512"/>
                <a:ext cx="171450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85725">
                    <a:moveTo>
                      <a:pt x="0" y="85725"/>
                    </a:moveTo>
                    <a:lnTo>
                      <a:pt x="0" y="57150"/>
                    </a:lnTo>
                    <a:cubicBezTo>
                      <a:pt x="0" y="25587"/>
                      <a:pt x="25587" y="0"/>
                      <a:pt x="57150" y="0"/>
                    </a:cubicBezTo>
                    <a:lnTo>
                      <a:pt x="114300" y="0"/>
                    </a:lnTo>
                    <a:cubicBezTo>
                      <a:pt x="145863" y="0"/>
                      <a:pt x="171450" y="25587"/>
                      <a:pt x="171450" y="57150"/>
                    </a:cubicBezTo>
                    <a:lnTo>
                      <a:pt x="171450" y="85725"/>
                    </a:lnTo>
                  </a:path>
                </a:pathLst>
              </a:custGeom>
              <a:noFill/>
              <a:ln w="19050">
                <a:solidFill>
                  <a:srgbClr val="1E4D40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8915400" y="2025920"/>
                <a:ext cx="42975" cy="110728"/>
              </a:xfrm>
              <a:custGeom>
                <a:avLst/>
                <a:gdLst/>
                <a:ahLst/>
                <a:cxnLst/>
                <a:rect l="l" t="t" r="r" b="b"/>
                <a:pathLst>
                  <a:path w="42975" h="110728">
                    <a:moveTo>
                      <a:pt x="0" y="0"/>
                    </a:moveTo>
                    <a:cubicBezTo>
                      <a:pt x="25288" y="6475"/>
                      <a:pt x="42975" y="29261"/>
                      <a:pt x="42975" y="55364"/>
                    </a:cubicBezTo>
                    <a:cubicBezTo>
                      <a:pt x="42975" y="81467"/>
                      <a:pt x="25288" y="104253"/>
                      <a:pt x="0" y="110728"/>
                    </a:cubicBezTo>
                  </a:path>
                </a:pathLst>
              </a:custGeom>
              <a:noFill/>
              <a:ln w="19050">
                <a:solidFill>
                  <a:srgbClr val="1E4D40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8943975" y="2197656"/>
                <a:ext cx="42862" cy="83582"/>
              </a:xfrm>
              <a:custGeom>
                <a:avLst/>
                <a:gdLst/>
                <a:ahLst/>
                <a:cxnLst/>
                <a:rect l="l" t="t" r="r" b="b"/>
                <a:pathLst>
                  <a:path w="42862" h="83582">
                    <a:moveTo>
                      <a:pt x="42862" y="83582"/>
                    </a:moveTo>
                    <a:lnTo>
                      <a:pt x="42862" y="55007"/>
                    </a:lnTo>
                    <a:cubicBezTo>
                      <a:pt x="42713" y="29069"/>
                      <a:pt x="25115" y="6484"/>
                      <a:pt x="0" y="0"/>
                    </a:cubicBezTo>
                  </a:path>
                </a:pathLst>
              </a:custGeom>
              <a:noFill/>
              <a:ln w="19050">
                <a:solidFill>
                  <a:srgbClr val="1E4D40"/>
                </a:solidFill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8679942" y="2597468"/>
              <a:ext cx="8375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spc="15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直接用户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677656" y="2891790"/>
              <a:ext cx="260077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社区工作人员 · 网格员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680704" y="3261360"/>
              <a:ext cx="22738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A968F"/>
                  </a:solidFill>
                  <a:latin typeface="Arial"/>
                  <a:ea typeface="Microsoft YaHei"/>
                  <a:cs typeface="Arial"/>
                </a:rPr>
                <a:t>居民是信息来源，暂不需要操作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8382000" y="4000500"/>
            <a:ext cx="2779776" cy="1333500"/>
            <a:chOff x="8382000" y="4000500"/>
            <a:chExt cx="2779776" cy="1333500"/>
          </a:xfrm>
        </p:grpSpPr>
        <p:sp>
          <p:nvSpPr>
            <p:cNvPr id="31" name="Line 31"/>
            <p:cNvSpPr/>
            <p:nvPr/>
          </p:nvSpPr>
          <p:spPr>
            <a:xfrm>
              <a:off x="8382000" y="4000500"/>
              <a:ext cx="9525" cy="1333500"/>
            </a:xfrm>
            <a:custGeom>
              <a:avLst/>
              <a:gdLst/>
              <a:ahLst/>
              <a:cxnLst/>
              <a:rect l="l" t="t" r="r" b="b"/>
              <a:pathLst>
                <a:path w="9525" h="1333500">
                  <a:moveTo>
                    <a:pt x="0" y="0"/>
                  </a:moveTo>
                  <a:lnTo>
                    <a:pt x="0" y="1333500"/>
                  </a:lnTo>
                </a:path>
              </a:pathLst>
            </a:custGeom>
            <a:noFill/>
            <a:ln w="28575">
              <a:solidFill>
                <a:srgbClr val="D97B29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603742" y="4159568"/>
              <a:ext cx="8375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spc="150" dirty="0">
                  <a:solidFill>
                    <a:srgbClr val="1E4D40"/>
                  </a:solidFill>
                  <a:latin typeface="Arial"/>
                  <a:ea typeface="Microsoft YaHei"/>
                  <a:cs typeface="Arial"/>
                </a:rPr>
                <a:t>如实说明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603742" y="4502468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问题在真实社区中的频率与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603742" y="4769168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成本尚未实测，属待验证假设。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603504" y="6404610"/>
            <a:ext cx="10984992" cy="234696"/>
            <a:chOff x="603504" y="6404610"/>
            <a:chExt cx="10984992" cy="234696"/>
          </a:xfrm>
        </p:grpSpPr>
        <p:sp>
          <p:nvSpPr>
            <p:cNvPr id="36" name="TextBox 36"/>
            <p:cNvSpPr txBox="1"/>
            <p:nvPr/>
          </p:nvSpPr>
          <p:spPr>
            <a:xfrm>
              <a:off x="603504" y="6404610"/>
              <a:ext cx="15224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A968F"/>
                  </a:solidFill>
                  <a:latin typeface="Arial"/>
                  <a:ea typeface="Microsoft YaHei"/>
                  <a:cs typeface="Arial"/>
                </a:rPr>
                <a:t>OneCase · 初赛路演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1035132" y="640461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8A968F"/>
                  </a:solidFill>
                  <a:latin typeface="Arial"/>
                  <a:ea typeface="Arial"/>
                  <a:cs typeface="Arial"/>
                </a:rPr>
                <a:t>02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93598" y="594360"/>
            <a:ext cx="10988802" cy="805625"/>
            <a:chOff x="593598" y="594360"/>
            <a:chExt cx="10988802" cy="805625"/>
          </a:xfrm>
        </p:grpSpPr>
        <p:sp>
          <p:nvSpPr>
            <p:cNvPr id="3" name="TextBox 3"/>
            <p:cNvSpPr txBox="1"/>
            <p:nvPr/>
          </p:nvSpPr>
          <p:spPr>
            <a:xfrm>
              <a:off x="603504" y="594360"/>
              <a:ext cx="15480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300" dirty="0">
                  <a:solidFill>
                    <a:srgbClr val="D97B29"/>
                  </a:solidFill>
                  <a:latin typeface="Arial"/>
                  <a:ea typeface="Microsoft YaHei"/>
                  <a:cs typeface="Arial"/>
                </a:rPr>
                <a:t>团队 · 单人参赛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3598" y="783908"/>
              <a:ext cx="4736592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1E4D40"/>
                  </a:solidFill>
                  <a:latin typeface="Georgia"/>
                  <a:ea typeface="SimSun"/>
                  <a:cs typeface="Georgia"/>
                </a:rPr>
                <a:t>一个人，一个完整交付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609600" y="13525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8DED6"/>
              </a:solidFill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609600" y="1714500"/>
            <a:ext cx="3048000" cy="4191000"/>
            <a:chOff x="609600" y="1714500"/>
            <a:chExt cx="3048000" cy="4191000"/>
          </a:xfrm>
        </p:grpSpPr>
        <p:sp>
          <p:nvSpPr>
            <p:cNvPr id="7" name="Rectangle 7"/>
            <p:cNvSpPr/>
            <p:nvPr/>
          </p:nvSpPr>
          <p:spPr>
            <a:xfrm>
              <a:off x="609600" y="1714500"/>
              <a:ext cx="3048000" cy="4191000"/>
            </a:xfrm>
            <a:prstGeom prst="rect">
              <a:avLst/>
            </a:prstGeom>
            <a:solidFill>
              <a:srgbClr val="F0F2ED"/>
            </a:solidFill>
            <a:ln>
              <a:noFill/>
            </a:ln>
          </p:spPr>
        </p:sp>
        <p:grpSp>
          <p:nvGrpSpPr>
            <p:cNvPr id="10" name="Group 10"/>
            <p:cNvGrpSpPr/>
            <p:nvPr/>
          </p:nvGrpSpPr>
          <p:grpSpPr>
            <a:xfrm>
              <a:off x="1019175" y="2109787"/>
              <a:ext cx="209550" cy="314325"/>
              <a:chOff x="1019175" y="2109787"/>
              <a:chExt cx="209550" cy="314325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1054100" y="2109787"/>
                <a:ext cx="139700" cy="139700"/>
              </a:xfrm>
              <a:custGeom>
                <a:avLst/>
                <a:gdLst/>
                <a:ahLst/>
                <a:cxnLst/>
                <a:rect l="l" t="t" r="r" b="b"/>
                <a:pathLst>
                  <a:path w="139700" h="139700">
                    <a:moveTo>
                      <a:pt x="0" y="69850"/>
                    </a:moveTo>
                    <a:cubicBezTo>
                      <a:pt x="0" y="108427"/>
                      <a:pt x="31273" y="139700"/>
                      <a:pt x="69850" y="139700"/>
                    </a:cubicBezTo>
                    <a:cubicBezTo>
                      <a:pt x="108427" y="139700"/>
                      <a:pt x="139700" y="108427"/>
                      <a:pt x="139700" y="69850"/>
                    </a:cubicBezTo>
                    <a:cubicBezTo>
                      <a:pt x="139700" y="31273"/>
                      <a:pt x="108427" y="0"/>
                      <a:pt x="69850" y="0"/>
                    </a:cubicBezTo>
                    <a:cubicBezTo>
                      <a:pt x="31273" y="0"/>
                      <a:pt x="0" y="31273"/>
                      <a:pt x="0" y="69850"/>
                    </a:cubicBezTo>
                  </a:path>
                </a:pathLst>
              </a:custGeom>
              <a:noFill/>
              <a:ln w="19050">
                <a:solidFill>
                  <a:srgbClr val="1E4D40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1019175" y="2319337"/>
                <a:ext cx="209550" cy="104775"/>
              </a:xfrm>
              <a:custGeom>
                <a:avLst/>
                <a:gdLst/>
                <a:ahLst/>
                <a:cxnLst/>
                <a:rect l="l" t="t" r="r" b="b"/>
                <a:pathLst>
                  <a:path w="209550" h="104775">
                    <a:moveTo>
                      <a:pt x="0" y="104775"/>
                    </a:moveTo>
                    <a:lnTo>
                      <a:pt x="0" y="69850"/>
                    </a:lnTo>
                    <a:cubicBezTo>
                      <a:pt x="0" y="31273"/>
                      <a:pt x="31273" y="0"/>
                      <a:pt x="69850" y="0"/>
                    </a:cubicBezTo>
                    <a:lnTo>
                      <a:pt x="139700" y="0"/>
                    </a:lnTo>
                    <a:cubicBezTo>
                      <a:pt x="178277" y="0"/>
                      <a:pt x="209550" y="31273"/>
                      <a:pt x="209550" y="69850"/>
                    </a:cubicBezTo>
                    <a:lnTo>
                      <a:pt x="209550" y="104775"/>
                    </a:lnTo>
                  </a:path>
                </a:pathLst>
              </a:custGeom>
              <a:noFill/>
              <a:ln w="19050">
                <a:solidFill>
                  <a:srgbClr val="1E4D40"/>
                </a:solidFill>
              </a:ln>
            </p:spPr>
          </p:sp>
        </p:grpSp>
        <p:sp>
          <p:nvSpPr>
            <p:cNvPr id="11" name="TextBox 11"/>
            <p:cNvSpPr txBox="1"/>
            <p:nvPr/>
          </p:nvSpPr>
          <p:spPr>
            <a:xfrm>
              <a:off x="898398" y="2669858"/>
              <a:ext cx="1443380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1E4D40"/>
                  </a:solidFill>
                  <a:latin typeface="Georgia"/>
                  <a:ea typeface="SimSun"/>
                  <a:cs typeface="Georgia"/>
                </a:rPr>
                <a:t>乔瑞雪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07542" y="324516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不理不器 · 1 人团队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914400" y="3714750"/>
              <a:ext cx="2438400" cy="9525"/>
            </a:xfrm>
            <a:custGeom>
              <a:avLst/>
              <a:gdLst/>
              <a:ahLst/>
              <a:cxnLst/>
              <a:rect l="l" t="t" r="r" b="b"/>
              <a:pathLst>
                <a:path w="2438400" h="9525">
                  <a:moveTo>
                    <a:pt x="0" y="0"/>
                  </a:moveTo>
                  <a:lnTo>
                    <a:pt x="2438400" y="0"/>
                  </a:lnTo>
                </a:path>
              </a:pathLst>
            </a:custGeom>
            <a:noFill/>
            <a:ln w="9525">
              <a:solidFill>
                <a:srgbClr val="D8DED6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07542" y="3930968"/>
              <a:ext cx="20395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AI+民生赛道 · 个人参赛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07542" y="435006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围绕社区事项整理这一个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07542" y="4616768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完整场景，独立完成从产品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07542" y="488346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定义到测试的全流程。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4464558" y="1905000"/>
            <a:ext cx="2018157" cy="2175701"/>
            <a:chOff x="4464558" y="1905000"/>
            <a:chExt cx="2018157" cy="2175701"/>
          </a:xfrm>
        </p:grpSpPr>
        <p:sp>
          <p:nvSpPr>
            <p:cNvPr id="19" name="Line 19"/>
            <p:cNvSpPr/>
            <p:nvPr/>
          </p:nvSpPr>
          <p:spPr>
            <a:xfrm>
              <a:off x="4476750" y="1905000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28575">
              <a:solidFill>
                <a:srgbClr val="1E4D40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464558" y="2236470"/>
              <a:ext cx="41867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rgbClr val="D8DED6"/>
                  </a:solidFill>
                  <a:latin typeface="Georgia"/>
                  <a:ea typeface="Georgia"/>
                  <a:cs typeface="Georgia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467606" y="281559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产品定义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469892" y="328326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社区事项整理的流程设计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469892" y="354996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与业务规则：状态机、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469892" y="381666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确认门禁、查重策略。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7226808" y="1905000"/>
            <a:ext cx="2902190" cy="2175701"/>
            <a:chOff x="7226808" y="1905000"/>
            <a:chExt cx="2902190" cy="2175701"/>
          </a:xfrm>
        </p:grpSpPr>
        <p:sp>
          <p:nvSpPr>
            <p:cNvPr id="26" name="Line 26"/>
            <p:cNvSpPr/>
            <p:nvPr/>
          </p:nvSpPr>
          <p:spPr>
            <a:xfrm>
              <a:off x="7239000" y="1905000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28575">
              <a:solidFill>
                <a:srgbClr val="1E4D40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226808" y="2236470"/>
              <a:ext cx="41867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rgbClr val="D8DED6"/>
                  </a:solidFill>
                  <a:latin typeface="Georgia"/>
                  <a:ea typeface="Georgia"/>
                  <a:cs typeface="Georgia"/>
                </a:rPr>
                <a:t>02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229856" y="281559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全栈实现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232142" y="3283268"/>
              <a:ext cx="213084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Web 工作台、AI Provider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232142" y="3549968"/>
              <a:ext cx="28968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适配（Mock / Qwen / OpenAI）、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232142" y="3816668"/>
              <a:ext cx="130027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数据层与 API。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989058" y="1905000"/>
            <a:ext cx="1836420" cy="2175701"/>
            <a:chOff x="9989058" y="1905000"/>
            <a:chExt cx="1836420" cy="2175701"/>
          </a:xfrm>
        </p:grpSpPr>
        <p:sp>
          <p:nvSpPr>
            <p:cNvPr id="33" name="Line 33"/>
            <p:cNvSpPr/>
            <p:nvPr/>
          </p:nvSpPr>
          <p:spPr>
            <a:xfrm>
              <a:off x="10001250" y="1905000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28575">
              <a:solidFill>
                <a:srgbClr val="1E4D40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9989058" y="2236470"/>
              <a:ext cx="41867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rgbClr val="D8DED6"/>
                  </a:solidFill>
                  <a:latin typeface="Georgia"/>
                  <a:ea typeface="Georgia"/>
                  <a:cs typeface="Georgia"/>
                </a:rPr>
                <a:t>03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992106" y="2815590"/>
              <a:ext cx="12904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质量与文档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994392" y="328326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单元测试、业务不变量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994392" y="354996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测试、端到端流程测试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994392" y="381666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与产品文档。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4466082" y="1714500"/>
            <a:ext cx="7668654" cy="3699701"/>
            <a:chOff x="4466082" y="1714500"/>
            <a:chExt cx="7668654" cy="3699701"/>
          </a:xfrm>
        </p:grpSpPr>
        <p:sp>
          <p:nvSpPr>
            <p:cNvPr id="40" name="Line 40"/>
            <p:cNvSpPr/>
            <p:nvPr/>
          </p:nvSpPr>
          <p:spPr>
            <a:xfrm>
              <a:off x="6781800" y="1714500"/>
              <a:ext cx="9525" cy="2476500"/>
            </a:xfrm>
            <a:custGeom>
              <a:avLst/>
              <a:gdLst/>
              <a:ahLst/>
              <a:cxnLst/>
              <a:rect l="l" t="t" r="r" b="b"/>
              <a:pathLst>
                <a:path w="9525" h="2476500">
                  <a:moveTo>
                    <a:pt x="0" y="0"/>
                  </a:moveTo>
                  <a:lnTo>
                    <a:pt x="0" y="2476500"/>
                  </a:lnTo>
                </a:path>
              </a:pathLst>
            </a:custGeom>
            <a:noFill/>
            <a:ln w="9525">
              <a:solidFill>
                <a:srgbClr val="D8DED6"/>
              </a:solidFill>
            </a:ln>
          </p:spPr>
        </p:sp>
        <p:sp>
          <p:nvSpPr>
            <p:cNvPr id="41" name="Line 41"/>
            <p:cNvSpPr/>
            <p:nvPr/>
          </p:nvSpPr>
          <p:spPr>
            <a:xfrm>
              <a:off x="9544050" y="1714500"/>
              <a:ext cx="9525" cy="2476500"/>
            </a:xfrm>
            <a:custGeom>
              <a:avLst/>
              <a:gdLst/>
              <a:ahLst/>
              <a:cxnLst/>
              <a:rect l="l" t="t" r="r" b="b"/>
              <a:pathLst>
                <a:path w="9525" h="2476500">
                  <a:moveTo>
                    <a:pt x="0" y="0"/>
                  </a:moveTo>
                  <a:lnTo>
                    <a:pt x="0" y="2476500"/>
                  </a:lnTo>
                </a:path>
              </a:pathLst>
            </a:custGeom>
            <a:noFill/>
            <a:ln w="9525">
              <a:solidFill>
                <a:srgbClr val="D8DED6"/>
              </a:solidFill>
            </a:ln>
          </p:spPr>
        </p:sp>
        <p:sp>
          <p:nvSpPr>
            <p:cNvPr id="42" name="Line 42"/>
            <p:cNvSpPr/>
            <p:nvPr/>
          </p:nvSpPr>
          <p:spPr>
            <a:xfrm>
              <a:off x="4476750" y="4476750"/>
              <a:ext cx="7105650" cy="9525"/>
            </a:xfrm>
            <a:custGeom>
              <a:avLst/>
              <a:gdLst/>
              <a:ahLst/>
              <a:cxnLst/>
              <a:rect l="l" t="t" r="r" b="b"/>
              <a:pathLst>
                <a:path w="7105650" h="9525">
                  <a:moveTo>
                    <a:pt x="0" y="0"/>
                  </a:moveTo>
                  <a:lnTo>
                    <a:pt x="7105650" y="0"/>
                  </a:lnTo>
                </a:path>
              </a:pathLst>
            </a:custGeom>
            <a:noFill/>
            <a:ln w="9525">
              <a:solidFill>
                <a:srgbClr val="E4E8E1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4466082" y="4650105"/>
              <a:ext cx="599541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1E4D40"/>
                  </a:solidFill>
                  <a:latin typeface="Georgia"/>
                  <a:ea typeface="SimSun"/>
                  <a:cs typeface="Georgia"/>
                </a:rPr>
                <a:t>把一个场景做完整，胜过把十个场景做一半。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4469892" y="5150168"/>
              <a:ext cx="766484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暂缺的社区业务经验与交付资源，希望通过场景共建补齐——不把尚未建立的合作写成已有能力。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603504" y="6404610"/>
            <a:ext cx="10984992" cy="234696"/>
            <a:chOff x="603504" y="6404610"/>
            <a:chExt cx="10984992" cy="234696"/>
          </a:xfrm>
        </p:grpSpPr>
        <p:sp>
          <p:nvSpPr>
            <p:cNvPr id="46" name="TextBox 46"/>
            <p:cNvSpPr txBox="1"/>
            <p:nvPr/>
          </p:nvSpPr>
          <p:spPr>
            <a:xfrm>
              <a:off x="603504" y="6404610"/>
              <a:ext cx="15224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A968F"/>
                  </a:solidFill>
                  <a:latin typeface="Arial"/>
                  <a:ea typeface="Microsoft YaHei"/>
                  <a:cs typeface="Arial"/>
                </a:rPr>
                <a:t>OneCase · 初赛路演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035132" y="640461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8A968F"/>
                  </a:solidFill>
                  <a:latin typeface="Arial"/>
                  <a:ea typeface="Arial"/>
                  <a:cs typeface="Arial"/>
                </a:rPr>
                <a:t>03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603504" y="594360"/>
            <a:ext cx="175807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spc="300" dirty="0">
                <a:solidFill>
                  <a:srgbClr val="D97B29"/>
                </a:solidFill>
                <a:latin typeface="Arial"/>
                <a:ea typeface="Microsoft YaHei"/>
                <a:cs typeface="Arial"/>
              </a:rPr>
              <a:t>原则 · 第一性设计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590550" y="2021205"/>
            <a:ext cx="7321906" cy="2954846"/>
            <a:chOff x="590550" y="2021205"/>
            <a:chExt cx="7321906" cy="2954846"/>
          </a:xfrm>
        </p:grpSpPr>
        <p:sp>
          <p:nvSpPr>
            <p:cNvPr id="4" name="TextBox 4"/>
            <p:cNvSpPr txBox="1"/>
            <p:nvPr/>
          </p:nvSpPr>
          <p:spPr>
            <a:xfrm>
              <a:off x="590550" y="2021205"/>
              <a:ext cx="5726331" cy="990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100" b="1" dirty="0">
                  <a:solidFill>
                    <a:srgbClr val="1E4D40"/>
                  </a:solidFill>
                  <a:latin typeface="Georgia"/>
                  <a:ea typeface="SimSun"/>
                  <a:cs typeface="Georgia"/>
                </a:rPr>
                <a:t>AI 提出建议，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90550" y="2973705"/>
              <a:ext cx="4608271" cy="990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100" b="1" dirty="0">
                  <a:solidFill>
                    <a:srgbClr val="D97B29"/>
                  </a:solidFill>
                  <a:latin typeface="Georgia"/>
                  <a:ea typeface="SimSun"/>
                  <a:cs typeface="Georgia"/>
                </a:rPr>
                <a:t>人决定事实。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609600" y="4000500"/>
              <a:ext cx="3200400" cy="9525"/>
            </a:xfrm>
            <a:custGeom>
              <a:avLst/>
              <a:gdLst/>
              <a:ahLst/>
              <a:cxnLst/>
              <a:rect l="l" t="t" r="r" b="b"/>
              <a:pathLst>
                <a:path w="3200400" h="9525">
                  <a:moveTo>
                    <a:pt x="0" y="0"/>
                  </a:moveTo>
                  <a:lnTo>
                    <a:pt x="3200400" y="0"/>
                  </a:lnTo>
                </a:path>
              </a:pathLst>
            </a:custGeom>
            <a:noFill/>
            <a:ln w="9525">
              <a:solidFill>
                <a:srgbClr val="D8DED6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600456" y="4282440"/>
              <a:ext cx="73120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分析成功，不会自动生成正式事项——每一条正式记录，都经人确认。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02742" y="4712018"/>
              <a:ext cx="52271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8A968F"/>
                  </a:solidFill>
                  <a:latin typeface="Arial"/>
                  <a:ea typeface="Microsoft YaHei"/>
                  <a:cs typeface="Arial"/>
                </a:rPr>
                <a:t>原始反馈、AI 草稿与正式事项分开保存；来源信息全程保留。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02742" y="5509260"/>
            <a:ext cx="10979658" cy="819341"/>
            <a:chOff x="602742" y="5509260"/>
            <a:chExt cx="10979658" cy="819341"/>
          </a:xfrm>
        </p:grpSpPr>
        <p:sp>
          <p:nvSpPr>
            <p:cNvPr id="10" name="TextBox 10"/>
            <p:cNvSpPr txBox="1"/>
            <p:nvPr/>
          </p:nvSpPr>
          <p:spPr>
            <a:xfrm>
              <a:off x="603504" y="5509260"/>
              <a:ext cx="78154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225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处理流程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609600" y="5810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8DED6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02742" y="606456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居民文字反馈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2000250" y="6153150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14288">
              <a:solidFill>
                <a:srgbClr val="5E8C7B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2507742" y="6064568"/>
              <a:ext cx="10026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AI 事项草稿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3905250" y="6153150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14288">
              <a:solidFill>
                <a:srgbClr val="5E8C7B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4412742" y="606456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E4D40"/>
                  </a:solidFill>
                  <a:latin typeface="Arial"/>
                  <a:ea typeface="Microsoft YaHei"/>
                  <a:cs typeface="Arial"/>
                </a:rPr>
                <a:t>人工检查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5619750" y="6153150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14288">
              <a:solidFill>
                <a:srgbClr val="5E8C7B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127242" y="6064568"/>
              <a:ext cx="9678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E4D40"/>
                  </a:solidFill>
                  <a:latin typeface="Arial"/>
                  <a:ea typeface="Microsoft YaHei"/>
                  <a:cs typeface="Arial"/>
                </a:rPr>
                <a:t>新建或关联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7486650" y="6153150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14288">
              <a:solidFill>
                <a:srgbClr val="5E8C7B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994142" y="60645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持续跟踪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603504" y="6537960"/>
            <a:ext cx="10984992" cy="234696"/>
            <a:chOff x="603504" y="6537960"/>
            <a:chExt cx="10984992" cy="234696"/>
          </a:xfrm>
        </p:grpSpPr>
        <p:sp>
          <p:nvSpPr>
            <p:cNvPr id="22" name="TextBox 22"/>
            <p:cNvSpPr txBox="1"/>
            <p:nvPr/>
          </p:nvSpPr>
          <p:spPr>
            <a:xfrm>
              <a:off x="603504" y="6537960"/>
              <a:ext cx="15224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A968F"/>
                  </a:solidFill>
                  <a:latin typeface="Arial"/>
                  <a:ea typeface="Microsoft YaHei"/>
                  <a:cs typeface="Arial"/>
                </a:rPr>
                <a:t>OneCase · 初赛路演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10351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8A968F"/>
                  </a:solidFill>
                  <a:latin typeface="Arial"/>
                  <a:ea typeface="Arial"/>
                  <a:cs typeface="Arial"/>
                </a:rPr>
                <a:t>04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93598" y="594360"/>
            <a:ext cx="10988802" cy="805625"/>
            <a:chOff x="593598" y="594360"/>
            <a:chExt cx="10988802" cy="805625"/>
          </a:xfrm>
        </p:grpSpPr>
        <p:sp>
          <p:nvSpPr>
            <p:cNvPr id="3" name="TextBox 3"/>
            <p:cNvSpPr txBox="1"/>
            <p:nvPr/>
          </p:nvSpPr>
          <p:spPr>
            <a:xfrm>
              <a:off x="603504" y="594360"/>
              <a:ext cx="175807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300" dirty="0">
                  <a:solidFill>
                    <a:srgbClr val="D97B29"/>
                  </a:solidFill>
                  <a:latin typeface="Arial"/>
                  <a:ea typeface="Microsoft YaHei"/>
                  <a:cs typeface="Arial"/>
                </a:rPr>
                <a:t>机制 · 拆分与关联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3598" y="783908"/>
              <a:ext cx="4266133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1E4D40"/>
                  </a:solidFill>
                  <a:latin typeface="Georgia"/>
                  <a:ea typeface="SimSun"/>
                  <a:cs typeface="Georgia"/>
                </a:rPr>
                <a:t>拆开问题，汇拢来源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609600" y="13525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8DED6"/>
              </a:solidFill>
            </a:ln>
          </p:spPr>
        </p:sp>
      </p:grpSp>
      <p:grpSp>
        <p:nvGrpSpPr>
          <p:cNvPr id="21" name="Group 21"/>
          <p:cNvGrpSpPr/>
          <p:nvPr/>
        </p:nvGrpSpPr>
        <p:grpSpPr>
          <a:xfrm>
            <a:off x="642938" y="1682750"/>
            <a:ext cx="4852987" cy="2927350"/>
            <a:chOff x="642938" y="1682750"/>
            <a:chExt cx="4852987" cy="2927350"/>
          </a:xfrm>
        </p:grpSpPr>
        <p:grpSp>
          <p:nvGrpSpPr>
            <p:cNvPr id="11" name="Group 11"/>
            <p:cNvGrpSpPr/>
            <p:nvPr/>
          </p:nvGrpSpPr>
          <p:grpSpPr>
            <a:xfrm>
              <a:off x="642938" y="1682750"/>
              <a:ext cx="200026" cy="177800"/>
              <a:chOff x="642938" y="1682750"/>
              <a:chExt cx="200026" cy="17780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642938" y="1771650"/>
                <a:ext cx="200026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55563">
                    <a:moveTo>
                      <a:pt x="200026" y="55563"/>
                    </a:moveTo>
                    <a:lnTo>
                      <a:pt x="140051" y="55563"/>
                    </a:lnTo>
                    <a:cubicBezTo>
                      <a:pt x="121920" y="55561"/>
                      <a:pt x="104931" y="46714"/>
                      <a:pt x="94534" y="31860"/>
                    </a:cubicBezTo>
                    <a:lnTo>
                      <a:pt x="88822" y="23703"/>
                    </a:lnTo>
                    <a:cubicBezTo>
                      <a:pt x="78426" y="8849"/>
                      <a:pt x="61436" y="1"/>
                      <a:pt x="43306" y="0"/>
                    </a:cubicBez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1E4D40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642938" y="1716087"/>
                <a:ext cx="200026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55563">
                    <a:moveTo>
                      <a:pt x="200026" y="1"/>
                    </a:moveTo>
                    <a:lnTo>
                      <a:pt x="140073" y="1"/>
                    </a:lnTo>
                    <a:cubicBezTo>
                      <a:pt x="121931" y="0"/>
                      <a:pt x="104930" y="8857"/>
                      <a:pt x="94534" y="23726"/>
                    </a:cubicBezTo>
                    <a:lnTo>
                      <a:pt x="88867" y="31838"/>
                    </a:lnTo>
                    <a:cubicBezTo>
                      <a:pt x="78473" y="46704"/>
                      <a:pt x="61478" y="55561"/>
                      <a:pt x="43339" y="55563"/>
                    </a:cubicBezTo>
                    <a:lnTo>
                      <a:pt x="0" y="55563"/>
                    </a:lnTo>
                  </a:path>
                </a:pathLst>
              </a:custGeom>
              <a:noFill/>
              <a:ln w="19050">
                <a:solidFill>
                  <a:srgbClr val="1E4D40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809626" y="1682750"/>
                <a:ext cx="33338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33338" h="66675">
                    <a:moveTo>
                      <a:pt x="0" y="66675"/>
                    </a:moveTo>
                    <a:lnTo>
                      <a:pt x="33338" y="33338"/>
                    </a:ln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1E4D40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809626" y="1793875"/>
                <a:ext cx="33338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33338" h="66675">
                    <a:moveTo>
                      <a:pt x="0" y="66675"/>
                    </a:moveTo>
                    <a:lnTo>
                      <a:pt x="33338" y="33338"/>
                    </a:ln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1E4D40"/>
                </a:solidFill>
              </a:ln>
            </p:spPr>
          </p:sp>
        </p:grpSp>
        <p:sp>
          <p:nvSpPr>
            <p:cNvPr id="12" name="TextBox 12"/>
            <p:cNvSpPr txBox="1"/>
            <p:nvPr/>
          </p:nvSpPr>
          <p:spPr>
            <a:xfrm>
              <a:off x="983742" y="1702118"/>
              <a:ext cx="27424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拆开 · 一条反馈 → 多个事项草稿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2400300" y="2114550"/>
              <a:ext cx="1619250" cy="571500"/>
            </a:xfrm>
            <a:prstGeom prst="rect">
              <a:avLst/>
            </a:prstGeom>
            <a:solidFill>
              <a:srgbClr val="F0F2ED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2684907" y="2314575"/>
              <a:ext cx="10500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居民反馈 A</a:t>
              </a:r>
            </a:p>
          </p:txBody>
        </p:sp>
        <p:sp>
          <p:nvSpPr>
            <p:cNvPr id="15" name="Line 15"/>
            <p:cNvSpPr/>
            <p:nvPr/>
          </p:nvSpPr>
          <p:spPr>
            <a:xfrm flipH="1">
              <a:off x="1905000" y="2686050"/>
              <a:ext cx="1047750" cy="1276350"/>
            </a:xfrm>
            <a:prstGeom prst="line">
              <a:avLst/>
            </a:prstGeom>
            <a:noFill/>
            <a:ln w="14288">
              <a:solidFill>
                <a:srgbClr val="5E8C7B"/>
              </a:solidFill>
              <a:tailEnd type="triangle" w="lg" len="lg"/>
            </a:ln>
          </p:spPr>
        </p:sp>
        <p:sp>
          <p:nvSpPr>
            <p:cNvPr id="16" name="Line 16"/>
            <p:cNvSpPr/>
            <p:nvPr/>
          </p:nvSpPr>
          <p:spPr>
            <a:xfrm>
              <a:off x="3467100" y="2686050"/>
              <a:ext cx="1047750" cy="1276350"/>
            </a:xfrm>
            <a:prstGeom prst="line">
              <a:avLst/>
            </a:prstGeom>
            <a:noFill/>
            <a:ln w="14288">
              <a:solidFill>
                <a:srgbClr val="5E8C7B"/>
              </a:solidFill>
              <a:tailEnd type="triangle" w="lg" len="lg"/>
            </a:ln>
          </p:spPr>
        </p:sp>
        <p:sp>
          <p:nvSpPr>
            <p:cNvPr id="17" name="Rectangle 17"/>
            <p:cNvSpPr/>
            <p:nvPr/>
          </p:nvSpPr>
          <p:spPr>
            <a:xfrm>
              <a:off x="923925" y="4038600"/>
              <a:ext cx="1809750" cy="571500"/>
            </a:xfrm>
            <a:prstGeom prst="rect">
              <a:avLst/>
            </a:prstGeom>
            <a:solidFill>
              <a:srgbClr val="1E4D40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276731" y="425481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FAFAF7"/>
                  </a:solidFill>
                  <a:latin typeface="Arial"/>
                  <a:ea typeface="Microsoft YaHei"/>
                  <a:cs typeface="Arial"/>
                </a:rPr>
                <a:t>草稿 1 · 照明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3686175" y="4038600"/>
              <a:ext cx="1809750" cy="571500"/>
            </a:xfrm>
            <a:prstGeom prst="rect">
              <a:avLst/>
            </a:prstGeom>
            <a:solidFill>
              <a:srgbClr val="1E4D40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038981" y="425481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FAFAF7"/>
                  </a:solidFill>
                  <a:latin typeface="Arial"/>
                  <a:ea typeface="Microsoft YaHei"/>
                  <a:cs typeface="Arial"/>
                </a:rPr>
                <a:t>草稿 2 · 清运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6750049" y="1677321"/>
            <a:ext cx="4375151" cy="2932779"/>
            <a:chOff x="6750049" y="1677321"/>
            <a:chExt cx="4375151" cy="2932779"/>
          </a:xfrm>
        </p:grpSpPr>
        <p:grpSp>
          <p:nvGrpSpPr>
            <p:cNvPr id="25" name="Group 25"/>
            <p:cNvGrpSpPr/>
            <p:nvPr/>
          </p:nvGrpSpPr>
          <p:grpSpPr>
            <a:xfrm>
              <a:off x="6750049" y="1677321"/>
              <a:ext cx="183215" cy="188636"/>
              <a:chOff x="6750049" y="1677321"/>
              <a:chExt cx="183215" cy="188636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6805613" y="1738313"/>
                <a:ext cx="6667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66675">
                    <a:moveTo>
                      <a:pt x="0" y="66675"/>
                    </a:moveTo>
                    <a:lnTo>
                      <a:pt x="66675" y="0"/>
                    </a:lnTo>
                  </a:path>
                </a:pathLst>
              </a:custGeom>
              <a:noFill/>
              <a:ln w="19050">
                <a:solidFill>
                  <a:srgbClr val="1E4D40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6827838" y="1677321"/>
                <a:ext cx="105426" cy="105442"/>
              </a:xfrm>
              <a:custGeom>
                <a:avLst/>
                <a:gdLst/>
                <a:ahLst/>
                <a:cxnLst/>
                <a:rect l="l" t="t" r="r" b="b"/>
                <a:pathLst>
                  <a:path w="105426" h="105442">
                    <a:moveTo>
                      <a:pt x="0" y="27655"/>
                    </a:moveTo>
                    <a:lnTo>
                      <a:pt x="5145" y="21698"/>
                    </a:lnTo>
                    <a:cubicBezTo>
                      <a:pt x="26847" y="0"/>
                      <a:pt x="62029" y="2"/>
                      <a:pt x="83727" y="21704"/>
                    </a:cubicBezTo>
                    <a:cubicBezTo>
                      <a:pt x="105426" y="43405"/>
                      <a:pt x="105423" y="78588"/>
                      <a:pt x="83722" y="100286"/>
                    </a:cubicBezTo>
                    <a:lnTo>
                      <a:pt x="77788" y="105442"/>
                    </a:lnTo>
                  </a:path>
                </a:pathLst>
              </a:custGeom>
              <a:noFill/>
              <a:ln w="19050">
                <a:solidFill>
                  <a:srgbClr val="1E4D40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6750049" y="1760538"/>
                <a:ext cx="100014" cy="105419"/>
              </a:xfrm>
              <a:custGeom>
                <a:avLst/>
                <a:gdLst/>
                <a:ahLst/>
                <a:cxnLst/>
                <a:rect l="l" t="t" r="r" b="b"/>
                <a:pathLst>
                  <a:path w="100014" h="105419">
                    <a:moveTo>
                      <a:pt x="100014" y="77788"/>
                    </a:moveTo>
                    <a:lnTo>
                      <a:pt x="95603" y="83722"/>
                    </a:lnTo>
                    <a:cubicBezTo>
                      <a:pt x="73661" y="105419"/>
                      <a:pt x="38345" y="105419"/>
                      <a:pt x="16404" y="83722"/>
                    </a:cubicBezTo>
                    <a:cubicBezTo>
                      <a:pt x="5907" y="73343"/>
                      <a:pt x="0" y="59195"/>
                      <a:pt x="0" y="44433"/>
                    </a:cubicBezTo>
                    <a:cubicBezTo>
                      <a:pt x="0" y="29672"/>
                      <a:pt x="5907" y="15524"/>
                      <a:pt x="16404" y="5145"/>
                    </a:cubicBezTo>
                    <a:lnTo>
                      <a:pt x="22227" y="0"/>
                    </a:lnTo>
                  </a:path>
                </a:pathLst>
              </a:custGeom>
              <a:noFill/>
              <a:ln w="19050">
                <a:solidFill>
                  <a:srgbClr val="1E4D40"/>
                </a:solidFill>
              </a:ln>
            </p:spPr>
          </p:sp>
        </p:grpSp>
        <p:sp>
          <p:nvSpPr>
            <p:cNvPr id="26" name="TextBox 26"/>
            <p:cNvSpPr txBox="1"/>
            <p:nvPr/>
          </p:nvSpPr>
          <p:spPr>
            <a:xfrm>
              <a:off x="7079742" y="1702118"/>
              <a:ext cx="23608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汇拢 · 多条反馈 → 同一事项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6781800" y="2114550"/>
              <a:ext cx="1619250" cy="571500"/>
            </a:xfrm>
            <a:prstGeom prst="rect">
              <a:avLst/>
            </a:prstGeom>
            <a:solidFill>
              <a:srgbClr val="F0F2ED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279767" y="2314575"/>
              <a:ext cx="62331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反馈 A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9505950" y="2114550"/>
              <a:ext cx="1619250" cy="571500"/>
            </a:xfrm>
            <a:prstGeom prst="rect">
              <a:avLst/>
            </a:prstGeom>
            <a:solidFill>
              <a:srgbClr val="F0F2ED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0003917" y="2314575"/>
              <a:ext cx="62331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反馈 B</a:t>
              </a:r>
            </a:p>
          </p:txBody>
        </p:sp>
        <p:sp>
          <p:nvSpPr>
            <p:cNvPr id="31" name="Line 31"/>
            <p:cNvSpPr/>
            <p:nvPr/>
          </p:nvSpPr>
          <p:spPr>
            <a:xfrm>
              <a:off x="7905750" y="2686050"/>
              <a:ext cx="857250" cy="1276350"/>
            </a:xfrm>
            <a:prstGeom prst="line">
              <a:avLst/>
            </a:prstGeom>
            <a:noFill/>
            <a:ln w="14288">
              <a:solidFill>
                <a:srgbClr val="5E8C7B"/>
              </a:solidFill>
              <a:tailEnd type="triangle" w="lg" len="lg"/>
            </a:ln>
          </p:spPr>
        </p:sp>
        <p:sp>
          <p:nvSpPr>
            <p:cNvPr id="32" name="Line 32"/>
            <p:cNvSpPr/>
            <p:nvPr/>
          </p:nvSpPr>
          <p:spPr>
            <a:xfrm flipH="1">
              <a:off x="9144000" y="2686050"/>
              <a:ext cx="857250" cy="1276350"/>
            </a:xfrm>
            <a:prstGeom prst="line">
              <a:avLst/>
            </a:prstGeom>
            <a:noFill/>
            <a:ln w="14288">
              <a:solidFill>
                <a:srgbClr val="5E8C7B"/>
              </a:solidFill>
              <a:tailEnd type="triangle" w="lg" len="lg"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636737" y="3223260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D97B29"/>
                  </a:solidFill>
                  <a:latin typeface="Arial"/>
                  <a:ea typeface="Microsoft YaHei"/>
                  <a:cs typeface="Arial"/>
                </a:rPr>
                <a:t>人工确认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8029575" y="4038600"/>
              <a:ext cx="1905000" cy="571500"/>
            </a:xfrm>
            <a:prstGeom prst="rect">
              <a:avLst/>
            </a:prstGeom>
            <a:solidFill>
              <a:srgbClr val="1E4D40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325507" y="4254818"/>
              <a:ext cx="13131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FAFAF7"/>
                  </a:solidFill>
                  <a:latin typeface="Arial"/>
                  <a:ea typeface="Microsoft YaHei"/>
                  <a:cs typeface="Arial"/>
                </a:rPr>
                <a:t>同一事项 + 来源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6096000" y="1638300"/>
            <a:ext cx="9525" cy="3124200"/>
            <a:chOff x="6096000" y="1638300"/>
            <a:chExt cx="9525" cy="3124200"/>
          </a:xfrm>
        </p:grpSpPr>
        <p:sp>
          <p:nvSpPr>
            <p:cNvPr id="37" name="Line 37"/>
            <p:cNvSpPr/>
            <p:nvPr/>
          </p:nvSpPr>
          <p:spPr>
            <a:xfrm>
              <a:off x="6096000" y="1638300"/>
              <a:ext cx="9525" cy="3124200"/>
            </a:xfrm>
            <a:custGeom>
              <a:avLst/>
              <a:gdLst/>
              <a:ahLst/>
              <a:cxnLst/>
              <a:rect l="l" t="t" r="r" b="b"/>
              <a:pathLst>
                <a:path w="9525" h="3124200">
                  <a:moveTo>
                    <a:pt x="0" y="0"/>
                  </a:moveTo>
                  <a:lnTo>
                    <a:pt x="0" y="3124200"/>
                  </a:lnTo>
                </a:path>
              </a:pathLst>
            </a:custGeom>
            <a:noFill/>
            <a:ln w="9525">
              <a:solidFill>
                <a:srgbClr val="D8DED6"/>
              </a:solidFill>
            </a:ln>
          </p:spPr>
        </p:sp>
      </p:grpSp>
      <p:grpSp>
        <p:nvGrpSpPr>
          <p:cNvPr id="51" name="Group 51"/>
          <p:cNvGrpSpPr/>
          <p:nvPr/>
        </p:nvGrpSpPr>
        <p:grpSpPr>
          <a:xfrm>
            <a:off x="603504" y="5200650"/>
            <a:ext cx="10978896" cy="1051751"/>
            <a:chOff x="603504" y="5200650"/>
            <a:chExt cx="10978896" cy="1051751"/>
          </a:xfrm>
        </p:grpSpPr>
        <p:sp>
          <p:nvSpPr>
            <p:cNvPr id="39" name="Line 39"/>
            <p:cNvSpPr/>
            <p:nvPr/>
          </p:nvSpPr>
          <p:spPr>
            <a:xfrm>
              <a:off x="609600" y="52006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8DED6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03504" y="5433060"/>
              <a:ext cx="7512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150" dirty="0">
                  <a:solidFill>
                    <a:srgbClr val="1E4D40"/>
                  </a:solidFill>
                  <a:latin typeface="Arial"/>
                  <a:ea typeface="Microsoft YaHei"/>
                  <a:cs typeface="Arial"/>
                </a:rPr>
                <a:t>候选依据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609600" y="5734050"/>
              <a:ext cx="914400" cy="323850"/>
            </a:xfrm>
            <a:prstGeom prst="rect">
              <a:avLst/>
            </a:prstGeom>
            <a:solidFill>
              <a:srgbClr val="F0F2ED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37616" y="582358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标题词汇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1638300" y="5734050"/>
              <a:ext cx="609600" cy="323850"/>
            </a:xfrm>
            <a:prstGeom prst="rect">
              <a:avLst/>
            </a:prstGeom>
            <a:solidFill>
              <a:srgbClr val="F0F2ED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1775460" y="582358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地点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2362200" y="5734050"/>
              <a:ext cx="609600" cy="323850"/>
            </a:xfrm>
            <a:prstGeom prst="rect">
              <a:avLst/>
            </a:prstGeom>
            <a:solidFill>
              <a:srgbClr val="F0F2ED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2499360" y="582358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类别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3086100" y="5734050"/>
              <a:ext cx="609600" cy="323850"/>
            </a:xfrm>
            <a:prstGeom prst="rect">
              <a:avLst/>
            </a:prstGeom>
            <a:solidFill>
              <a:srgbClr val="F0F2ED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3223260" y="582358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时间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4184142" y="5721668"/>
              <a:ext cx="34848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候选展示匹配依据；地点不同会给出提示——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4184142" y="5988368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系统不自动合并，最终由人核对。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603504" y="6537960"/>
            <a:ext cx="10984992" cy="234696"/>
            <a:chOff x="603504" y="6537960"/>
            <a:chExt cx="10984992" cy="234696"/>
          </a:xfrm>
        </p:grpSpPr>
        <p:sp>
          <p:nvSpPr>
            <p:cNvPr id="52" name="TextBox 52"/>
            <p:cNvSpPr txBox="1"/>
            <p:nvPr/>
          </p:nvSpPr>
          <p:spPr>
            <a:xfrm>
              <a:off x="603504" y="6537960"/>
              <a:ext cx="15224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A968F"/>
                  </a:solidFill>
                  <a:latin typeface="Arial"/>
                  <a:ea typeface="Microsoft YaHei"/>
                  <a:cs typeface="Arial"/>
                </a:rPr>
                <a:t>OneCase · 初赛路演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10351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8A968F"/>
                  </a:solidFill>
                  <a:latin typeface="Arial"/>
                  <a:ea typeface="Arial"/>
                  <a:cs typeface="Arial"/>
                </a:rPr>
                <a:t>05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93598" y="594360"/>
            <a:ext cx="10988802" cy="805625"/>
            <a:chOff x="593598" y="594360"/>
            <a:chExt cx="10988802" cy="805625"/>
          </a:xfrm>
        </p:grpSpPr>
        <p:sp>
          <p:nvSpPr>
            <p:cNvPr id="3" name="TextBox 3"/>
            <p:cNvSpPr txBox="1"/>
            <p:nvPr/>
          </p:nvSpPr>
          <p:spPr>
            <a:xfrm>
              <a:off x="603504" y="594360"/>
              <a:ext cx="15480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300" dirty="0">
                  <a:solidFill>
                    <a:srgbClr val="D97B29"/>
                  </a:solidFill>
                  <a:latin typeface="Arial"/>
                  <a:ea typeface="Microsoft YaHei"/>
                  <a:cs typeface="Arial"/>
                </a:rPr>
                <a:t>演示 · 现场环节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3598" y="783908"/>
              <a:ext cx="6147968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1E4D40"/>
                  </a:solidFill>
                  <a:latin typeface="Georgia"/>
                  <a:ea typeface="SimSun"/>
                  <a:cs typeface="Georgia"/>
                </a:rPr>
                <a:t>两分钟，一条反馈的两种去向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609600" y="13525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8DED6"/>
              </a:solidFill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3143250" y="2114550"/>
            <a:ext cx="5867400" cy="1"/>
            <a:chOff x="3143250" y="2114550"/>
            <a:chExt cx="5867400" cy="1"/>
          </a:xfrm>
        </p:grpSpPr>
        <p:sp>
          <p:nvSpPr>
            <p:cNvPr id="7" name="Line 7"/>
            <p:cNvSpPr/>
            <p:nvPr/>
          </p:nvSpPr>
          <p:spPr>
            <a:xfrm>
              <a:off x="3143250" y="2114550"/>
              <a:ext cx="285750" cy="1"/>
            </a:xfrm>
            <a:prstGeom prst="line">
              <a:avLst/>
            </a:prstGeom>
            <a:noFill/>
            <a:ln w="14288">
              <a:solidFill>
                <a:srgbClr val="5E8C7B"/>
              </a:solidFill>
              <a:tailEnd type="triangle" w="lg" len="lg"/>
            </a:ln>
          </p:spPr>
        </p:sp>
        <p:sp>
          <p:nvSpPr>
            <p:cNvPr id="8" name="Line 8"/>
            <p:cNvSpPr/>
            <p:nvPr/>
          </p:nvSpPr>
          <p:spPr>
            <a:xfrm>
              <a:off x="5934075" y="2114550"/>
              <a:ext cx="285750" cy="1"/>
            </a:xfrm>
            <a:prstGeom prst="line">
              <a:avLst/>
            </a:prstGeom>
            <a:noFill/>
            <a:ln w="14288">
              <a:solidFill>
                <a:srgbClr val="5E8C7B"/>
              </a:solidFill>
              <a:tailEnd type="triangle" w="lg" len="lg"/>
            </a:ln>
          </p:spPr>
        </p:sp>
        <p:sp>
          <p:nvSpPr>
            <p:cNvPr id="9" name="Line 9"/>
            <p:cNvSpPr/>
            <p:nvPr/>
          </p:nvSpPr>
          <p:spPr>
            <a:xfrm>
              <a:off x="8724900" y="2114550"/>
              <a:ext cx="285750" cy="1"/>
            </a:xfrm>
            <a:prstGeom prst="line">
              <a:avLst/>
            </a:prstGeom>
            <a:noFill/>
            <a:ln w="14288">
              <a:solidFill>
                <a:srgbClr val="5E8C7B"/>
              </a:solidFill>
              <a:tailEnd type="triangle" w="lg" len="lg"/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591312" y="1878330"/>
            <a:ext cx="1842516" cy="1935671"/>
            <a:chOff x="591312" y="1878330"/>
            <a:chExt cx="1842516" cy="1935671"/>
          </a:xfrm>
        </p:grpSpPr>
        <p:sp>
          <p:nvSpPr>
            <p:cNvPr id="11" name="TextBox 11"/>
            <p:cNvSpPr txBox="1"/>
            <p:nvPr/>
          </p:nvSpPr>
          <p:spPr>
            <a:xfrm>
              <a:off x="591312" y="1878330"/>
              <a:ext cx="62801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600" b="1" dirty="0">
                  <a:solidFill>
                    <a:srgbClr val="5E8C7B"/>
                  </a:solidFill>
                  <a:latin typeface="Georgia"/>
                  <a:ea typeface="Georgia"/>
                  <a:cs typeface="Georgia"/>
                </a:rPr>
                <a:t>01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609600" y="2533650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28575">
              <a:solidFill>
                <a:srgbClr val="1E4D40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00456" y="2815590"/>
              <a:ext cx="1544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粘贴一段反馈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02742" y="328326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同时包含照明与清运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02742" y="354996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两个问题的一段原文。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3382137" y="1878330"/>
            <a:ext cx="1808455" cy="1935671"/>
            <a:chOff x="3382137" y="1878330"/>
            <a:chExt cx="1808455" cy="1935671"/>
          </a:xfrm>
        </p:grpSpPr>
        <p:sp>
          <p:nvSpPr>
            <p:cNvPr id="17" name="TextBox 17"/>
            <p:cNvSpPr txBox="1"/>
            <p:nvPr/>
          </p:nvSpPr>
          <p:spPr>
            <a:xfrm>
              <a:off x="3382137" y="1878330"/>
              <a:ext cx="62801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600" b="1" dirty="0">
                  <a:solidFill>
                    <a:srgbClr val="5E8C7B"/>
                  </a:solidFill>
                  <a:latin typeface="Georgia"/>
                  <a:ea typeface="Georgia"/>
                  <a:cs typeface="Georgia"/>
                </a:rPr>
                <a:t>02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3400425" y="2533650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28575">
              <a:solidFill>
                <a:srgbClr val="1E4D40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3391281" y="2815590"/>
              <a:ext cx="179931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检查草稿与候选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393567" y="328326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两个草稿，各带相似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393567" y="354996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事项候选与依据。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6172962" y="1878330"/>
            <a:ext cx="1660779" cy="1935671"/>
            <a:chOff x="6172962" y="1878330"/>
            <a:chExt cx="1660779" cy="1935671"/>
          </a:xfrm>
        </p:grpSpPr>
        <p:sp>
          <p:nvSpPr>
            <p:cNvPr id="23" name="TextBox 23"/>
            <p:cNvSpPr txBox="1"/>
            <p:nvPr/>
          </p:nvSpPr>
          <p:spPr>
            <a:xfrm>
              <a:off x="6172962" y="1878330"/>
              <a:ext cx="62801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600" b="1" dirty="0">
                  <a:solidFill>
                    <a:srgbClr val="D97B29"/>
                  </a:solidFill>
                  <a:latin typeface="Georgia"/>
                  <a:ea typeface="Georgia"/>
                  <a:cs typeface="Georgia"/>
                </a:rPr>
                <a:t>03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6191250" y="2533650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28575">
              <a:solidFill>
                <a:srgbClr val="D97B29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182106" y="2815590"/>
              <a:ext cx="1544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分别作出决策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184392" y="328326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照明关联已有事项；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184392" y="354996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清运问题新建事项。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8963787" y="1878330"/>
            <a:ext cx="1554023" cy="1935671"/>
            <a:chOff x="8963787" y="1878330"/>
            <a:chExt cx="1554023" cy="1935671"/>
          </a:xfrm>
        </p:grpSpPr>
        <p:sp>
          <p:nvSpPr>
            <p:cNvPr id="29" name="TextBox 29"/>
            <p:cNvSpPr txBox="1"/>
            <p:nvPr/>
          </p:nvSpPr>
          <p:spPr>
            <a:xfrm>
              <a:off x="8963787" y="1878330"/>
              <a:ext cx="62801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600" b="1" dirty="0">
                  <a:solidFill>
                    <a:srgbClr val="5E8C7B"/>
                  </a:solidFill>
                  <a:latin typeface="Georgia"/>
                  <a:ea typeface="Georgia"/>
                  <a:cs typeface="Georgia"/>
                </a:rPr>
                <a:t>04</a:t>
              </a:r>
            </a:p>
          </p:txBody>
        </p:sp>
        <p:sp>
          <p:nvSpPr>
            <p:cNvPr id="30" name="Line 30"/>
            <p:cNvSpPr/>
            <p:nvPr/>
          </p:nvSpPr>
          <p:spPr>
            <a:xfrm>
              <a:off x="8982075" y="2533650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28575">
              <a:solidFill>
                <a:srgbClr val="1E4D40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972931" y="2815590"/>
              <a:ext cx="1544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查看结果联动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975217" y="328326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来源、处理记录与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975217" y="354996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首页统计变化。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609600" y="4476750"/>
            <a:ext cx="10972800" cy="1238250"/>
            <a:chOff x="609600" y="4476750"/>
            <a:chExt cx="10972800" cy="1238250"/>
          </a:xfrm>
        </p:grpSpPr>
        <p:sp>
          <p:nvSpPr>
            <p:cNvPr id="35" name="Rectangle 35"/>
            <p:cNvSpPr/>
            <p:nvPr/>
          </p:nvSpPr>
          <p:spPr>
            <a:xfrm>
              <a:off x="609600" y="4476750"/>
              <a:ext cx="10972800" cy="1238250"/>
            </a:xfrm>
            <a:prstGeom prst="rect">
              <a:avLst/>
            </a:prstGeom>
            <a:solidFill>
              <a:srgbClr val="F0F2ED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945642" y="4845368"/>
              <a:ext cx="8375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spc="150" dirty="0">
                  <a:solidFill>
                    <a:srgbClr val="1E4D40"/>
                  </a:solidFill>
                  <a:latin typeface="Arial"/>
                  <a:ea typeface="Microsoft YaHei"/>
                  <a:cs typeface="Arial"/>
                </a:rPr>
                <a:t>演示说明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45642" y="5207318"/>
              <a:ext cx="79479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演示数据为合成样例；现场标注实际运行的模型模式——真实 Provider，或用于流程验证的 Mock。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603504" y="6404610"/>
            <a:ext cx="10984992" cy="234696"/>
            <a:chOff x="603504" y="6404610"/>
            <a:chExt cx="10984992" cy="234696"/>
          </a:xfrm>
        </p:grpSpPr>
        <p:sp>
          <p:nvSpPr>
            <p:cNvPr id="39" name="TextBox 39"/>
            <p:cNvSpPr txBox="1"/>
            <p:nvPr/>
          </p:nvSpPr>
          <p:spPr>
            <a:xfrm>
              <a:off x="603504" y="6404610"/>
              <a:ext cx="15224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A968F"/>
                  </a:solidFill>
                  <a:latin typeface="Arial"/>
                  <a:ea typeface="Microsoft YaHei"/>
                  <a:cs typeface="Arial"/>
                </a:rPr>
                <a:t>OneCase · 初赛路演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1035132" y="640461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8A968F"/>
                  </a:solidFill>
                  <a:latin typeface="Arial"/>
                  <a:ea typeface="Arial"/>
                  <a:cs typeface="Arial"/>
                </a:rPr>
                <a:t>06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93598" y="594360"/>
            <a:ext cx="10988802" cy="805625"/>
            <a:chOff x="593598" y="594360"/>
            <a:chExt cx="10988802" cy="805625"/>
          </a:xfrm>
        </p:grpSpPr>
        <p:sp>
          <p:nvSpPr>
            <p:cNvPr id="3" name="TextBox 3"/>
            <p:cNvSpPr txBox="1"/>
            <p:nvPr/>
          </p:nvSpPr>
          <p:spPr>
            <a:xfrm>
              <a:off x="603504" y="594360"/>
              <a:ext cx="25981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300" dirty="0">
                  <a:solidFill>
                    <a:srgbClr val="D97B29"/>
                  </a:solidFill>
                  <a:latin typeface="Arial"/>
                  <a:ea typeface="Microsoft YaHei"/>
                  <a:cs typeface="Arial"/>
                </a:rPr>
                <a:t>容错 · 建议进入记录的保护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3598" y="783908"/>
              <a:ext cx="6147968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1E4D40"/>
                  </a:solidFill>
                  <a:latin typeface="Georgia"/>
                  <a:ea typeface="SimSun"/>
                  <a:cs typeface="Georgia"/>
                </a:rPr>
                <a:t>确认、修改、失败，都有路径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609600" y="13525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8DED6"/>
              </a:solidFill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609600" y="1714500"/>
            <a:ext cx="10972800" cy="4191000"/>
            <a:chOff x="609600" y="1714500"/>
            <a:chExt cx="10972800" cy="4191000"/>
          </a:xfrm>
        </p:grpSpPr>
        <p:sp>
          <p:nvSpPr>
            <p:cNvPr id="7" name="Line 7"/>
            <p:cNvSpPr/>
            <p:nvPr/>
          </p:nvSpPr>
          <p:spPr>
            <a:xfrm>
              <a:off x="6096000" y="1714500"/>
              <a:ext cx="9525" cy="4191000"/>
            </a:xfrm>
            <a:custGeom>
              <a:avLst/>
              <a:gdLst/>
              <a:ahLst/>
              <a:cxnLst/>
              <a:rect l="l" t="t" r="r" b="b"/>
              <a:pathLst>
                <a:path w="9525" h="4191000">
                  <a:moveTo>
                    <a:pt x="0" y="0"/>
                  </a:moveTo>
                  <a:lnTo>
                    <a:pt x="0" y="4191000"/>
                  </a:lnTo>
                </a:path>
              </a:pathLst>
            </a:custGeom>
            <a:noFill/>
            <a:ln w="9525">
              <a:solidFill>
                <a:srgbClr val="D8DED6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609600" y="38100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8DED6"/>
              </a:solidFill>
            </a:ln>
          </p:spPr>
        </p:sp>
      </p:grpSp>
      <p:grpSp>
        <p:nvGrpSpPr>
          <p:cNvPr id="17" name="Group 17"/>
          <p:cNvGrpSpPr/>
          <p:nvPr/>
        </p:nvGrpSpPr>
        <p:grpSpPr>
          <a:xfrm>
            <a:off x="598932" y="1844040"/>
            <a:ext cx="4015740" cy="1768983"/>
            <a:chOff x="598932" y="1844040"/>
            <a:chExt cx="4015740" cy="1768983"/>
          </a:xfrm>
        </p:grpSpPr>
        <p:grpSp>
          <p:nvGrpSpPr>
            <p:cNvPr id="12" name="Group 12"/>
            <p:cNvGrpSpPr/>
            <p:nvPr/>
          </p:nvGrpSpPr>
          <p:grpSpPr>
            <a:xfrm>
              <a:off x="660400" y="1846522"/>
              <a:ext cx="198178" cy="198178"/>
              <a:chOff x="660400" y="1846522"/>
              <a:chExt cx="198178" cy="198178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660400" y="1846522"/>
                <a:ext cx="198178" cy="198178"/>
              </a:xfrm>
              <a:custGeom>
                <a:avLst/>
                <a:gdLst/>
                <a:ahLst/>
                <a:cxnLst/>
                <a:rect l="l" t="t" r="r" b="b"/>
                <a:pathLst>
                  <a:path w="198178" h="198178">
                    <a:moveTo>
                      <a:pt x="0" y="198178"/>
                    </a:moveTo>
                    <a:lnTo>
                      <a:pt x="50800" y="198178"/>
                    </a:lnTo>
                    <a:lnTo>
                      <a:pt x="184150" y="64828"/>
                    </a:lnTo>
                    <a:cubicBezTo>
                      <a:pt x="198178" y="50800"/>
                      <a:pt x="198178" y="28056"/>
                      <a:pt x="184150" y="14028"/>
                    </a:cubicBezTo>
                    <a:cubicBezTo>
                      <a:pt x="170122" y="0"/>
                      <a:pt x="147378" y="0"/>
                      <a:pt x="133350" y="14028"/>
                    </a:cubicBezTo>
                    <a:lnTo>
                      <a:pt x="0" y="147378"/>
                    </a:lnTo>
                    <a:lnTo>
                      <a:pt x="0" y="198178"/>
                    </a:lnTo>
                  </a:path>
                </a:pathLst>
              </a:custGeom>
              <a:noFill/>
              <a:ln w="19050">
                <a:solidFill>
                  <a:srgbClr val="1E4D40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781050" y="1873250"/>
                <a:ext cx="508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50800">
                    <a:moveTo>
                      <a:pt x="0" y="0"/>
                    </a:moveTo>
                    <a:lnTo>
                      <a:pt x="50800" y="50800"/>
                    </a:lnTo>
                  </a:path>
                </a:pathLst>
              </a:custGeom>
              <a:noFill/>
              <a:ln w="19050">
                <a:solidFill>
                  <a:srgbClr val="1E4D40"/>
                </a:solidFill>
              </a:ln>
            </p:spPr>
          </p:sp>
        </p:grpSp>
        <p:sp>
          <p:nvSpPr>
            <p:cNvPr id="13" name="TextBox 13"/>
            <p:cNvSpPr txBox="1"/>
            <p:nvPr/>
          </p:nvSpPr>
          <p:spPr>
            <a:xfrm>
              <a:off x="1057656" y="1844040"/>
              <a:ext cx="12904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草稿可修改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02742" y="2387918"/>
              <a:ext cx="40119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新建事项采用人工确认后的标题、地点、优先级，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02742" y="267366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并留下修改记录。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98932" y="3202305"/>
              <a:ext cx="36633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rgbClr val="D8DED6"/>
                  </a:solidFill>
                  <a:latin typeface="Georgia"/>
                  <a:ea typeface="Georgia"/>
                  <a:cs typeface="Georgia"/>
                </a:rPr>
                <a:t>01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694932" y="1841500"/>
            <a:ext cx="3107055" cy="1771523"/>
            <a:chOff x="6694932" y="1841500"/>
            <a:chExt cx="3107055" cy="1771523"/>
          </a:xfrm>
        </p:grpSpPr>
        <p:grpSp>
          <p:nvGrpSpPr>
            <p:cNvPr id="22" name="Group 22"/>
            <p:cNvGrpSpPr/>
            <p:nvPr/>
          </p:nvGrpSpPr>
          <p:grpSpPr>
            <a:xfrm>
              <a:off x="6769100" y="1841500"/>
              <a:ext cx="190500" cy="215899"/>
              <a:chOff x="6769100" y="1841500"/>
              <a:chExt cx="190500" cy="215899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6769100" y="1841500"/>
                <a:ext cx="152400" cy="203199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203199">
                    <a:moveTo>
                      <a:pt x="58610" y="203199"/>
                    </a:moveTo>
                    <a:lnTo>
                      <a:pt x="25400" y="203199"/>
                    </a:lnTo>
                    <a:cubicBezTo>
                      <a:pt x="11372" y="203199"/>
                      <a:pt x="0" y="191828"/>
                      <a:pt x="0" y="177800"/>
                    </a:cubicBezTo>
                    <a:lnTo>
                      <a:pt x="0" y="25400"/>
                    </a:lnTo>
                    <a:cubicBezTo>
                      <a:pt x="0" y="11372"/>
                      <a:pt x="11372" y="0"/>
                      <a:pt x="25400" y="0"/>
                    </a:cubicBezTo>
                    <a:lnTo>
                      <a:pt x="127000" y="0"/>
                    </a:lnTo>
                    <a:cubicBezTo>
                      <a:pt x="141028" y="0"/>
                      <a:pt x="152400" y="11372"/>
                      <a:pt x="152400" y="25400"/>
                    </a:cubicBezTo>
                    <a:lnTo>
                      <a:pt x="152400" y="127000"/>
                    </a:lnTo>
                  </a:path>
                </a:pathLst>
              </a:custGeom>
              <a:noFill/>
              <a:ln w="19050">
                <a:solidFill>
                  <a:srgbClr val="1E4D40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6883400" y="2006599"/>
                <a:ext cx="762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50800">
                    <a:moveTo>
                      <a:pt x="0" y="25400"/>
                    </a:moveTo>
                    <a:lnTo>
                      <a:pt x="25400" y="50800"/>
                    </a:lnTo>
                    <a:lnTo>
                      <a:pt x="76200" y="0"/>
                    </a:lnTo>
                  </a:path>
                </a:pathLst>
              </a:custGeom>
              <a:noFill/>
              <a:ln w="19050">
                <a:solidFill>
                  <a:srgbClr val="1E4D40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6819900" y="1892300"/>
                <a:ext cx="508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9525">
                    <a:moveTo>
                      <a:pt x="0" y="0"/>
                    </a:moveTo>
                    <a:lnTo>
                      <a:pt x="50800" y="0"/>
                    </a:lnTo>
                  </a:path>
                </a:pathLst>
              </a:custGeom>
              <a:noFill/>
              <a:ln w="19050">
                <a:solidFill>
                  <a:srgbClr val="1E4D40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6819900" y="1943100"/>
                <a:ext cx="25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9525">
                    <a:moveTo>
                      <a:pt x="0" y="0"/>
                    </a:moveTo>
                    <a:lnTo>
                      <a:pt x="25400" y="0"/>
                    </a:lnTo>
                  </a:path>
                </a:pathLst>
              </a:custGeom>
              <a:noFill/>
              <a:ln w="19050">
                <a:solidFill>
                  <a:srgbClr val="1E4D40"/>
                </a:solidFill>
              </a:ln>
            </p:spPr>
          </p:sp>
        </p:grpSp>
        <p:sp>
          <p:nvSpPr>
            <p:cNvPr id="23" name="TextBox 23"/>
            <p:cNvSpPr txBox="1"/>
            <p:nvPr/>
          </p:nvSpPr>
          <p:spPr>
            <a:xfrm>
              <a:off x="7153656" y="184404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批量确认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698742" y="2387918"/>
              <a:ext cx="31032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新建、关联与处理记录写入同一事务；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698742" y="267366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决策不完整则整体拒绝。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694932" y="3202305"/>
              <a:ext cx="36633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rgbClr val="D8DED6"/>
                  </a:solidFill>
                  <a:latin typeface="Georgia"/>
                  <a:ea typeface="Georgia"/>
                  <a:cs typeface="Georgia"/>
                </a:rPr>
                <a:t>02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598932" y="4114800"/>
            <a:ext cx="2380107" cy="1765173"/>
            <a:chOff x="598932" y="4114800"/>
            <a:chExt cx="2380107" cy="1765173"/>
          </a:xfrm>
        </p:grpSpPr>
        <p:grpSp>
          <p:nvGrpSpPr>
            <p:cNvPr id="30" name="Group 30"/>
            <p:cNvGrpSpPr/>
            <p:nvPr/>
          </p:nvGrpSpPr>
          <p:grpSpPr>
            <a:xfrm>
              <a:off x="647700" y="4114800"/>
              <a:ext cx="228599" cy="228599"/>
              <a:chOff x="647700" y="4114800"/>
              <a:chExt cx="228599" cy="228599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647700" y="4114800"/>
                <a:ext cx="228599" cy="228599"/>
              </a:xfrm>
              <a:custGeom>
                <a:avLst/>
                <a:gdLst/>
                <a:ahLst/>
                <a:cxnLst/>
                <a:rect l="l" t="t" r="r" b="b"/>
                <a:pathLst>
                  <a:path w="228599" h="228599">
                    <a:moveTo>
                      <a:pt x="0" y="114300"/>
                    </a:moveTo>
                    <a:cubicBezTo>
                      <a:pt x="0" y="177426"/>
                      <a:pt x="51174" y="228599"/>
                      <a:pt x="114300" y="228599"/>
                    </a:cubicBezTo>
                    <a:cubicBezTo>
                      <a:pt x="177426" y="228599"/>
                      <a:pt x="228599" y="177426"/>
                      <a:pt x="228599" y="114300"/>
                    </a:cubicBezTo>
                    <a:cubicBezTo>
                      <a:pt x="228599" y="51174"/>
                      <a:pt x="177426" y="0"/>
                      <a:pt x="114300" y="0"/>
                    </a:cubicBezTo>
                    <a:cubicBezTo>
                      <a:pt x="51174" y="0"/>
                      <a:pt x="0" y="51174"/>
                      <a:pt x="0" y="114300"/>
                    </a:cubicBezTo>
                  </a:path>
                </a:pathLst>
              </a:custGeom>
              <a:noFill/>
              <a:ln w="19050">
                <a:solidFill>
                  <a:srgbClr val="1E4D40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723900" y="4203700"/>
                <a:ext cx="762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50800">
                    <a:moveTo>
                      <a:pt x="0" y="25400"/>
                    </a:moveTo>
                    <a:lnTo>
                      <a:pt x="25400" y="50800"/>
                    </a:lnTo>
                    <a:lnTo>
                      <a:pt x="76200" y="0"/>
                    </a:lnTo>
                  </a:path>
                </a:pathLst>
              </a:custGeom>
              <a:noFill/>
              <a:ln w="19050">
                <a:solidFill>
                  <a:srgbClr val="1E4D40"/>
                </a:solidFill>
              </a:ln>
            </p:spPr>
          </p:sp>
        </p:grpSp>
        <p:sp>
          <p:nvSpPr>
            <p:cNvPr id="31" name="TextBox 31"/>
            <p:cNvSpPr txBox="1"/>
            <p:nvPr/>
          </p:nvSpPr>
          <p:spPr>
            <a:xfrm>
              <a:off x="1057656" y="4130040"/>
              <a:ext cx="78158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防重复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02742" y="4673918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已确认的反馈拒绝重复确认；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02742" y="495966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状态门禁拦住非法流转。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98932" y="5469255"/>
              <a:ext cx="36633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rgbClr val="D8DED6"/>
                  </a:solidFill>
                  <a:latin typeface="Georgia"/>
                  <a:ea typeface="Georgia"/>
                  <a:cs typeface="Georgia"/>
                </a:rPr>
                <a:t>03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6694932" y="4122600"/>
            <a:ext cx="2925318" cy="1757373"/>
            <a:chOff x="6694932" y="4122600"/>
            <a:chExt cx="2925318" cy="1757373"/>
          </a:xfrm>
        </p:grpSpPr>
        <p:grpSp>
          <p:nvGrpSpPr>
            <p:cNvPr id="38" name="Group 38"/>
            <p:cNvGrpSpPr/>
            <p:nvPr/>
          </p:nvGrpSpPr>
          <p:grpSpPr>
            <a:xfrm>
              <a:off x="6756400" y="4122600"/>
              <a:ext cx="203199" cy="213000"/>
              <a:chOff x="6756400" y="4122600"/>
              <a:chExt cx="203199" cy="213000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6756400" y="4122600"/>
                <a:ext cx="203199" cy="93800"/>
              </a:xfrm>
              <a:custGeom>
                <a:avLst/>
                <a:gdLst/>
                <a:ahLst/>
                <a:cxnLst/>
                <a:rect l="l" t="t" r="r" b="b"/>
                <a:pathLst>
                  <a:path w="203199" h="93800">
                    <a:moveTo>
                      <a:pt x="203199" y="93800"/>
                    </a:moveTo>
                    <a:cubicBezTo>
                      <a:pt x="196815" y="47858"/>
                      <a:pt x="160475" y="11871"/>
                      <a:pt x="114473" y="5936"/>
                    </a:cubicBezTo>
                    <a:cubicBezTo>
                      <a:pt x="68472" y="0"/>
                      <a:pt x="24187" y="25584"/>
                      <a:pt x="6350" y="68400"/>
                    </a:cubicBezTo>
                    <a:moveTo>
                      <a:pt x="0" y="17600"/>
                    </a:moveTo>
                    <a:lnTo>
                      <a:pt x="0" y="68400"/>
                    </a:lnTo>
                    <a:lnTo>
                      <a:pt x="50800" y="68400"/>
                    </a:lnTo>
                  </a:path>
                </a:pathLst>
              </a:custGeom>
              <a:noFill/>
              <a:ln w="19050">
                <a:solidFill>
                  <a:srgbClr val="1E4D40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6756400" y="4241800"/>
                <a:ext cx="203199" cy="93800"/>
              </a:xfrm>
              <a:custGeom>
                <a:avLst/>
                <a:gdLst/>
                <a:ahLst/>
                <a:cxnLst/>
                <a:rect l="l" t="t" r="r" b="b"/>
                <a:pathLst>
                  <a:path w="203199" h="93800">
                    <a:moveTo>
                      <a:pt x="0" y="0"/>
                    </a:moveTo>
                    <a:cubicBezTo>
                      <a:pt x="6385" y="45942"/>
                      <a:pt x="42724" y="81928"/>
                      <a:pt x="88726" y="87864"/>
                    </a:cubicBezTo>
                    <a:cubicBezTo>
                      <a:pt x="134728" y="93800"/>
                      <a:pt x="179012" y="68216"/>
                      <a:pt x="196850" y="25400"/>
                    </a:cubicBezTo>
                    <a:moveTo>
                      <a:pt x="203199" y="76200"/>
                    </a:moveTo>
                    <a:lnTo>
                      <a:pt x="203199" y="25400"/>
                    </a:lnTo>
                    <a:lnTo>
                      <a:pt x="152400" y="25400"/>
                    </a:lnTo>
                  </a:path>
                </a:pathLst>
              </a:custGeom>
              <a:noFill/>
              <a:ln w="19050">
                <a:solidFill>
                  <a:srgbClr val="1E4D40"/>
                </a:solidFill>
              </a:ln>
            </p:spPr>
          </p:sp>
        </p:grpSp>
        <p:sp>
          <p:nvSpPr>
            <p:cNvPr id="39" name="TextBox 39"/>
            <p:cNvSpPr txBox="1"/>
            <p:nvPr/>
          </p:nvSpPr>
          <p:spPr>
            <a:xfrm>
              <a:off x="7153656" y="413004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失败兜底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698742" y="4673918"/>
              <a:ext cx="17707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AI 分析失败可重试；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698742" y="4959668"/>
              <a:ext cx="29215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符合条件的反馈可转人工手动创建。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694932" y="5469255"/>
              <a:ext cx="36633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rgbClr val="D8DED6"/>
                  </a:solidFill>
                  <a:latin typeface="Georgia"/>
                  <a:ea typeface="Georgia"/>
                  <a:cs typeface="Georgia"/>
                </a:rPr>
                <a:t>04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603504" y="6404610"/>
            <a:ext cx="10984992" cy="234696"/>
            <a:chOff x="603504" y="6404610"/>
            <a:chExt cx="10984992" cy="234696"/>
          </a:xfrm>
        </p:grpSpPr>
        <p:sp>
          <p:nvSpPr>
            <p:cNvPr id="44" name="TextBox 44"/>
            <p:cNvSpPr txBox="1"/>
            <p:nvPr/>
          </p:nvSpPr>
          <p:spPr>
            <a:xfrm>
              <a:off x="603504" y="6404610"/>
              <a:ext cx="15224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A968F"/>
                  </a:solidFill>
                  <a:latin typeface="Arial"/>
                  <a:ea typeface="Microsoft YaHei"/>
                  <a:cs typeface="Arial"/>
                </a:rPr>
                <a:t>OneCase · 初赛路演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1035132" y="640461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8A968F"/>
                  </a:solidFill>
                  <a:latin typeface="Arial"/>
                  <a:ea typeface="Arial"/>
                  <a:cs typeface="Arial"/>
                </a:rPr>
                <a:t>07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93598" y="594360"/>
            <a:ext cx="10988802" cy="805625"/>
            <a:chOff x="593598" y="594360"/>
            <a:chExt cx="10988802" cy="805625"/>
          </a:xfrm>
        </p:grpSpPr>
        <p:sp>
          <p:nvSpPr>
            <p:cNvPr id="3" name="TextBox 3"/>
            <p:cNvSpPr txBox="1"/>
            <p:nvPr/>
          </p:nvSpPr>
          <p:spPr>
            <a:xfrm>
              <a:off x="603504" y="594360"/>
              <a:ext cx="15480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300" dirty="0">
                  <a:solidFill>
                    <a:srgbClr val="D97B29"/>
                  </a:solidFill>
                  <a:latin typeface="Arial"/>
                  <a:ea typeface="Microsoft YaHei"/>
                  <a:cs typeface="Arial"/>
                </a:rPr>
                <a:t>架构 · 分层职责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3598" y="783908"/>
              <a:ext cx="6618427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1E4D40"/>
                  </a:solidFill>
                  <a:latin typeface="Georgia"/>
                  <a:ea typeface="SimSun"/>
                  <a:cs typeface="Georgia"/>
                </a:rPr>
                <a:t>模型提取与业务规则，各归其位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609600" y="13525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8DED6"/>
              </a:solidFill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609600" y="1600200"/>
            <a:ext cx="10972800" cy="838200"/>
            <a:chOff x="609600" y="1600200"/>
            <a:chExt cx="10972800" cy="838200"/>
          </a:xfrm>
        </p:grpSpPr>
        <p:sp>
          <p:nvSpPr>
            <p:cNvPr id="7" name="Rectangle 7"/>
            <p:cNvSpPr/>
            <p:nvPr/>
          </p:nvSpPr>
          <p:spPr>
            <a:xfrm>
              <a:off x="609600" y="1600200"/>
              <a:ext cx="1905000" cy="838200"/>
            </a:xfrm>
            <a:prstGeom prst="rect">
              <a:avLst/>
            </a:prstGeom>
            <a:solidFill>
              <a:srgbClr val="1E4D40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405098" y="1767840"/>
              <a:ext cx="31400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FAFAF7"/>
                  </a:solidFill>
                  <a:latin typeface="Georgia"/>
                  <a:ea typeface="Georgia"/>
                  <a:cs typeface="Georgia"/>
                </a:rPr>
                <a:t>01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78440" y="2102168"/>
              <a:ext cx="96732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FAFAF7"/>
                  </a:solidFill>
                  <a:latin typeface="Arial"/>
                  <a:ea typeface="Microsoft YaHei"/>
                  <a:cs typeface="Arial"/>
                </a:rPr>
                <a:t>Web 工作台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2667000" y="1600200"/>
              <a:ext cx="8915400" cy="838200"/>
            </a:xfrm>
            <a:prstGeom prst="rect">
              <a:avLst/>
            </a:prstGeom>
            <a:solidFill>
              <a:srgbClr val="F0F2ED">
                <a:alpha val="50000"/>
              </a:srgbClr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3926205" y="194976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输入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5638800" y="1600200"/>
              <a:ext cx="9525" cy="838200"/>
            </a:xfrm>
            <a:custGeom>
              <a:avLst/>
              <a:gdLst/>
              <a:ahLst/>
              <a:cxnLst/>
              <a:rect l="l" t="t" r="r" b="b"/>
              <a:pathLst>
                <a:path w="9525" h="838200">
                  <a:moveTo>
                    <a:pt x="0" y="0"/>
                  </a:moveTo>
                  <a:lnTo>
                    <a:pt x="0" y="838200"/>
                  </a:lnTo>
                </a:path>
              </a:pathLst>
            </a:custGeom>
            <a:noFill/>
            <a:ln w="9525">
              <a:solidFill>
                <a:srgbClr val="D8DED6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716268" y="19497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草稿检查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8610600" y="1600200"/>
              <a:ext cx="9525" cy="838200"/>
            </a:xfrm>
            <a:custGeom>
              <a:avLst/>
              <a:gdLst/>
              <a:ahLst/>
              <a:cxnLst/>
              <a:rect l="l" t="t" r="r" b="b"/>
              <a:pathLst>
                <a:path w="9525" h="838200">
                  <a:moveTo>
                    <a:pt x="0" y="0"/>
                  </a:moveTo>
                  <a:lnTo>
                    <a:pt x="0" y="838200"/>
                  </a:lnTo>
                </a:path>
              </a:pathLst>
            </a:custGeom>
            <a:noFill/>
            <a:ln w="9525">
              <a:solidFill>
                <a:srgbClr val="D8DED6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688068" y="19497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事项跟踪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609600" y="2590800"/>
            <a:ext cx="10972800" cy="842201"/>
            <a:chOff x="609600" y="2590800"/>
            <a:chExt cx="10972800" cy="842201"/>
          </a:xfrm>
        </p:grpSpPr>
        <p:sp>
          <p:nvSpPr>
            <p:cNvPr id="17" name="Rectangle 17"/>
            <p:cNvSpPr/>
            <p:nvPr/>
          </p:nvSpPr>
          <p:spPr>
            <a:xfrm>
              <a:off x="609600" y="2590800"/>
              <a:ext cx="1905000" cy="838200"/>
            </a:xfrm>
            <a:prstGeom prst="rect">
              <a:avLst/>
            </a:prstGeom>
            <a:solidFill>
              <a:srgbClr val="1E4D40"/>
            </a:solidFill>
            <a:ln>
              <a:noFill/>
            </a:ln>
          </p:spPr>
        </p:sp>
        <p:grpSp>
          <p:nvGrpSpPr>
            <p:cNvPr id="28" name="Group 28"/>
            <p:cNvGrpSpPr/>
            <p:nvPr/>
          </p:nvGrpSpPr>
          <p:grpSpPr>
            <a:xfrm>
              <a:off x="1462088" y="2738438"/>
              <a:ext cx="200025" cy="200025"/>
              <a:chOff x="1462088" y="2738438"/>
              <a:chExt cx="200025" cy="200025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1484313" y="2760663"/>
                <a:ext cx="155575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55575" h="155575">
                    <a:moveTo>
                      <a:pt x="0" y="11113"/>
                    </a:moveTo>
                    <a:cubicBezTo>
                      <a:pt x="0" y="4975"/>
                      <a:pt x="4975" y="0"/>
                      <a:pt x="11113" y="0"/>
                    </a:cubicBezTo>
                    <a:lnTo>
                      <a:pt x="144463" y="0"/>
                    </a:lnTo>
                    <a:cubicBezTo>
                      <a:pt x="150600" y="0"/>
                      <a:pt x="155575" y="4975"/>
                      <a:pt x="155575" y="11113"/>
                    </a:cubicBezTo>
                    <a:lnTo>
                      <a:pt x="155575" y="144463"/>
                    </a:lnTo>
                    <a:cubicBezTo>
                      <a:pt x="155575" y="150600"/>
                      <a:pt x="150600" y="155575"/>
                      <a:pt x="144463" y="155575"/>
                    </a:cubicBezTo>
                    <a:lnTo>
                      <a:pt x="11113" y="155575"/>
                    </a:lnTo>
                    <a:cubicBezTo>
                      <a:pt x="4975" y="155575"/>
                      <a:pt x="0" y="150600"/>
                      <a:pt x="0" y="144463"/>
                    </a:cubicBezTo>
                    <a:lnTo>
                      <a:pt x="0" y="11113"/>
                    </a:lnTo>
                  </a:path>
                </a:pathLst>
              </a:custGeom>
              <a:noFill/>
              <a:ln w="19050">
                <a:solidFill>
                  <a:srgbClr val="FAFAF7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1528763" y="2805113"/>
                <a:ext cx="6667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66675">
                    <a:moveTo>
                      <a:pt x="0" y="0"/>
                    </a:moveTo>
                    <a:lnTo>
                      <a:pt x="66675" y="0"/>
                    </a:lnTo>
                    <a:lnTo>
                      <a:pt x="66675" y="66675"/>
                    </a:lnTo>
                    <a:lnTo>
                      <a:pt x="0" y="66675"/>
                    </a:ln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FAFAF7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1462088" y="2816225"/>
                <a:ext cx="222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9525">
                    <a:moveTo>
                      <a:pt x="0" y="0"/>
                    </a:moveTo>
                    <a:lnTo>
                      <a:pt x="22225" y="0"/>
                    </a:lnTo>
                  </a:path>
                </a:pathLst>
              </a:custGeom>
              <a:noFill/>
              <a:ln w="19050">
                <a:solidFill>
                  <a:srgbClr val="FAFAF7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1462088" y="2860675"/>
                <a:ext cx="222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9525">
                    <a:moveTo>
                      <a:pt x="0" y="0"/>
                    </a:moveTo>
                    <a:lnTo>
                      <a:pt x="22225" y="0"/>
                    </a:lnTo>
                  </a:path>
                </a:pathLst>
              </a:custGeom>
              <a:noFill/>
              <a:ln w="19050">
                <a:solidFill>
                  <a:srgbClr val="FAFAF7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1539875" y="2738438"/>
                <a:ext cx="9525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19050">
                <a:solidFill>
                  <a:srgbClr val="FAFAF7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1584325" y="2738438"/>
                <a:ext cx="9525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19050">
                <a:solidFill>
                  <a:srgbClr val="FAFAF7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1639888" y="2816225"/>
                <a:ext cx="222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95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FAFAF7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1639888" y="2860675"/>
                <a:ext cx="222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95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FAFAF7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1584325" y="2916238"/>
                <a:ext cx="9525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2225">
                    <a:moveTo>
                      <a:pt x="0" y="22225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FAFAF7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1539875" y="2916238"/>
                <a:ext cx="9525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2225">
                    <a:moveTo>
                      <a:pt x="0" y="22225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FAFAF7"/>
                </a:solidFill>
              </a:ln>
            </p:spPr>
          </p:sp>
        </p:grpSp>
        <p:sp>
          <p:nvSpPr>
            <p:cNvPr id="29" name="TextBox 29"/>
            <p:cNvSpPr txBox="1"/>
            <p:nvPr/>
          </p:nvSpPr>
          <p:spPr>
            <a:xfrm>
              <a:off x="1252804" y="3168968"/>
              <a:ext cx="61859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FAFAF7"/>
                  </a:solidFill>
                  <a:latin typeface="Arial"/>
                  <a:ea typeface="Microsoft YaHei"/>
                  <a:cs typeface="Arial"/>
                </a:rPr>
                <a:t>AI 适配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2667000" y="2590800"/>
              <a:ext cx="8915400" cy="838200"/>
            </a:xfrm>
            <a:prstGeom prst="rect">
              <a:avLst/>
            </a:prstGeom>
            <a:solidFill>
              <a:srgbClr val="F0F2ED">
                <a:alpha val="50000"/>
              </a:srgbClr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3886771" y="2940368"/>
              <a:ext cx="45605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22302B"/>
                  </a:solidFill>
                  <a:latin typeface="Consolas"/>
                  <a:ea typeface="Consolas"/>
                  <a:cs typeface="Consolas"/>
                </a:rPr>
                <a:t>Mock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5638800" y="2590800"/>
              <a:ext cx="9525" cy="838200"/>
            </a:xfrm>
            <a:custGeom>
              <a:avLst/>
              <a:gdLst/>
              <a:ahLst/>
              <a:cxnLst/>
              <a:rect l="l" t="t" r="r" b="b"/>
              <a:pathLst>
                <a:path w="9525" h="838200">
                  <a:moveTo>
                    <a:pt x="0" y="0"/>
                  </a:moveTo>
                  <a:lnTo>
                    <a:pt x="0" y="838200"/>
                  </a:lnTo>
                </a:path>
              </a:pathLst>
            </a:custGeom>
            <a:noFill/>
            <a:ln w="9525">
              <a:solidFill>
                <a:srgbClr val="D8DED6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840141" y="2940368"/>
              <a:ext cx="4929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22302B"/>
                  </a:solidFill>
                  <a:latin typeface="Consolas"/>
                  <a:ea typeface="Consolas"/>
                  <a:cs typeface="Consolas"/>
                </a:rPr>
                <a:t>Qwen</a:t>
              </a:r>
            </a:p>
          </p:txBody>
        </p:sp>
        <p:sp>
          <p:nvSpPr>
            <p:cNvPr id="34" name="Line 34"/>
            <p:cNvSpPr/>
            <p:nvPr/>
          </p:nvSpPr>
          <p:spPr>
            <a:xfrm>
              <a:off x="8610600" y="2590800"/>
              <a:ext cx="9525" cy="838200"/>
            </a:xfrm>
            <a:custGeom>
              <a:avLst/>
              <a:gdLst/>
              <a:ahLst/>
              <a:cxnLst/>
              <a:rect l="l" t="t" r="r" b="b"/>
              <a:pathLst>
                <a:path w="9525" h="838200">
                  <a:moveTo>
                    <a:pt x="0" y="0"/>
                  </a:moveTo>
                  <a:lnTo>
                    <a:pt x="0" y="838200"/>
                  </a:lnTo>
                </a:path>
              </a:pathLst>
            </a:custGeom>
            <a:noFill/>
            <a:ln w="9525">
              <a:solidFill>
                <a:srgbClr val="D8DED6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9747861" y="2940368"/>
              <a:ext cx="6210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22302B"/>
                  </a:solidFill>
                  <a:latin typeface="Consolas"/>
                  <a:ea typeface="Consolas"/>
                  <a:cs typeface="Consolas"/>
                </a:rPr>
                <a:t>OpenAI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609600" y="3581400"/>
            <a:ext cx="10972800" cy="838200"/>
            <a:chOff x="609600" y="3581400"/>
            <a:chExt cx="10972800" cy="838200"/>
          </a:xfrm>
        </p:grpSpPr>
        <p:sp>
          <p:nvSpPr>
            <p:cNvPr id="37" name="Rectangle 37"/>
            <p:cNvSpPr/>
            <p:nvPr/>
          </p:nvSpPr>
          <p:spPr>
            <a:xfrm>
              <a:off x="609600" y="3581400"/>
              <a:ext cx="1905000" cy="838200"/>
            </a:xfrm>
            <a:prstGeom prst="rect">
              <a:avLst/>
            </a:prstGeom>
            <a:solidFill>
              <a:srgbClr val="1E4D4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1405098" y="3749040"/>
              <a:ext cx="31400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FAFAF7"/>
                  </a:solidFill>
                  <a:latin typeface="Georgia"/>
                  <a:ea typeface="Georgia"/>
                  <a:cs typeface="Georgia"/>
                </a:rPr>
                <a:t>03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191768" y="40833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FAFAF7"/>
                  </a:solidFill>
                  <a:latin typeface="Arial"/>
                  <a:ea typeface="Microsoft YaHei"/>
                  <a:cs typeface="Arial"/>
                </a:rPr>
                <a:t>业务控制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2667000" y="3581400"/>
              <a:ext cx="8915400" cy="838200"/>
            </a:xfrm>
            <a:prstGeom prst="rect">
              <a:avLst/>
            </a:prstGeom>
            <a:solidFill>
              <a:srgbClr val="F0F2ED">
                <a:alpha val="50000"/>
              </a:srgbClr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3006407" y="3930968"/>
              <a:ext cx="11309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Schema 校验</a:t>
              </a:r>
            </a:p>
          </p:txBody>
        </p:sp>
        <p:sp>
          <p:nvSpPr>
            <p:cNvPr id="42" name="Line 42"/>
            <p:cNvSpPr/>
            <p:nvPr/>
          </p:nvSpPr>
          <p:spPr>
            <a:xfrm>
              <a:off x="4895850" y="3581400"/>
              <a:ext cx="9525" cy="838200"/>
            </a:xfrm>
            <a:custGeom>
              <a:avLst/>
              <a:gdLst/>
              <a:ahLst/>
              <a:cxnLst/>
              <a:rect l="l" t="t" r="r" b="b"/>
              <a:pathLst>
                <a:path w="9525" h="838200">
                  <a:moveTo>
                    <a:pt x="0" y="0"/>
                  </a:moveTo>
                  <a:lnTo>
                    <a:pt x="0" y="838200"/>
                  </a:lnTo>
                </a:path>
              </a:pathLst>
            </a:custGeom>
            <a:noFill/>
            <a:ln w="9525">
              <a:solidFill>
                <a:srgbClr val="D8DED6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5412219" y="393096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候选排序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6705600" y="3581400"/>
              <a:ext cx="9525" cy="838200"/>
            </a:xfrm>
            <a:custGeom>
              <a:avLst/>
              <a:gdLst/>
              <a:ahLst/>
              <a:cxnLst/>
              <a:rect l="l" t="t" r="r" b="b"/>
              <a:pathLst>
                <a:path w="9525" h="838200">
                  <a:moveTo>
                    <a:pt x="0" y="0"/>
                  </a:moveTo>
                  <a:lnTo>
                    <a:pt x="0" y="838200"/>
                  </a:lnTo>
                </a:path>
              </a:pathLst>
            </a:custGeom>
            <a:noFill/>
            <a:ln w="9525">
              <a:solidFill>
                <a:srgbClr val="D8DED6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316895" y="3930968"/>
              <a:ext cx="11586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人工确认门禁</a:t>
              </a:r>
            </a:p>
          </p:txBody>
        </p:sp>
        <p:sp>
          <p:nvSpPr>
            <p:cNvPr id="46" name="Line 46"/>
            <p:cNvSpPr/>
            <p:nvPr/>
          </p:nvSpPr>
          <p:spPr>
            <a:xfrm>
              <a:off x="9353550" y="3581400"/>
              <a:ext cx="9525" cy="838200"/>
            </a:xfrm>
            <a:custGeom>
              <a:avLst/>
              <a:gdLst/>
              <a:ahLst/>
              <a:cxnLst/>
              <a:rect l="l" t="t" r="r" b="b"/>
              <a:pathLst>
                <a:path w="9525" h="838200">
                  <a:moveTo>
                    <a:pt x="0" y="0"/>
                  </a:moveTo>
                  <a:lnTo>
                    <a:pt x="0" y="838200"/>
                  </a:lnTo>
                </a:path>
              </a:pathLst>
            </a:custGeom>
            <a:noFill/>
            <a:ln w="9525">
              <a:solidFill>
                <a:srgbClr val="D8DED6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10174881" y="3930968"/>
              <a:ext cx="58618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状态机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609600" y="4572000"/>
            <a:ext cx="10972800" cy="842201"/>
            <a:chOff x="609600" y="4572000"/>
            <a:chExt cx="10972800" cy="842201"/>
          </a:xfrm>
        </p:grpSpPr>
        <p:sp>
          <p:nvSpPr>
            <p:cNvPr id="49" name="Rectangle 49"/>
            <p:cNvSpPr/>
            <p:nvPr/>
          </p:nvSpPr>
          <p:spPr>
            <a:xfrm>
              <a:off x="609600" y="4572000"/>
              <a:ext cx="1905000" cy="838200"/>
            </a:xfrm>
            <a:prstGeom prst="rect">
              <a:avLst/>
            </a:prstGeom>
            <a:solidFill>
              <a:srgbClr val="1E4D40"/>
            </a:solidFill>
            <a:ln>
              <a:noFill/>
            </a:ln>
          </p:spPr>
        </p:sp>
        <p:grpSp>
          <p:nvGrpSpPr>
            <p:cNvPr id="53" name="Group 53"/>
            <p:cNvGrpSpPr/>
            <p:nvPr/>
          </p:nvGrpSpPr>
          <p:grpSpPr>
            <a:xfrm>
              <a:off x="1473200" y="4719638"/>
              <a:ext cx="177801" cy="200025"/>
              <a:chOff x="1473200" y="4719638"/>
              <a:chExt cx="177801" cy="200025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1473200" y="4719638"/>
                <a:ext cx="177801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177801" h="66675">
                    <a:moveTo>
                      <a:pt x="0" y="33338"/>
                    </a:moveTo>
                    <a:cubicBezTo>
                      <a:pt x="0" y="51749"/>
                      <a:pt x="39802" y="66675"/>
                      <a:pt x="88900" y="66675"/>
                    </a:cubicBezTo>
                    <a:cubicBezTo>
                      <a:pt x="137999" y="66675"/>
                      <a:pt x="177801" y="51749"/>
                      <a:pt x="177801" y="33338"/>
                    </a:cubicBezTo>
                    <a:cubicBezTo>
                      <a:pt x="177801" y="14926"/>
                      <a:pt x="137999" y="0"/>
                      <a:pt x="88900" y="0"/>
                    </a:cubicBezTo>
                    <a:cubicBezTo>
                      <a:pt x="39802" y="0"/>
                      <a:pt x="0" y="14926"/>
                      <a:pt x="0" y="33338"/>
                    </a:cubicBezTo>
                  </a:path>
                </a:pathLst>
              </a:custGeom>
              <a:noFill/>
              <a:ln w="19050">
                <a:solidFill>
                  <a:srgbClr val="FAFAF7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1473200" y="4752975"/>
                <a:ext cx="177801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177801" h="100013">
                    <a:moveTo>
                      <a:pt x="0" y="0"/>
                    </a:moveTo>
                    <a:lnTo>
                      <a:pt x="0" y="66675"/>
                    </a:lnTo>
                    <a:cubicBezTo>
                      <a:pt x="0" y="85087"/>
                      <a:pt x="39802" y="100013"/>
                      <a:pt x="88900" y="100013"/>
                    </a:cubicBezTo>
                    <a:cubicBezTo>
                      <a:pt x="137999" y="100013"/>
                      <a:pt x="177801" y="85087"/>
                      <a:pt x="177801" y="66675"/>
                    </a:cubicBezTo>
                    <a:lnTo>
                      <a:pt x="177801" y="0"/>
                    </a:lnTo>
                  </a:path>
                </a:pathLst>
              </a:custGeom>
              <a:noFill/>
              <a:ln w="19050">
                <a:solidFill>
                  <a:srgbClr val="FAFAF7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1473200" y="4819650"/>
                <a:ext cx="177801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177801" h="100013">
                    <a:moveTo>
                      <a:pt x="0" y="0"/>
                    </a:moveTo>
                    <a:lnTo>
                      <a:pt x="0" y="66675"/>
                    </a:lnTo>
                    <a:cubicBezTo>
                      <a:pt x="0" y="85087"/>
                      <a:pt x="39802" y="100013"/>
                      <a:pt x="88900" y="100013"/>
                    </a:cubicBezTo>
                    <a:cubicBezTo>
                      <a:pt x="137999" y="100013"/>
                      <a:pt x="177801" y="85087"/>
                      <a:pt x="177801" y="66675"/>
                    </a:cubicBezTo>
                    <a:lnTo>
                      <a:pt x="177801" y="0"/>
                    </a:lnTo>
                  </a:path>
                </a:pathLst>
              </a:custGeom>
              <a:noFill/>
              <a:ln w="19050">
                <a:solidFill>
                  <a:srgbClr val="FAFAF7"/>
                </a:solidFill>
              </a:ln>
            </p:spPr>
          </p:sp>
        </p:grpSp>
        <p:sp>
          <p:nvSpPr>
            <p:cNvPr id="54" name="TextBox 54"/>
            <p:cNvSpPr txBox="1"/>
            <p:nvPr/>
          </p:nvSpPr>
          <p:spPr>
            <a:xfrm>
              <a:off x="1191768" y="51501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FAFAF7"/>
                  </a:solidFill>
                  <a:latin typeface="Arial"/>
                  <a:ea typeface="Microsoft YaHei"/>
                  <a:cs typeface="Arial"/>
                </a:rPr>
                <a:t>数据记录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2667000" y="4572000"/>
              <a:ext cx="8915400" cy="838200"/>
            </a:xfrm>
            <a:prstGeom prst="rect">
              <a:avLst/>
            </a:prstGeom>
            <a:solidFill>
              <a:srgbClr val="F0F2ED">
                <a:alpha val="50000"/>
              </a:srgbClr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2934843" y="49215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原始反馈</a:t>
              </a:r>
            </a:p>
          </p:txBody>
        </p:sp>
        <p:sp>
          <p:nvSpPr>
            <p:cNvPr id="57" name="Line 57"/>
            <p:cNvSpPr/>
            <p:nvPr/>
          </p:nvSpPr>
          <p:spPr>
            <a:xfrm>
              <a:off x="4086225" y="4572000"/>
              <a:ext cx="9525" cy="838200"/>
            </a:xfrm>
            <a:custGeom>
              <a:avLst/>
              <a:gdLst/>
              <a:ahLst/>
              <a:cxnLst/>
              <a:rect l="l" t="t" r="r" b="b"/>
              <a:pathLst>
                <a:path w="9525" h="838200">
                  <a:moveTo>
                    <a:pt x="0" y="0"/>
                  </a:moveTo>
                  <a:lnTo>
                    <a:pt x="0" y="838200"/>
                  </a:lnTo>
                </a:path>
              </a:pathLst>
            </a:custGeom>
            <a:noFill/>
            <a:ln w="9525">
              <a:solidFill>
                <a:srgbClr val="D8DED6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4535805" y="492156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草稿</a:t>
              </a:r>
            </a:p>
          </p:txBody>
        </p:sp>
        <p:sp>
          <p:nvSpPr>
            <p:cNvPr id="59" name="Line 59"/>
            <p:cNvSpPr/>
            <p:nvPr/>
          </p:nvSpPr>
          <p:spPr>
            <a:xfrm>
              <a:off x="5362575" y="4572000"/>
              <a:ext cx="9525" cy="838200"/>
            </a:xfrm>
            <a:custGeom>
              <a:avLst/>
              <a:gdLst/>
              <a:ahLst/>
              <a:cxnLst/>
              <a:rect l="l" t="t" r="r" b="b"/>
              <a:pathLst>
                <a:path w="9525" h="838200">
                  <a:moveTo>
                    <a:pt x="0" y="0"/>
                  </a:moveTo>
                  <a:lnTo>
                    <a:pt x="0" y="838200"/>
                  </a:lnTo>
                </a:path>
              </a:pathLst>
            </a:custGeom>
            <a:noFill/>
            <a:ln w="9525">
              <a:solidFill>
                <a:srgbClr val="D8DED6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5812155" y="492156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事项</a:t>
              </a:r>
            </a:p>
          </p:txBody>
        </p:sp>
        <p:sp>
          <p:nvSpPr>
            <p:cNvPr id="61" name="Line 61"/>
            <p:cNvSpPr/>
            <p:nvPr/>
          </p:nvSpPr>
          <p:spPr>
            <a:xfrm>
              <a:off x="6638925" y="4572000"/>
              <a:ext cx="9525" cy="838200"/>
            </a:xfrm>
            <a:custGeom>
              <a:avLst/>
              <a:gdLst/>
              <a:ahLst/>
              <a:cxnLst/>
              <a:rect l="l" t="t" r="r" b="b"/>
              <a:pathLst>
                <a:path w="9525" h="838200">
                  <a:moveTo>
                    <a:pt x="0" y="0"/>
                  </a:moveTo>
                  <a:lnTo>
                    <a:pt x="0" y="838200"/>
                  </a:lnTo>
                </a:path>
              </a:pathLst>
            </a:custGeom>
            <a:noFill/>
            <a:ln w="9525">
              <a:solidFill>
                <a:srgbClr val="D8DED6"/>
              </a:solidFill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7088505" y="492156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来源</a:t>
              </a:r>
            </a:p>
          </p:txBody>
        </p:sp>
        <p:sp>
          <p:nvSpPr>
            <p:cNvPr id="63" name="Line 63"/>
            <p:cNvSpPr/>
            <p:nvPr/>
          </p:nvSpPr>
          <p:spPr>
            <a:xfrm>
              <a:off x="7915275" y="4572000"/>
              <a:ext cx="9525" cy="838200"/>
            </a:xfrm>
            <a:custGeom>
              <a:avLst/>
              <a:gdLst/>
              <a:ahLst/>
              <a:cxnLst/>
              <a:rect l="l" t="t" r="r" b="b"/>
              <a:pathLst>
                <a:path w="9525" h="838200">
                  <a:moveTo>
                    <a:pt x="0" y="0"/>
                  </a:moveTo>
                  <a:lnTo>
                    <a:pt x="0" y="838200"/>
                  </a:lnTo>
                </a:path>
              </a:pathLst>
            </a:custGeom>
            <a:noFill/>
            <a:ln w="9525">
              <a:solidFill>
                <a:srgbClr val="D8DED6"/>
              </a:solidFill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8659368" y="49215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处理记录</a:t>
              </a:r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603504" y="5715000"/>
            <a:ext cx="10984992" cy="499301"/>
            <a:chOff x="603504" y="5715000"/>
            <a:chExt cx="10984992" cy="499301"/>
          </a:xfrm>
        </p:grpSpPr>
        <p:sp>
          <p:nvSpPr>
            <p:cNvPr id="66" name="Line 66"/>
            <p:cNvSpPr/>
            <p:nvPr/>
          </p:nvSpPr>
          <p:spPr>
            <a:xfrm>
              <a:off x="609600" y="57150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8DED6"/>
              </a:solidFill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603504" y="5966460"/>
              <a:ext cx="7512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150" dirty="0">
                  <a:solidFill>
                    <a:srgbClr val="1E4D40"/>
                  </a:solidFill>
                  <a:latin typeface="Arial"/>
                  <a:ea typeface="Microsoft YaHei"/>
                  <a:cs typeface="Arial"/>
                </a:rPr>
                <a:t>技术基础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707642" y="5950268"/>
              <a:ext cx="471358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22302B"/>
                  </a:solidFill>
                  <a:latin typeface="Consolas"/>
                  <a:ea typeface="Consolas"/>
                  <a:cs typeface="Consolas"/>
                </a:rPr>
                <a:t>Next.js · React · TypeScript · Zod · Prisma · SQLite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7780528" y="5966460"/>
              <a:ext cx="38079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8A968F"/>
                  </a:solidFill>
                  <a:latin typeface="Arial"/>
                  <a:ea typeface="Microsoft YaHei"/>
                  <a:cs typeface="Arial"/>
                </a:rPr>
                <a:t>真实模型效果需专项实测 · 重复候选未用 Embedding</a:t>
              </a:r>
            </a:p>
          </p:txBody>
        </p:sp>
      </p:grpSp>
      <p:grpSp>
        <p:nvGrpSpPr>
          <p:cNvPr id="73" name="Group 73"/>
          <p:cNvGrpSpPr/>
          <p:nvPr/>
        </p:nvGrpSpPr>
        <p:grpSpPr>
          <a:xfrm>
            <a:off x="603504" y="6442710"/>
            <a:ext cx="10984992" cy="234696"/>
            <a:chOff x="603504" y="6442710"/>
            <a:chExt cx="10984992" cy="234696"/>
          </a:xfrm>
        </p:grpSpPr>
        <p:sp>
          <p:nvSpPr>
            <p:cNvPr id="71" name="TextBox 71"/>
            <p:cNvSpPr txBox="1"/>
            <p:nvPr/>
          </p:nvSpPr>
          <p:spPr>
            <a:xfrm>
              <a:off x="603504" y="6442710"/>
              <a:ext cx="15224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A968F"/>
                  </a:solidFill>
                  <a:latin typeface="Arial"/>
                  <a:ea typeface="Microsoft YaHei"/>
                  <a:cs typeface="Arial"/>
                </a:rPr>
                <a:t>OneCase · 初赛路演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1035132" y="644271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8A968F"/>
                  </a:solidFill>
                  <a:latin typeface="Arial"/>
                  <a:ea typeface="Arial"/>
                  <a:cs typeface="Arial"/>
                </a:rPr>
                <a:t>08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93598" y="594360"/>
            <a:ext cx="10988802" cy="805625"/>
            <a:chOff x="593598" y="594360"/>
            <a:chExt cx="10988802" cy="805625"/>
          </a:xfrm>
        </p:grpSpPr>
        <p:sp>
          <p:nvSpPr>
            <p:cNvPr id="3" name="TextBox 3"/>
            <p:cNvSpPr txBox="1"/>
            <p:nvPr/>
          </p:nvSpPr>
          <p:spPr>
            <a:xfrm>
              <a:off x="603504" y="594360"/>
              <a:ext cx="15480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300" dirty="0">
                  <a:solidFill>
                    <a:srgbClr val="D97B29"/>
                  </a:solidFill>
                  <a:latin typeface="Arial"/>
                  <a:ea typeface="Microsoft YaHei"/>
                  <a:cs typeface="Arial"/>
                </a:rPr>
                <a:t>背书 · 工程证据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3598" y="783908"/>
              <a:ext cx="4736592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1E4D40"/>
                  </a:solidFill>
                  <a:latin typeface="Georgia"/>
                  <a:ea typeface="SimSun"/>
                  <a:cs typeface="Georgia"/>
                </a:rPr>
                <a:t>可核验的，才是可信的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609600" y="13525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8DED6"/>
              </a:solidFill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591312" y="1714500"/>
            <a:ext cx="3371088" cy="1724406"/>
            <a:chOff x="591312" y="1714500"/>
            <a:chExt cx="3371088" cy="1724406"/>
          </a:xfrm>
        </p:grpSpPr>
        <p:sp>
          <p:nvSpPr>
            <p:cNvPr id="7" name="Line 7"/>
            <p:cNvSpPr/>
            <p:nvPr/>
          </p:nvSpPr>
          <p:spPr>
            <a:xfrm>
              <a:off x="609600" y="1714500"/>
              <a:ext cx="3352800" cy="9525"/>
            </a:xfrm>
            <a:custGeom>
              <a:avLst/>
              <a:gdLst/>
              <a:ahLst/>
              <a:cxnLst/>
              <a:rect l="l" t="t" r="r" b="b"/>
              <a:pathLst>
                <a:path w="3352800" h="9525">
                  <a:moveTo>
                    <a:pt x="0" y="0"/>
                  </a:moveTo>
                  <a:lnTo>
                    <a:pt x="3352800" y="0"/>
                  </a:lnTo>
                </a:path>
              </a:pathLst>
            </a:custGeom>
            <a:noFill/>
            <a:ln w="28575">
              <a:solidFill>
                <a:srgbClr val="1E4D40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91312" y="2164080"/>
              <a:ext cx="923727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600" b="1" dirty="0">
                  <a:solidFill>
                    <a:srgbClr val="1E4D40"/>
                  </a:solidFill>
                  <a:latin typeface="Georgia"/>
                  <a:ea typeface="Georgia"/>
                  <a:cs typeface="Georgia"/>
                </a:rPr>
                <a:t>116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01980" y="2867025"/>
              <a:ext cx="216730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项单元测试 · 全部通过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03504" y="3204210"/>
              <a:ext cx="264932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覆盖 AI 契约、业务规则、查重服务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4248912" y="1714500"/>
            <a:ext cx="3371088" cy="1724406"/>
            <a:chOff x="4248912" y="1714500"/>
            <a:chExt cx="3371088" cy="1724406"/>
          </a:xfrm>
        </p:grpSpPr>
        <p:sp>
          <p:nvSpPr>
            <p:cNvPr id="12" name="Line 12"/>
            <p:cNvSpPr/>
            <p:nvPr/>
          </p:nvSpPr>
          <p:spPr>
            <a:xfrm>
              <a:off x="4267200" y="1714500"/>
              <a:ext cx="3352800" cy="9525"/>
            </a:xfrm>
            <a:custGeom>
              <a:avLst/>
              <a:gdLst/>
              <a:ahLst/>
              <a:cxnLst/>
              <a:rect l="l" t="t" r="r" b="b"/>
              <a:pathLst>
                <a:path w="3352800" h="9525">
                  <a:moveTo>
                    <a:pt x="0" y="0"/>
                  </a:moveTo>
                  <a:lnTo>
                    <a:pt x="3352800" y="0"/>
                  </a:lnTo>
                </a:path>
              </a:pathLst>
            </a:custGeom>
            <a:noFill/>
            <a:ln w="28575">
              <a:solidFill>
                <a:srgbClr val="1E4D40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4248912" y="2164080"/>
              <a:ext cx="62801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600" b="1" dirty="0">
                  <a:solidFill>
                    <a:srgbClr val="1E4D40"/>
                  </a:solidFill>
                  <a:latin typeface="Georgia"/>
                  <a:ea typeface="Georgia"/>
                  <a:cs typeface="Georgia"/>
                </a:rPr>
                <a:t>87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259580" y="2867025"/>
              <a:ext cx="237933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项业务不变量 · 全部通过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261104" y="3204210"/>
              <a:ext cx="1789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真实数据库上的集成断言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7906512" y="1714500"/>
            <a:ext cx="3371088" cy="1724406"/>
            <a:chOff x="7906512" y="1714500"/>
            <a:chExt cx="3371088" cy="1724406"/>
          </a:xfrm>
        </p:grpSpPr>
        <p:sp>
          <p:nvSpPr>
            <p:cNvPr id="17" name="Line 17"/>
            <p:cNvSpPr/>
            <p:nvPr/>
          </p:nvSpPr>
          <p:spPr>
            <a:xfrm>
              <a:off x="7924800" y="1714500"/>
              <a:ext cx="3352800" cy="9525"/>
            </a:xfrm>
            <a:custGeom>
              <a:avLst/>
              <a:gdLst/>
              <a:ahLst/>
              <a:cxnLst/>
              <a:rect l="l" t="t" r="r" b="b"/>
              <a:pathLst>
                <a:path w="3352800" h="9525">
                  <a:moveTo>
                    <a:pt x="0" y="0"/>
                  </a:moveTo>
                  <a:lnTo>
                    <a:pt x="3352800" y="0"/>
                  </a:lnTo>
                </a:path>
              </a:pathLst>
            </a:custGeom>
            <a:noFill/>
            <a:ln w="28575">
              <a:solidFill>
                <a:srgbClr val="1E4D40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906512" y="2164080"/>
              <a:ext cx="62801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600" b="1" dirty="0">
                  <a:solidFill>
                    <a:srgbClr val="1E4D40"/>
                  </a:solidFill>
                  <a:latin typeface="Georgia"/>
                  <a:ea typeface="Georgia"/>
                  <a:cs typeface="Georgia"/>
                </a:rPr>
                <a:t>22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917180" y="2867025"/>
              <a:ext cx="237933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项端到端流程 · 全部通过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918704" y="3204210"/>
              <a:ext cx="230794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浏览器全链路，含 AI 降级路径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4114800" y="1714500"/>
            <a:ext cx="3667125" cy="1714500"/>
            <a:chOff x="4114800" y="1714500"/>
            <a:chExt cx="3667125" cy="1714500"/>
          </a:xfrm>
        </p:grpSpPr>
        <p:sp>
          <p:nvSpPr>
            <p:cNvPr id="22" name="Line 22"/>
            <p:cNvSpPr/>
            <p:nvPr/>
          </p:nvSpPr>
          <p:spPr>
            <a:xfrm>
              <a:off x="4114800" y="1714500"/>
              <a:ext cx="9525" cy="1714500"/>
            </a:xfrm>
            <a:custGeom>
              <a:avLst/>
              <a:gdLst/>
              <a:ahLst/>
              <a:cxnLst/>
              <a:rect l="l" t="t" r="r" b="b"/>
              <a:pathLst>
                <a:path w="9525" h="1714500">
                  <a:moveTo>
                    <a:pt x="0" y="0"/>
                  </a:moveTo>
                  <a:lnTo>
                    <a:pt x="0" y="1714500"/>
                  </a:lnTo>
                </a:path>
              </a:pathLst>
            </a:custGeom>
            <a:noFill/>
            <a:ln w="9525">
              <a:solidFill>
                <a:srgbClr val="D8DED6"/>
              </a:solidFill>
            </a:ln>
          </p:spPr>
        </p:sp>
        <p:sp>
          <p:nvSpPr>
            <p:cNvPr id="23" name="Line 23"/>
            <p:cNvSpPr/>
            <p:nvPr/>
          </p:nvSpPr>
          <p:spPr>
            <a:xfrm>
              <a:off x="7772400" y="1714500"/>
              <a:ext cx="9525" cy="1714500"/>
            </a:xfrm>
            <a:custGeom>
              <a:avLst/>
              <a:gdLst/>
              <a:ahLst/>
              <a:cxnLst/>
              <a:rect l="l" t="t" r="r" b="b"/>
              <a:pathLst>
                <a:path w="9525" h="1714500">
                  <a:moveTo>
                    <a:pt x="0" y="0"/>
                  </a:moveTo>
                  <a:lnTo>
                    <a:pt x="0" y="1714500"/>
                  </a:lnTo>
                </a:path>
              </a:pathLst>
            </a:custGeom>
            <a:noFill/>
            <a:ln w="9525">
              <a:solidFill>
                <a:srgbClr val="D8DED6"/>
              </a:solidFill>
            </a:ln>
          </p:spPr>
        </p:sp>
      </p:grpSp>
      <p:grpSp>
        <p:nvGrpSpPr>
          <p:cNvPr id="40" name="Group 40"/>
          <p:cNvGrpSpPr/>
          <p:nvPr/>
        </p:nvGrpSpPr>
        <p:grpSpPr>
          <a:xfrm>
            <a:off x="601980" y="3810000"/>
            <a:ext cx="10980420" cy="2093595"/>
            <a:chOff x="601980" y="3810000"/>
            <a:chExt cx="10980420" cy="2093595"/>
          </a:xfrm>
        </p:grpSpPr>
        <p:sp>
          <p:nvSpPr>
            <p:cNvPr id="25" name="Line 25"/>
            <p:cNvSpPr/>
            <p:nvPr/>
          </p:nvSpPr>
          <p:spPr>
            <a:xfrm>
              <a:off x="609600" y="38100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8DED6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01980" y="408622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E4D40"/>
                  </a:solidFill>
                  <a:latin typeface="Arial"/>
                  <a:ea typeface="Microsoft YaHei"/>
                  <a:cs typeface="Arial"/>
                </a:rPr>
                <a:t>项目成果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279142" y="4102418"/>
              <a:ext cx="57552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从文字整理到事项跟踪的 MVP 完整实现，含 AI 降级与人工兜底路径</a:t>
              </a:r>
            </a:p>
          </p:txBody>
        </p:sp>
        <p:sp>
          <p:nvSpPr>
            <p:cNvPr id="28" name="Line 28"/>
            <p:cNvSpPr/>
            <p:nvPr/>
          </p:nvSpPr>
          <p:spPr>
            <a:xfrm>
              <a:off x="609600" y="45720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E4E8E1"/>
              </a:solidFill>
            </a:ln>
          </p:spPr>
        </p:sp>
        <p:grpSp>
          <p:nvGrpSpPr>
            <p:cNvPr id="34" name="Group 34"/>
            <p:cNvGrpSpPr/>
            <p:nvPr/>
          </p:nvGrpSpPr>
          <p:grpSpPr>
            <a:xfrm>
              <a:off x="665163" y="4833938"/>
              <a:ext cx="155575" cy="200026"/>
              <a:chOff x="665163" y="4833938"/>
              <a:chExt cx="155575" cy="200026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765175" y="4833938"/>
                <a:ext cx="55563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55563" h="55563">
                    <a:moveTo>
                      <a:pt x="0" y="0"/>
                    </a:moveTo>
                    <a:lnTo>
                      <a:pt x="0" y="44450"/>
                    </a:lnTo>
                    <a:cubicBezTo>
                      <a:pt x="0" y="50587"/>
                      <a:pt x="4975" y="55563"/>
                      <a:pt x="11113" y="55563"/>
                    </a:cubicBezTo>
                    <a:lnTo>
                      <a:pt x="55563" y="55563"/>
                    </a:lnTo>
                  </a:path>
                </a:pathLst>
              </a:custGeom>
              <a:noFill/>
              <a:ln w="19050">
                <a:solidFill>
                  <a:srgbClr val="1E4D40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665163" y="4833938"/>
                <a:ext cx="155575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155575" h="200026">
                    <a:moveTo>
                      <a:pt x="133350" y="200026"/>
                    </a:moveTo>
                    <a:lnTo>
                      <a:pt x="22225" y="200026"/>
                    </a:lnTo>
                    <a:cubicBezTo>
                      <a:pt x="9950" y="200026"/>
                      <a:pt x="0" y="190075"/>
                      <a:pt x="0" y="177801"/>
                    </a:cubicBezTo>
                    <a:lnTo>
                      <a:pt x="0" y="22225"/>
                    </a:lnTo>
                    <a:cubicBezTo>
                      <a:pt x="0" y="9950"/>
                      <a:pt x="9950" y="0"/>
                      <a:pt x="22225" y="0"/>
                    </a:cubicBezTo>
                    <a:lnTo>
                      <a:pt x="100013" y="0"/>
                    </a:lnTo>
                    <a:lnTo>
                      <a:pt x="155575" y="55563"/>
                    </a:lnTo>
                    <a:lnTo>
                      <a:pt x="155575" y="177801"/>
                    </a:lnTo>
                    <a:cubicBezTo>
                      <a:pt x="155575" y="190075"/>
                      <a:pt x="145625" y="200026"/>
                      <a:pt x="133350" y="200026"/>
                    </a:cubicBezTo>
                  </a:path>
                </a:pathLst>
              </a:custGeom>
              <a:noFill/>
              <a:ln w="19050">
                <a:solidFill>
                  <a:srgbClr val="1E4D40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709613" y="4900613"/>
                <a:ext cx="11113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113" h="9525">
                    <a:moveTo>
                      <a:pt x="0" y="0"/>
                    </a:moveTo>
                    <a:lnTo>
                      <a:pt x="11113" y="0"/>
                    </a:lnTo>
                  </a:path>
                </a:pathLst>
              </a:custGeom>
              <a:noFill/>
              <a:ln w="19050">
                <a:solidFill>
                  <a:srgbClr val="1E4D40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709613" y="4945063"/>
                <a:ext cx="666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9525">
                    <a:moveTo>
                      <a:pt x="0" y="0"/>
                    </a:moveTo>
                    <a:lnTo>
                      <a:pt x="66675" y="0"/>
                    </a:lnTo>
                  </a:path>
                </a:pathLst>
              </a:custGeom>
              <a:noFill/>
              <a:ln w="19050">
                <a:solidFill>
                  <a:srgbClr val="1E4D40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709613" y="4989513"/>
                <a:ext cx="666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9525">
                    <a:moveTo>
                      <a:pt x="0" y="0"/>
                    </a:moveTo>
                    <a:lnTo>
                      <a:pt x="66675" y="0"/>
                    </a:lnTo>
                  </a:path>
                </a:pathLst>
              </a:custGeom>
              <a:noFill/>
              <a:ln w="19050">
                <a:solidFill>
                  <a:srgbClr val="1E4D40"/>
                </a:solidFill>
              </a:ln>
            </p:spPr>
          </p:sp>
        </p:grpSp>
        <p:sp>
          <p:nvSpPr>
            <p:cNvPr id="35" name="TextBox 35"/>
            <p:cNvSpPr txBox="1"/>
            <p:nvPr/>
          </p:nvSpPr>
          <p:spPr>
            <a:xfrm>
              <a:off x="982980" y="484822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E4D40"/>
                  </a:solidFill>
                  <a:latin typeface="Arial"/>
                  <a:ea typeface="Microsoft YaHei"/>
                  <a:cs typeface="Arial"/>
                </a:rPr>
                <a:t>工程证据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2279142" y="4864418"/>
              <a:ext cx="455714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源码仓库、演示脚本与全部自动化测试用例，可现场复核</a:t>
              </a:r>
            </a:p>
          </p:txBody>
        </p:sp>
        <p:sp>
          <p:nvSpPr>
            <p:cNvPr id="37" name="Line 37"/>
            <p:cNvSpPr/>
            <p:nvPr/>
          </p:nvSpPr>
          <p:spPr>
            <a:xfrm>
              <a:off x="609600" y="53340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E4E8E1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01980" y="561022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E4D40"/>
                  </a:solidFill>
                  <a:latin typeface="Arial"/>
                  <a:ea typeface="Microsoft YaHei"/>
                  <a:cs typeface="Arial"/>
                </a:rPr>
                <a:t>如实说明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2279142" y="5626418"/>
              <a:ext cx="63926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个人参赛项目，暂无客户与合作数据——以工程证据呈现，不以演示代替客户验证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603504" y="6118860"/>
            <a:ext cx="6191250" cy="234696"/>
            <a:chOff x="603504" y="6118860"/>
            <a:chExt cx="6191250" cy="234696"/>
          </a:xfrm>
        </p:grpSpPr>
        <p:sp>
          <p:nvSpPr>
            <p:cNvPr id="41" name="TextBox 41"/>
            <p:cNvSpPr txBox="1"/>
            <p:nvPr/>
          </p:nvSpPr>
          <p:spPr>
            <a:xfrm>
              <a:off x="603504" y="6118860"/>
              <a:ext cx="61912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A968F"/>
                  </a:solidFill>
                  <a:latin typeface="Arial"/>
                  <a:ea typeface="Microsoft YaHei"/>
                  <a:cs typeface="Arial"/>
                </a:rPr>
                <a:t>来源：仓库自动化测试套件 · 2026-08-31 本机实测 · 另含 6 个子包类型检查全部通过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603504" y="6480810"/>
            <a:ext cx="10984992" cy="234696"/>
            <a:chOff x="603504" y="6480810"/>
            <a:chExt cx="10984992" cy="234696"/>
          </a:xfrm>
        </p:grpSpPr>
        <p:sp>
          <p:nvSpPr>
            <p:cNvPr id="43" name="TextBox 43"/>
            <p:cNvSpPr txBox="1"/>
            <p:nvPr/>
          </p:nvSpPr>
          <p:spPr>
            <a:xfrm>
              <a:off x="603504" y="6480810"/>
              <a:ext cx="15224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A968F"/>
                  </a:solidFill>
                  <a:latin typeface="Arial"/>
                  <a:ea typeface="Microsoft YaHei"/>
                  <a:cs typeface="Arial"/>
                </a:rPr>
                <a:t>OneCase · 初赛路演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035132" y="648081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8A968F"/>
                  </a:solidFill>
                  <a:latin typeface="Arial"/>
                  <a:ea typeface="Arial"/>
                  <a:cs typeface="Arial"/>
                </a:rPr>
                <a:t>09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93598" y="594360"/>
            <a:ext cx="10988802" cy="805625"/>
            <a:chOff x="593598" y="594360"/>
            <a:chExt cx="10988802" cy="805625"/>
          </a:xfrm>
        </p:grpSpPr>
        <p:sp>
          <p:nvSpPr>
            <p:cNvPr id="3" name="TextBox 3"/>
            <p:cNvSpPr txBox="1"/>
            <p:nvPr/>
          </p:nvSpPr>
          <p:spPr>
            <a:xfrm>
              <a:off x="603504" y="594360"/>
              <a:ext cx="15480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300" dirty="0">
                  <a:solidFill>
                    <a:srgbClr val="D97B29"/>
                  </a:solidFill>
                  <a:latin typeface="Arial"/>
                  <a:ea typeface="Microsoft YaHei"/>
                  <a:cs typeface="Arial"/>
                </a:rPr>
                <a:t>商业 · 落地路径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3598" y="783908"/>
              <a:ext cx="4266133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1E4D40"/>
                  </a:solidFill>
                  <a:latin typeface="Georgia"/>
                  <a:ea typeface="SimSun"/>
                  <a:cs typeface="Georgia"/>
                </a:rPr>
                <a:t>从一个受控场景开始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609600" y="13525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8DED6"/>
              </a:solidFill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609600" y="1714500"/>
            <a:ext cx="10972800" cy="683895"/>
            <a:chOff x="609600" y="1714500"/>
            <a:chExt cx="10972800" cy="683895"/>
          </a:xfrm>
        </p:grpSpPr>
        <p:sp>
          <p:nvSpPr>
            <p:cNvPr id="7" name="Polygon 7"/>
            <p:cNvSpPr/>
            <p:nvPr/>
          </p:nvSpPr>
          <p:spPr>
            <a:xfrm>
              <a:off x="609600" y="1714500"/>
              <a:ext cx="3905250" cy="666750"/>
            </a:xfrm>
            <a:custGeom>
              <a:avLst/>
              <a:gdLst/>
              <a:ahLst/>
              <a:cxnLst/>
              <a:rect l="l" t="t" r="r" b="b"/>
              <a:pathLst>
                <a:path w="3905250" h="666750">
                  <a:moveTo>
                    <a:pt x="0" y="0"/>
                  </a:moveTo>
                  <a:lnTo>
                    <a:pt x="3619500" y="0"/>
                  </a:lnTo>
                  <a:lnTo>
                    <a:pt x="3905250" y="333375"/>
                  </a:lnTo>
                  <a:lnTo>
                    <a:pt x="3619500" y="666750"/>
                  </a:lnTo>
                  <a:lnTo>
                    <a:pt x="0" y="666750"/>
                  </a:lnTo>
                  <a:close/>
                </a:path>
              </a:pathLst>
            </a:custGeom>
            <a:solidFill>
              <a:srgbClr val="F0F2ED"/>
            </a:solidFill>
            <a:ln w="14288">
              <a:solidFill>
                <a:srgbClr val="1E4D40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946758" y="1889760"/>
              <a:ext cx="75468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spc="150" dirty="0">
                  <a:solidFill>
                    <a:srgbClr val="5C6B64"/>
                  </a:solidFill>
                  <a:latin typeface="Arial"/>
                  <a:ea typeface="Arial"/>
                  <a:cs typeface="Arial"/>
                </a:rPr>
                <a:t>STEP 01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892427" y="210502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E4D40"/>
                  </a:solidFill>
                  <a:latin typeface="Arial"/>
                  <a:ea typeface="Microsoft YaHei"/>
                  <a:cs typeface="Arial"/>
                </a:rPr>
                <a:t>场景共建</a:t>
              </a:r>
            </a:p>
          </p:txBody>
        </p:sp>
        <p:sp>
          <p:nvSpPr>
            <p:cNvPr id="10" name="Polygon 10"/>
            <p:cNvSpPr/>
            <p:nvPr/>
          </p:nvSpPr>
          <p:spPr>
            <a:xfrm>
              <a:off x="4229100" y="1714500"/>
              <a:ext cx="3905250" cy="666750"/>
            </a:xfrm>
            <a:custGeom>
              <a:avLst/>
              <a:gdLst/>
              <a:ahLst/>
              <a:cxnLst/>
              <a:rect l="l" t="t" r="r" b="b"/>
              <a:pathLst>
                <a:path w="3905250" h="666750">
                  <a:moveTo>
                    <a:pt x="0" y="0"/>
                  </a:moveTo>
                  <a:lnTo>
                    <a:pt x="3619500" y="0"/>
                  </a:lnTo>
                  <a:lnTo>
                    <a:pt x="3905250" y="333375"/>
                  </a:lnTo>
                  <a:lnTo>
                    <a:pt x="3619500" y="666750"/>
                  </a:lnTo>
                  <a:lnTo>
                    <a:pt x="0" y="666750"/>
                  </a:lnTo>
                  <a:lnTo>
                    <a:pt x="285750" y="333375"/>
                  </a:lnTo>
                  <a:close/>
                </a:path>
              </a:pathLst>
            </a:custGeom>
            <a:solidFill>
              <a:srgbClr val="F0F2ED"/>
            </a:solidFill>
            <a:ln w="14288">
              <a:solidFill>
                <a:srgbClr val="1E4D40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661508" y="1889760"/>
              <a:ext cx="75468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spc="150" dirty="0">
                  <a:solidFill>
                    <a:srgbClr val="5C6B64"/>
                  </a:solidFill>
                  <a:latin typeface="Arial"/>
                  <a:ea typeface="Arial"/>
                  <a:cs typeface="Arial"/>
                </a:rPr>
                <a:t>STEP 02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607177" y="210502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E4D40"/>
                  </a:solidFill>
                  <a:latin typeface="Arial"/>
                  <a:ea typeface="Microsoft YaHei"/>
                  <a:cs typeface="Arial"/>
                </a:rPr>
                <a:t>流程验证</a:t>
              </a:r>
            </a:p>
          </p:txBody>
        </p:sp>
        <p:sp>
          <p:nvSpPr>
            <p:cNvPr id="13" name="Polygon 13"/>
            <p:cNvSpPr/>
            <p:nvPr/>
          </p:nvSpPr>
          <p:spPr>
            <a:xfrm>
              <a:off x="7848600" y="1714500"/>
              <a:ext cx="3733800" cy="666750"/>
            </a:xfrm>
            <a:custGeom>
              <a:avLst/>
              <a:gdLst/>
              <a:ahLst/>
              <a:cxnLst/>
              <a:rect l="l" t="t" r="r" b="b"/>
              <a:pathLst>
                <a:path w="3733800" h="666750">
                  <a:moveTo>
                    <a:pt x="0" y="0"/>
                  </a:moveTo>
                  <a:lnTo>
                    <a:pt x="3448050" y="0"/>
                  </a:lnTo>
                  <a:lnTo>
                    <a:pt x="3733800" y="333375"/>
                  </a:lnTo>
                  <a:lnTo>
                    <a:pt x="3448050" y="666750"/>
                  </a:lnTo>
                  <a:lnTo>
                    <a:pt x="0" y="666750"/>
                  </a:lnTo>
                  <a:lnTo>
                    <a:pt x="285750" y="333375"/>
                  </a:lnTo>
                  <a:close/>
                </a:path>
              </a:pathLst>
            </a:custGeom>
            <a:solidFill>
              <a:srgbClr val="1E4D40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242908" y="1889760"/>
              <a:ext cx="75468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spc="150" dirty="0">
                  <a:solidFill>
                    <a:srgbClr val="5E8C7B"/>
                  </a:solidFill>
                  <a:latin typeface="Arial"/>
                  <a:ea typeface="Arial"/>
                  <a:cs typeface="Arial"/>
                </a:rPr>
                <a:t>STEP 03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188577" y="210502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AFAF7"/>
                  </a:solidFill>
                  <a:latin typeface="Arial"/>
                  <a:ea typeface="Microsoft YaHei"/>
                  <a:cs typeface="Arial"/>
                </a:rPr>
                <a:t>服务采购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09600" y="2857500"/>
            <a:ext cx="10972800" cy="2857500"/>
            <a:chOff x="609600" y="2857500"/>
            <a:chExt cx="10972800" cy="2857500"/>
          </a:xfrm>
        </p:grpSpPr>
        <p:sp>
          <p:nvSpPr>
            <p:cNvPr id="17" name="Line 17"/>
            <p:cNvSpPr/>
            <p:nvPr/>
          </p:nvSpPr>
          <p:spPr>
            <a:xfrm>
              <a:off x="6096000" y="2857500"/>
              <a:ext cx="9525" cy="2857500"/>
            </a:xfrm>
            <a:custGeom>
              <a:avLst/>
              <a:gdLst/>
              <a:ahLst/>
              <a:cxnLst/>
              <a:rect l="l" t="t" r="r" b="b"/>
              <a:pathLst>
                <a:path w="9525" h="2857500">
                  <a:moveTo>
                    <a:pt x="0" y="0"/>
                  </a:moveTo>
                  <a:lnTo>
                    <a:pt x="0" y="2857500"/>
                  </a:lnTo>
                </a:path>
              </a:pathLst>
            </a:custGeom>
            <a:noFill/>
            <a:ln w="9525">
              <a:solidFill>
                <a:srgbClr val="D8DE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609600" y="4286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8DED6"/>
              </a:solidFill>
            </a:ln>
          </p:spPr>
        </p:sp>
      </p:grpSp>
      <p:grpSp>
        <p:nvGrpSpPr>
          <p:cNvPr id="28" name="Group 28"/>
          <p:cNvGrpSpPr/>
          <p:nvPr/>
        </p:nvGrpSpPr>
        <p:grpSpPr>
          <a:xfrm>
            <a:off x="602742" y="3083719"/>
            <a:ext cx="2030997" cy="1035082"/>
            <a:chOff x="602742" y="3083719"/>
            <a:chExt cx="2030997" cy="1035082"/>
          </a:xfrm>
        </p:grpSpPr>
        <p:grpSp>
          <p:nvGrpSpPr>
            <p:cNvPr id="24" name="Group 24"/>
            <p:cNvGrpSpPr/>
            <p:nvPr/>
          </p:nvGrpSpPr>
          <p:grpSpPr>
            <a:xfrm>
              <a:off x="645319" y="3083719"/>
              <a:ext cx="214313" cy="214313"/>
              <a:chOff x="645319" y="3083719"/>
              <a:chExt cx="214313" cy="214313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669131" y="3083719"/>
                <a:ext cx="952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0">
                    <a:moveTo>
                      <a:pt x="0" y="47625"/>
                    </a:moveTo>
                    <a:cubicBezTo>
                      <a:pt x="0" y="73928"/>
                      <a:pt x="21322" y="95250"/>
                      <a:pt x="47625" y="95250"/>
                    </a:cubicBezTo>
                    <a:cubicBezTo>
                      <a:pt x="73928" y="95250"/>
                      <a:pt x="95250" y="73928"/>
                      <a:pt x="95250" y="47625"/>
                    </a:cubicBezTo>
                    <a:cubicBezTo>
                      <a:pt x="95250" y="21322"/>
                      <a:pt x="73928" y="0"/>
                      <a:pt x="47625" y="0"/>
                    </a:cubicBezTo>
                    <a:cubicBezTo>
                      <a:pt x="21322" y="0"/>
                      <a:pt x="0" y="21322"/>
                      <a:pt x="0" y="47625"/>
                    </a:cubicBezTo>
                  </a:path>
                </a:pathLst>
              </a:custGeom>
              <a:noFill/>
              <a:ln w="19050">
                <a:solidFill>
                  <a:srgbClr val="1E4D40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645319" y="3226594"/>
                <a:ext cx="142875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71438">
                    <a:moveTo>
                      <a:pt x="0" y="71438"/>
                    </a:moveTo>
                    <a:lnTo>
                      <a:pt x="0" y="47625"/>
                    </a:lnTo>
                    <a:cubicBezTo>
                      <a:pt x="0" y="21322"/>
                      <a:pt x="21322" y="0"/>
                      <a:pt x="47625" y="0"/>
                    </a:cubicBezTo>
                    <a:lnTo>
                      <a:pt x="95250" y="0"/>
                    </a:lnTo>
                    <a:cubicBezTo>
                      <a:pt x="121553" y="0"/>
                      <a:pt x="142875" y="21322"/>
                      <a:pt x="142875" y="47625"/>
                    </a:cubicBezTo>
                    <a:lnTo>
                      <a:pt x="142875" y="71438"/>
                    </a:lnTo>
                  </a:path>
                </a:pathLst>
              </a:custGeom>
              <a:noFill/>
              <a:ln w="19050">
                <a:solidFill>
                  <a:srgbClr val="1E4D40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800100" y="3085267"/>
                <a:ext cx="35812" cy="92273"/>
              </a:xfrm>
              <a:custGeom>
                <a:avLst/>
                <a:gdLst/>
                <a:ahLst/>
                <a:cxnLst/>
                <a:rect l="l" t="t" r="r" b="b"/>
                <a:pathLst>
                  <a:path w="35812" h="92273">
                    <a:moveTo>
                      <a:pt x="0" y="0"/>
                    </a:moveTo>
                    <a:cubicBezTo>
                      <a:pt x="21073" y="5396"/>
                      <a:pt x="35812" y="24384"/>
                      <a:pt x="35812" y="46137"/>
                    </a:cubicBezTo>
                    <a:cubicBezTo>
                      <a:pt x="35812" y="67890"/>
                      <a:pt x="21073" y="86878"/>
                      <a:pt x="0" y="92273"/>
                    </a:cubicBezTo>
                  </a:path>
                </a:pathLst>
              </a:custGeom>
              <a:noFill/>
              <a:ln w="19050">
                <a:solidFill>
                  <a:srgbClr val="1E4D40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823913" y="3228380"/>
                <a:ext cx="35719" cy="69652"/>
              </a:xfrm>
              <a:custGeom>
                <a:avLst/>
                <a:gdLst/>
                <a:ahLst/>
                <a:cxnLst/>
                <a:rect l="l" t="t" r="r" b="b"/>
                <a:pathLst>
                  <a:path w="35719" h="69652">
                    <a:moveTo>
                      <a:pt x="35719" y="69652"/>
                    </a:moveTo>
                    <a:lnTo>
                      <a:pt x="35719" y="45839"/>
                    </a:lnTo>
                    <a:cubicBezTo>
                      <a:pt x="35594" y="24224"/>
                      <a:pt x="20929" y="5403"/>
                      <a:pt x="0" y="0"/>
                    </a:cubicBezTo>
                  </a:path>
                </a:pathLst>
              </a:custGeom>
              <a:noFill/>
              <a:ln w="19050">
                <a:solidFill>
                  <a:srgbClr val="1E4D40"/>
                </a:solidFill>
              </a:ln>
            </p:spPr>
          </p:sp>
        </p:grpSp>
        <p:sp>
          <p:nvSpPr>
            <p:cNvPr id="25" name="TextBox 25"/>
            <p:cNvSpPr txBox="1"/>
            <p:nvPr/>
          </p:nvSpPr>
          <p:spPr>
            <a:xfrm>
              <a:off x="1039368" y="3098482"/>
              <a:ext cx="71645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使用者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02742" y="3588068"/>
              <a:ext cx="20309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社区工作人员与网格员——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02742" y="385476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每天处理居民反馈的人。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6697218" y="3098482"/>
            <a:ext cx="2014347" cy="1020319"/>
            <a:chOff x="6697218" y="3098482"/>
            <a:chExt cx="2014347" cy="1020319"/>
          </a:xfrm>
        </p:grpSpPr>
        <p:sp>
          <p:nvSpPr>
            <p:cNvPr id="29" name="TextBox 29"/>
            <p:cNvSpPr txBox="1"/>
            <p:nvPr/>
          </p:nvSpPr>
          <p:spPr>
            <a:xfrm>
              <a:off x="6697218" y="3098482"/>
              <a:ext cx="11829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潜在付费方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698742" y="3588068"/>
              <a:ext cx="16675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社区服务运营主体——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698742" y="385476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预算与采购路径需验证。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602742" y="4606123"/>
            <a:ext cx="1622088" cy="1036678"/>
            <a:chOff x="602742" y="4606123"/>
            <a:chExt cx="1622088" cy="1036678"/>
          </a:xfrm>
        </p:grpSpPr>
        <p:grpSp>
          <p:nvGrpSpPr>
            <p:cNvPr id="38" name="Group 38"/>
            <p:cNvGrpSpPr/>
            <p:nvPr/>
          </p:nvGrpSpPr>
          <p:grpSpPr>
            <a:xfrm>
              <a:off x="645319" y="4606123"/>
              <a:ext cx="214312" cy="215909"/>
              <a:chOff x="645319" y="4606123"/>
              <a:chExt cx="214312" cy="215909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716756" y="4702969"/>
                <a:ext cx="142875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71438">
                    <a:moveTo>
                      <a:pt x="0" y="35719"/>
                    </a:moveTo>
                    <a:cubicBezTo>
                      <a:pt x="0" y="55447"/>
                      <a:pt x="31980" y="71438"/>
                      <a:pt x="71438" y="71438"/>
                    </a:cubicBezTo>
                    <a:cubicBezTo>
                      <a:pt x="110895" y="71438"/>
                      <a:pt x="142875" y="55447"/>
                      <a:pt x="142875" y="35719"/>
                    </a:cubicBezTo>
                    <a:cubicBezTo>
                      <a:pt x="142875" y="15990"/>
                      <a:pt x="110895" y="0"/>
                      <a:pt x="71438" y="0"/>
                    </a:cubicBezTo>
                    <a:cubicBezTo>
                      <a:pt x="31980" y="0"/>
                      <a:pt x="0" y="15990"/>
                      <a:pt x="0" y="35719"/>
                    </a:cubicBezTo>
                  </a:path>
                </a:pathLst>
              </a:custGeom>
              <a:noFill/>
              <a:ln w="19050">
                <a:solidFill>
                  <a:srgbClr val="1E4D40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716756" y="4738688"/>
                <a:ext cx="142875" cy="83344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83344">
                    <a:moveTo>
                      <a:pt x="0" y="0"/>
                    </a:moveTo>
                    <a:lnTo>
                      <a:pt x="0" y="47625"/>
                    </a:lnTo>
                    <a:cubicBezTo>
                      <a:pt x="0" y="67342"/>
                      <a:pt x="31980" y="83344"/>
                      <a:pt x="71438" y="83344"/>
                    </a:cubicBezTo>
                    <a:cubicBezTo>
                      <a:pt x="110895" y="83344"/>
                      <a:pt x="142875" y="67342"/>
                      <a:pt x="142875" y="47625"/>
                    </a:cubicBezTo>
                    <a:lnTo>
                      <a:pt x="142875" y="0"/>
                    </a:lnTo>
                  </a:path>
                </a:pathLst>
              </a:custGeom>
              <a:noFill/>
              <a:ln w="19050">
                <a:solidFill>
                  <a:srgbClr val="1E4D40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645319" y="4606123"/>
                <a:ext cx="142875" cy="74628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74628">
                    <a:moveTo>
                      <a:pt x="0" y="37314"/>
                    </a:moveTo>
                    <a:cubicBezTo>
                      <a:pt x="0" y="50078"/>
                      <a:pt x="13621" y="61865"/>
                      <a:pt x="35719" y="68247"/>
                    </a:cubicBezTo>
                    <a:cubicBezTo>
                      <a:pt x="57817" y="74628"/>
                      <a:pt x="85058" y="74628"/>
                      <a:pt x="107156" y="68247"/>
                    </a:cubicBezTo>
                    <a:cubicBezTo>
                      <a:pt x="129254" y="61865"/>
                      <a:pt x="142875" y="50078"/>
                      <a:pt x="142875" y="37314"/>
                    </a:cubicBezTo>
                    <a:cubicBezTo>
                      <a:pt x="142875" y="24551"/>
                      <a:pt x="129254" y="12764"/>
                      <a:pt x="107156" y="6382"/>
                    </a:cubicBezTo>
                    <a:cubicBezTo>
                      <a:pt x="85058" y="0"/>
                      <a:pt x="57817" y="0"/>
                      <a:pt x="35719" y="6382"/>
                    </a:cubicBezTo>
                    <a:cubicBezTo>
                      <a:pt x="13621" y="12764"/>
                      <a:pt x="0" y="24551"/>
                      <a:pt x="0" y="37314"/>
                    </a:cubicBezTo>
                  </a:path>
                </a:pathLst>
              </a:custGeom>
              <a:noFill/>
              <a:ln w="19050">
                <a:solidFill>
                  <a:srgbClr val="1E4D40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645319" y="4643438"/>
                <a:ext cx="23812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23812" h="142875">
                    <a:moveTo>
                      <a:pt x="0" y="0"/>
                    </a:moveTo>
                    <a:lnTo>
                      <a:pt x="0" y="119062"/>
                    </a:lnTo>
                    <a:cubicBezTo>
                      <a:pt x="0" y="129635"/>
                      <a:pt x="9192" y="136327"/>
                      <a:pt x="23812" y="142875"/>
                    </a:cubicBezTo>
                  </a:path>
                </a:pathLst>
              </a:custGeom>
              <a:noFill/>
              <a:ln w="19050">
                <a:solidFill>
                  <a:srgbClr val="1E4D40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645319" y="4702969"/>
                <a:ext cx="23812" cy="23812"/>
              </a:xfrm>
              <a:custGeom>
                <a:avLst/>
                <a:gdLst/>
                <a:ahLst/>
                <a:cxnLst/>
                <a:rect l="l" t="t" r="r" b="b"/>
                <a:pathLst>
                  <a:path w="23812" h="23812">
                    <a:moveTo>
                      <a:pt x="0" y="0"/>
                    </a:moveTo>
                    <a:cubicBezTo>
                      <a:pt x="0" y="10573"/>
                      <a:pt x="9192" y="17264"/>
                      <a:pt x="23812" y="23812"/>
                    </a:cubicBezTo>
                  </a:path>
                </a:pathLst>
              </a:custGeom>
              <a:noFill/>
              <a:ln w="19050">
                <a:solidFill>
                  <a:srgbClr val="1E4D40"/>
                </a:solidFill>
              </a:ln>
            </p:spPr>
          </p:sp>
        </p:grpSp>
        <p:sp>
          <p:nvSpPr>
            <p:cNvPr id="39" name="TextBox 39"/>
            <p:cNvSpPr txBox="1"/>
            <p:nvPr/>
          </p:nvSpPr>
          <p:spPr>
            <a:xfrm>
              <a:off x="1039368" y="462248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候选收入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02742" y="5112068"/>
              <a:ext cx="162208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部署与配置服务费 +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02742" y="537876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持续运维服务费。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6698742" y="4602492"/>
            <a:ext cx="1831086" cy="1040309"/>
            <a:chOff x="6698742" y="4602492"/>
            <a:chExt cx="1831086" cy="1040309"/>
          </a:xfrm>
        </p:grpSpPr>
        <p:grpSp>
          <p:nvGrpSpPr>
            <p:cNvPr id="45" name="Group 45"/>
            <p:cNvGrpSpPr/>
            <p:nvPr/>
          </p:nvGrpSpPr>
          <p:grpSpPr>
            <a:xfrm>
              <a:off x="6736092" y="4602492"/>
              <a:ext cx="224766" cy="224766"/>
              <a:chOff x="6736092" y="4602492"/>
              <a:chExt cx="224766" cy="224766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6736092" y="4602492"/>
                <a:ext cx="224766" cy="224766"/>
              </a:xfrm>
              <a:custGeom>
                <a:avLst/>
                <a:gdLst/>
                <a:ahLst/>
                <a:cxnLst/>
                <a:rect l="l" t="t" r="r" b="b"/>
                <a:pathLst>
                  <a:path w="224766" h="224766">
                    <a:moveTo>
                      <a:pt x="92440" y="20907"/>
                    </a:moveTo>
                    <a:cubicBezTo>
                      <a:pt x="97512" y="0"/>
                      <a:pt x="127254" y="0"/>
                      <a:pt x="132326" y="20907"/>
                    </a:cubicBezTo>
                    <a:cubicBezTo>
                      <a:pt x="133870" y="27278"/>
                      <a:pt x="138363" y="32528"/>
                      <a:pt x="144419" y="35037"/>
                    </a:cubicBezTo>
                    <a:cubicBezTo>
                      <a:pt x="150474" y="37546"/>
                      <a:pt x="157364" y="37012"/>
                      <a:pt x="162961" y="33599"/>
                    </a:cubicBezTo>
                    <a:cubicBezTo>
                      <a:pt x="181332" y="22408"/>
                      <a:pt x="202371" y="43434"/>
                      <a:pt x="191179" y="61817"/>
                    </a:cubicBezTo>
                    <a:cubicBezTo>
                      <a:pt x="187771" y="67411"/>
                      <a:pt x="187238" y="74296"/>
                      <a:pt x="189744" y="80348"/>
                    </a:cubicBezTo>
                    <a:cubicBezTo>
                      <a:pt x="192250" y="86400"/>
                      <a:pt x="197494" y="90892"/>
                      <a:pt x="203859" y="92440"/>
                    </a:cubicBezTo>
                    <a:cubicBezTo>
                      <a:pt x="224766" y="97512"/>
                      <a:pt x="224766" y="127254"/>
                      <a:pt x="203859" y="132326"/>
                    </a:cubicBezTo>
                    <a:cubicBezTo>
                      <a:pt x="197488" y="133870"/>
                      <a:pt x="192238" y="138363"/>
                      <a:pt x="189729" y="144419"/>
                    </a:cubicBezTo>
                    <a:cubicBezTo>
                      <a:pt x="187220" y="150474"/>
                      <a:pt x="187754" y="157364"/>
                      <a:pt x="191167" y="162961"/>
                    </a:cubicBezTo>
                    <a:cubicBezTo>
                      <a:pt x="202359" y="181332"/>
                      <a:pt x="181332" y="202371"/>
                      <a:pt x="162949" y="191179"/>
                    </a:cubicBezTo>
                    <a:cubicBezTo>
                      <a:pt x="157355" y="187771"/>
                      <a:pt x="150470" y="187238"/>
                      <a:pt x="144418" y="189744"/>
                    </a:cubicBezTo>
                    <a:cubicBezTo>
                      <a:pt x="138366" y="192250"/>
                      <a:pt x="133874" y="197494"/>
                      <a:pt x="132326" y="203859"/>
                    </a:cubicBezTo>
                    <a:cubicBezTo>
                      <a:pt x="127254" y="224766"/>
                      <a:pt x="97512" y="224766"/>
                      <a:pt x="92440" y="203859"/>
                    </a:cubicBezTo>
                    <a:cubicBezTo>
                      <a:pt x="90897" y="197488"/>
                      <a:pt x="86403" y="192238"/>
                      <a:pt x="80348" y="189729"/>
                    </a:cubicBezTo>
                    <a:cubicBezTo>
                      <a:pt x="74292" y="187220"/>
                      <a:pt x="67402" y="187754"/>
                      <a:pt x="61805" y="191167"/>
                    </a:cubicBezTo>
                    <a:cubicBezTo>
                      <a:pt x="43434" y="202359"/>
                      <a:pt x="22396" y="181332"/>
                      <a:pt x="33588" y="162949"/>
                    </a:cubicBezTo>
                    <a:cubicBezTo>
                      <a:pt x="36995" y="157355"/>
                      <a:pt x="37528" y="150470"/>
                      <a:pt x="35022" y="144418"/>
                    </a:cubicBezTo>
                    <a:cubicBezTo>
                      <a:pt x="32516" y="138366"/>
                      <a:pt x="27272" y="133874"/>
                      <a:pt x="20907" y="132326"/>
                    </a:cubicBezTo>
                    <a:cubicBezTo>
                      <a:pt x="0" y="127254"/>
                      <a:pt x="0" y="97512"/>
                      <a:pt x="20907" y="92440"/>
                    </a:cubicBezTo>
                    <a:cubicBezTo>
                      <a:pt x="27278" y="90897"/>
                      <a:pt x="32528" y="86403"/>
                      <a:pt x="35037" y="80348"/>
                    </a:cubicBezTo>
                    <a:cubicBezTo>
                      <a:pt x="37546" y="74292"/>
                      <a:pt x="37012" y="67402"/>
                      <a:pt x="33599" y="61805"/>
                    </a:cubicBezTo>
                    <a:cubicBezTo>
                      <a:pt x="22408" y="43434"/>
                      <a:pt x="43434" y="22396"/>
                      <a:pt x="61817" y="33588"/>
                    </a:cubicBezTo>
                    <a:cubicBezTo>
                      <a:pt x="73724" y="40827"/>
                      <a:pt x="89154" y="34421"/>
                      <a:pt x="92440" y="20907"/>
                    </a:cubicBezTo>
                  </a:path>
                </a:pathLst>
              </a:custGeom>
              <a:noFill/>
              <a:ln w="19050">
                <a:solidFill>
                  <a:srgbClr val="1E4D40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6812756" y="4679156"/>
                <a:ext cx="71438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71438">
                    <a:moveTo>
                      <a:pt x="0" y="35719"/>
                    </a:moveTo>
                    <a:cubicBezTo>
                      <a:pt x="0" y="55446"/>
                      <a:pt x="15992" y="71438"/>
                      <a:pt x="35719" y="71438"/>
                    </a:cubicBezTo>
                    <a:cubicBezTo>
                      <a:pt x="55446" y="71438"/>
                      <a:pt x="71438" y="55446"/>
                      <a:pt x="71438" y="35719"/>
                    </a:cubicBezTo>
                    <a:cubicBezTo>
                      <a:pt x="71438" y="15992"/>
                      <a:pt x="55446" y="0"/>
                      <a:pt x="35719" y="0"/>
                    </a:cubicBezTo>
                    <a:cubicBezTo>
                      <a:pt x="15992" y="0"/>
                      <a:pt x="0" y="15992"/>
                      <a:pt x="0" y="35719"/>
                    </a:cubicBezTo>
                  </a:path>
                </a:pathLst>
              </a:custGeom>
              <a:noFill/>
              <a:ln w="19050">
                <a:solidFill>
                  <a:srgbClr val="1E4D40"/>
                </a:solidFill>
              </a:ln>
            </p:spPr>
          </p:sp>
        </p:grpSp>
        <p:sp>
          <p:nvSpPr>
            <p:cNvPr id="46" name="TextBox 46"/>
            <p:cNvSpPr txBox="1"/>
            <p:nvPr/>
          </p:nvSpPr>
          <p:spPr>
            <a:xfrm>
              <a:off x="7135368" y="462248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主要成本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698742" y="511206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模型调用、部署、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698742" y="537876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安全合规与用户支持。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603504" y="5981700"/>
            <a:ext cx="10978896" cy="448056"/>
            <a:chOff x="603504" y="5981700"/>
            <a:chExt cx="10978896" cy="448056"/>
          </a:xfrm>
        </p:grpSpPr>
        <p:sp>
          <p:nvSpPr>
            <p:cNvPr id="50" name="Line 50"/>
            <p:cNvSpPr/>
            <p:nvPr/>
          </p:nvSpPr>
          <p:spPr>
            <a:xfrm>
              <a:off x="609600" y="59817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8DED6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03504" y="6195060"/>
              <a:ext cx="74593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A968F"/>
                  </a:solidFill>
                  <a:latin typeface="Arial"/>
                  <a:ea typeface="Microsoft YaHei"/>
                  <a:cs typeface="Arial"/>
                </a:rPr>
                <a:t>商业化目前为待验证方案：先在真实流程中证明价值，再谈服务收费——当前无已验证价格、合同或收入。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603504" y="6537960"/>
            <a:ext cx="10984992" cy="234696"/>
            <a:chOff x="603504" y="6537960"/>
            <a:chExt cx="10984992" cy="234696"/>
          </a:xfrm>
        </p:grpSpPr>
        <p:sp>
          <p:nvSpPr>
            <p:cNvPr id="53" name="TextBox 53"/>
            <p:cNvSpPr txBox="1"/>
            <p:nvPr/>
          </p:nvSpPr>
          <p:spPr>
            <a:xfrm>
              <a:off x="603504" y="6537960"/>
              <a:ext cx="15224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A968F"/>
                  </a:solidFill>
                  <a:latin typeface="Arial"/>
                  <a:ea typeface="Microsoft YaHei"/>
                  <a:cs typeface="Arial"/>
                </a:rPr>
                <a:t>OneCase · 初赛路演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10351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8A968F"/>
                  </a:solidFill>
                  <a:latin typeface="Arial"/>
                  <a:ea typeface="Arial"/>
                  <a:cs typeface="Arial"/>
                </a:rPr>
                <a:t>10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93598" y="594360"/>
            <a:ext cx="10988802" cy="805625"/>
            <a:chOff x="593598" y="594360"/>
            <a:chExt cx="10988802" cy="805625"/>
          </a:xfrm>
        </p:grpSpPr>
        <p:sp>
          <p:nvSpPr>
            <p:cNvPr id="3" name="TextBox 3"/>
            <p:cNvSpPr txBox="1"/>
            <p:nvPr/>
          </p:nvSpPr>
          <p:spPr>
            <a:xfrm>
              <a:off x="603504" y="594360"/>
              <a:ext cx="175807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300" dirty="0">
                  <a:solidFill>
                    <a:srgbClr val="D97B29"/>
                  </a:solidFill>
                  <a:latin typeface="Arial"/>
                  <a:ea typeface="Microsoft YaHei"/>
                  <a:cs typeface="Arial"/>
                </a:rPr>
                <a:t>验证 · 下一步实验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3598" y="783908"/>
              <a:ext cx="5207051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1E4D40"/>
                  </a:solidFill>
                  <a:latin typeface="Georgia"/>
                  <a:ea typeface="SimSun"/>
                  <a:cs typeface="Georgia"/>
                </a:rPr>
                <a:t>是否省时，是否增加误判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609600" y="13525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8DED6"/>
              </a:solidFill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609600" y="1638300"/>
            <a:ext cx="10972800" cy="857250"/>
            <a:chOff x="609600" y="1638300"/>
            <a:chExt cx="10972800" cy="857250"/>
          </a:xfrm>
        </p:grpSpPr>
        <p:sp>
          <p:nvSpPr>
            <p:cNvPr id="7" name="Rectangle 7"/>
            <p:cNvSpPr/>
            <p:nvPr/>
          </p:nvSpPr>
          <p:spPr>
            <a:xfrm>
              <a:off x="609600" y="1638300"/>
              <a:ext cx="10972800" cy="857250"/>
            </a:xfrm>
            <a:prstGeom prst="rect">
              <a:avLst/>
            </a:prstGeom>
            <a:solidFill>
              <a:srgbClr val="F0F2ED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08304" y="1889760"/>
              <a:ext cx="7512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150" dirty="0">
                  <a:solidFill>
                    <a:srgbClr val="1E4D40"/>
                  </a:solidFill>
                  <a:latin typeface="Arial"/>
                  <a:ea typeface="Microsoft YaHei"/>
                  <a:cs typeface="Arial"/>
                </a:rPr>
                <a:t>对照实验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06780" y="2162175"/>
              <a:ext cx="699789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同一批经授权、脱敏的反馈——人工整理 vs OneCase 辅助整理，逐条对照测量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00456" y="2952750"/>
            <a:ext cx="3361944" cy="2486406"/>
            <a:chOff x="600456" y="2952750"/>
            <a:chExt cx="3361944" cy="2486406"/>
          </a:xfrm>
        </p:grpSpPr>
        <p:sp>
          <p:nvSpPr>
            <p:cNvPr id="11" name="Line 11"/>
            <p:cNvSpPr/>
            <p:nvPr/>
          </p:nvSpPr>
          <p:spPr>
            <a:xfrm>
              <a:off x="609600" y="2952750"/>
              <a:ext cx="3352800" cy="9525"/>
            </a:xfrm>
            <a:custGeom>
              <a:avLst/>
              <a:gdLst/>
              <a:ahLst/>
              <a:cxnLst/>
              <a:rect l="l" t="t" r="r" b="b"/>
              <a:pathLst>
                <a:path w="3352800" h="9525">
                  <a:moveTo>
                    <a:pt x="0" y="0"/>
                  </a:moveTo>
                  <a:lnTo>
                    <a:pt x="3352800" y="0"/>
                  </a:lnTo>
                </a:path>
              </a:pathLst>
            </a:custGeom>
            <a:noFill/>
            <a:ln w="28575">
              <a:solidFill>
                <a:srgbClr val="1E4D40"/>
              </a:solidFill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647700" y="3238500"/>
              <a:ext cx="228599" cy="228599"/>
              <a:chOff x="647700" y="3238500"/>
              <a:chExt cx="228599" cy="228599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749300" y="3340100"/>
                <a:ext cx="254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25400">
                    <a:moveTo>
                      <a:pt x="0" y="12700"/>
                    </a:moveTo>
                    <a:cubicBezTo>
                      <a:pt x="0" y="19714"/>
                      <a:pt x="5686" y="25400"/>
                      <a:pt x="12700" y="25400"/>
                    </a:cubicBezTo>
                    <a:cubicBezTo>
                      <a:pt x="19714" y="25400"/>
                      <a:pt x="25400" y="19714"/>
                      <a:pt x="25400" y="12700"/>
                    </a:cubicBezTo>
                    <a:cubicBezTo>
                      <a:pt x="25400" y="5686"/>
                      <a:pt x="19714" y="0"/>
                      <a:pt x="12700" y="0"/>
                    </a:cubicBezTo>
                    <a:cubicBezTo>
                      <a:pt x="5686" y="0"/>
                      <a:pt x="0" y="5686"/>
                      <a:pt x="0" y="12700"/>
                    </a:cubicBezTo>
                  </a:path>
                </a:pathLst>
              </a:custGeom>
              <a:noFill/>
              <a:ln w="19050">
                <a:solidFill>
                  <a:srgbClr val="1E4D40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698500" y="3289300"/>
                <a:ext cx="127000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127000" h="127000">
                    <a:moveTo>
                      <a:pt x="0" y="63500"/>
                    </a:moveTo>
                    <a:cubicBezTo>
                      <a:pt x="0" y="98570"/>
                      <a:pt x="28430" y="127000"/>
                      <a:pt x="63500" y="127000"/>
                    </a:cubicBezTo>
                    <a:cubicBezTo>
                      <a:pt x="98570" y="127000"/>
                      <a:pt x="127000" y="98570"/>
                      <a:pt x="127000" y="63500"/>
                    </a:cubicBezTo>
                    <a:cubicBezTo>
                      <a:pt x="127000" y="28430"/>
                      <a:pt x="98570" y="0"/>
                      <a:pt x="63500" y="0"/>
                    </a:cubicBezTo>
                    <a:cubicBezTo>
                      <a:pt x="28430" y="0"/>
                      <a:pt x="0" y="28430"/>
                      <a:pt x="0" y="63500"/>
                    </a:cubicBezTo>
                  </a:path>
                </a:pathLst>
              </a:custGeom>
              <a:noFill/>
              <a:ln w="19050">
                <a:solidFill>
                  <a:srgbClr val="1E4D40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647700" y="3238500"/>
                <a:ext cx="228599" cy="228599"/>
              </a:xfrm>
              <a:custGeom>
                <a:avLst/>
                <a:gdLst/>
                <a:ahLst/>
                <a:cxnLst/>
                <a:rect l="l" t="t" r="r" b="b"/>
                <a:pathLst>
                  <a:path w="228599" h="228599">
                    <a:moveTo>
                      <a:pt x="0" y="114300"/>
                    </a:moveTo>
                    <a:cubicBezTo>
                      <a:pt x="0" y="177426"/>
                      <a:pt x="51174" y="228599"/>
                      <a:pt x="114300" y="228599"/>
                    </a:cubicBezTo>
                    <a:cubicBezTo>
                      <a:pt x="177426" y="228599"/>
                      <a:pt x="228599" y="177426"/>
                      <a:pt x="228599" y="114300"/>
                    </a:cubicBezTo>
                    <a:cubicBezTo>
                      <a:pt x="228599" y="51174"/>
                      <a:pt x="177426" y="0"/>
                      <a:pt x="114300" y="0"/>
                    </a:cubicBezTo>
                    <a:cubicBezTo>
                      <a:pt x="51174" y="0"/>
                      <a:pt x="0" y="51174"/>
                      <a:pt x="0" y="114300"/>
                    </a:cubicBezTo>
                  </a:path>
                </a:pathLst>
              </a:custGeom>
              <a:noFill/>
              <a:ln w="19050">
                <a:solidFill>
                  <a:srgbClr val="1E4D40"/>
                </a:solidFill>
              </a:ln>
            </p:spPr>
          </p:sp>
        </p:grpSp>
        <p:sp>
          <p:nvSpPr>
            <p:cNvPr id="16" name="TextBox 16"/>
            <p:cNvSpPr txBox="1"/>
            <p:nvPr/>
          </p:nvSpPr>
          <p:spPr>
            <a:xfrm>
              <a:off x="600456" y="3844290"/>
              <a:ext cx="183747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主要指标 · 速度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02742" y="438816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从原始反馈到确认事项的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02742" y="467391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中位耗时。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03504" y="520446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A968F"/>
                  </a:solidFill>
                  <a:latin typeface="Arial"/>
                  <a:ea typeface="Microsoft YaHei"/>
                  <a:cs typeface="Arial"/>
                </a:rPr>
                <a:t>是否真的省时间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4258056" y="2952750"/>
            <a:ext cx="3361944" cy="2486406"/>
            <a:chOff x="4258056" y="2952750"/>
            <a:chExt cx="3361944" cy="2486406"/>
          </a:xfrm>
        </p:grpSpPr>
        <p:sp>
          <p:nvSpPr>
            <p:cNvPr id="21" name="Line 21"/>
            <p:cNvSpPr/>
            <p:nvPr/>
          </p:nvSpPr>
          <p:spPr>
            <a:xfrm>
              <a:off x="4267200" y="2952750"/>
              <a:ext cx="3352800" cy="9525"/>
            </a:xfrm>
            <a:custGeom>
              <a:avLst/>
              <a:gdLst/>
              <a:ahLst/>
              <a:cxnLst/>
              <a:rect l="l" t="t" r="r" b="b"/>
              <a:pathLst>
                <a:path w="3352800" h="9525">
                  <a:moveTo>
                    <a:pt x="0" y="0"/>
                  </a:moveTo>
                  <a:lnTo>
                    <a:pt x="3352800" y="0"/>
                  </a:lnTo>
                </a:path>
              </a:pathLst>
            </a:custGeom>
            <a:noFill/>
            <a:ln w="28575">
              <a:solidFill>
                <a:srgbClr val="1E4D40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4305300" y="3251200"/>
              <a:ext cx="228600" cy="212724"/>
              <a:chOff x="4305300" y="3251200"/>
              <a:chExt cx="228600" cy="212724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4305300" y="3352800"/>
                <a:ext cx="762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101600">
                    <a:moveTo>
                      <a:pt x="0" y="12700"/>
                    </a:moveTo>
                    <a:cubicBezTo>
                      <a:pt x="0" y="5686"/>
                      <a:pt x="5686" y="0"/>
                      <a:pt x="12700" y="0"/>
                    </a:cubicBezTo>
                    <a:lnTo>
                      <a:pt x="63500" y="0"/>
                    </a:lnTo>
                    <a:cubicBezTo>
                      <a:pt x="70514" y="0"/>
                      <a:pt x="76200" y="5686"/>
                      <a:pt x="76200" y="12700"/>
                    </a:cubicBezTo>
                    <a:lnTo>
                      <a:pt x="76200" y="88900"/>
                    </a:lnTo>
                    <a:cubicBezTo>
                      <a:pt x="76200" y="95914"/>
                      <a:pt x="70514" y="101600"/>
                      <a:pt x="63500" y="101600"/>
                    </a:cubicBezTo>
                    <a:lnTo>
                      <a:pt x="12700" y="101600"/>
                    </a:lnTo>
                    <a:cubicBezTo>
                      <a:pt x="5686" y="101600"/>
                      <a:pt x="0" y="95914"/>
                      <a:pt x="0" y="88900"/>
                    </a:cubicBezTo>
                    <a:lnTo>
                      <a:pt x="0" y="12700"/>
                    </a:lnTo>
                  </a:path>
                </a:pathLst>
              </a:custGeom>
              <a:noFill/>
              <a:ln w="19050">
                <a:solidFill>
                  <a:srgbClr val="1E4D40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4457700" y="3302000"/>
                <a:ext cx="762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152400">
                    <a:moveTo>
                      <a:pt x="0" y="12700"/>
                    </a:moveTo>
                    <a:cubicBezTo>
                      <a:pt x="0" y="5686"/>
                      <a:pt x="5686" y="0"/>
                      <a:pt x="12700" y="0"/>
                    </a:cubicBezTo>
                    <a:lnTo>
                      <a:pt x="63500" y="0"/>
                    </a:lnTo>
                    <a:cubicBezTo>
                      <a:pt x="70514" y="0"/>
                      <a:pt x="76200" y="5686"/>
                      <a:pt x="76200" y="12700"/>
                    </a:cubicBezTo>
                    <a:lnTo>
                      <a:pt x="76200" y="139700"/>
                    </a:lnTo>
                    <a:cubicBezTo>
                      <a:pt x="76200" y="146714"/>
                      <a:pt x="70514" y="152400"/>
                      <a:pt x="63500" y="152400"/>
                    </a:cubicBezTo>
                    <a:lnTo>
                      <a:pt x="12700" y="152400"/>
                    </a:lnTo>
                    <a:cubicBezTo>
                      <a:pt x="5686" y="152400"/>
                      <a:pt x="0" y="146714"/>
                      <a:pt x="0" y="139700"/>
                    </a:cubicBezTo>
                    <a:lnTo>
                      <a:pt x="0" y="12700"/>
                    </a:lnTo>
                  </a:path>
                </a:pathLst>
              </a:custGeom>
              <a:noFill/>
              <a:ln w="19050">
                <a:solidFill>
                  <a:srgbClr val="1E4D40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4381500" y="3251200"/>
                <a:ext cx="76200" cy="203199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203199">
                    <a:moveTo>
                      <a:pt x="0" y="12700"/>
                    </a:moveTo>
                    <a:cubicBezTo>
                      <a:pt x="0" y="5686"/>
                      <a:pt x="5686" y="0"/>
                      <a:pt x="12700" y="0"/>
                    </a:cubicBezTo>
                    <a:lnTo>
                      <a:pt x="63500" y="0"/>
                    </a:lnTo>
                    <a:cubicBezTo>
                      <a:pt x="70514" y="0"/>
                      <a:pt x="76200" y="5686"/>
                      <a:pt x="76200" y="12700"/>
                    </a:cubicBezTo>
                    <a:lnTo>
                      <a:pt x="76200" y="190500"/>
                    </a:lnTo>
                    <a:cubicBezTo>
                      <a:pt x="76200" y="197514"/>
                      <a:pt x="70514" y="203199"/>
                      <a:pt x="63500" y="203199"/>
                    </a:cubicBezTo>
                    <a:lnTo>
                      <a:pt x="12700" y="203199"/>
                    </a:lnTo>
                    <a:cubicBezTo>
                      <a:pt x="5686" y="203199"/>
                      <a:pt x="0" y="197514"/>
                      <a:pt x="0" y="190500"/>
                    </a:cubicBezTo>
                    <a:lnTo>
                      <a:pt x="0" y="12700"/>
                    </a:lnTo>
                  </a:path>
                </a:pathLst>
              </a:custGeom>
              <a:noFill/>
              <a:ln w="19050">
                <a:solidFill>
                  <a:srgbClr val="1E4D40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4318000" y="3454399"/>
                <a:ext cx="1778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77800" h="9525">
                    <a:moveTo>
                      <a:pt x="0" y="0"/>
                    </a:moveTo>
                    <a:lnTo>
                      <a:pt x="177800" y="0"/>
                    </a:lnTo>
                  </a:path>
                </a:pathLst>
              </a:custGeom>
              <a:noFill/>
              <a:ln w="19050">
                <a:solidFill>
                  <a:srgbClr val="1E4D40"/>
                </a:solidFill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4258056" y="3844290"/>
              <a:ext cx="183747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质量指标 · 准确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260342" y="438816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漏项、关键字段错误、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260342" y="467391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误关联、人工修改次数。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261104" y="520446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A968F"/>
                  </a:solidFill>
                  <a:latin typeface="Arial"/>
                  <a:ea typeface="Microsoft YaHei"/>
                  <a:cs typeface="Arial"/>
                </a:rPr>
                <a:t>是否引入新的错误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7915656" y="2952750"/>
            <a:ext cx="3361944" cy="2486406"/>
            <a:chOff x="7915656" y="2952750"/>
            <a:chExt cx="3361944" cy="2486406"/>
          </a:xfrm>
        </p:grpSpPr>
        <p:sp>
          <p:nvSpPr>
            <p:cNvPr id="32" name="Line 32"/>
            <p:cNvSpPr/>
            <p:nvPr/>
          </p:nvSpPr>
          <p:spPr>
            <a:xfrm>
              <a:off x="7924800" y="2952750"/>
              <a:ext cx="3352800" cy="9525"/>
            </a:xfrm>
            <a:custGeom>
              <a:avLst/>
              <a:gdLst/>
              <a:ahLst/>
              <a:cxnLst/>
              <a:rect l="l" t="t" r="r" b="b"/>
              <a:pathLst>
                <a:path w="3352800" h="9525">
                  <a:moveTo>
                    <a:pt x="0" y="0"/>
                  </a:moveTo>
                  <a:lnTo>
                    <a:pt x="3352800" y="0"/>
                  </a:lnTo>
                </a:path>
              </a:pathLst>
            </a:custGeom>
            <a:noFill/>
            <a:ln w="28575">
              <a:solidFill>
                <a:srgbClr val="1E4D40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7988300" y="3238500"/>
              <a:ext cx="177800" cy="228599"/>
            </a:xfrm>
            <a:custGeom>
              <a:avLst/>
              <a:gdLst/>
              <a:ahLst/>
              <a:cxnLst/>
              <a:rect l="l" t="t" r="r" b="b"/>
              <a:pathLst>
                <a:path w="177800" h="228599">
                  <a:moveTo>
                    <a:pt x="101600" y="0"/>
                  </a:moveTo>
                  <a:lnTo>
                    <a:pt x="101600" y="88900"/>
                  </a:lnTo>
                  <a:lnTo>
                    <a:pt x="177800" y="88900"/>
                  </a:lnTo>
                  <a:lnTo>
                    <a:pt x="76200" y="228599"/>
                  </a:lnTo>
                  <a:lnTo>
                    <a:pt x="76200" y="139700"/>
                  </a:lnTo>
                  <a:lnTo>
                    <a:pt x="0" y="139700"/>
                  </a:lnTo>
                  <a:lnTo>
                    <a:pt x="101600" y="0"/>
                  </a:lnTo>
                </a:path>
              </a:pathLst>
            </a:custGeom>
            <a:noFill/>
            <a:ln w="19050">
              <a:solidFill>
                <a:srgbClr val="1E4D40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915656" y="3844290"/>
              <a:ext cx="183747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运行指标 · 成本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917942" y="438816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模型失败率、人工兜底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917942" y="467391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频次、单次使用成本。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918704" y="520446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A968F"/>
                  </a:solidFill>
                  <a:latin typeface="Arial"/>
                  <a:ea typeface="Microsoft YaHei"/>
                  <a:cs typeface="Arial"/>
                </a:rPr>
                <a:t>跑起来贵不贵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4114800" y="2952750"/>
            <a:ext cx="3667125" cy="2571750"/>
            <a:chOff x="4114800" y="2952750"/>
            <a:chExt cx="3667125" cy="2571750"/>
          </a:xfrm>
        </p:grpSpPr>
        <p:sp>
          <p:nvSpPr>
            <p:cNvPr id="39" name="Line 39"/>
            <p:cNvSpPr/>
            <p:nvPr/>
          </p:nvSpPr>
          <p:spPr>
            <a:xfrm>
              <a:off x="4114800" y="2952750"/>
              <a:ext cx="9525" cy="2571750"/>
            </a:xfrm>
            <a:custGeom>
              <a:avLst/>
              <a:gdLst/>
              <a:ahLst/>
              <a:cxnLst/>
              <a:rect l="l" t="t" r="r" b="b"/>
              <a:pathLst>
                <a:path w="9525" h="2571750">
                  <a:moveTo>
                    <a:pt x="0" y="0"/>
                  </a:moveTo>
                  <a:lnTo>
                    <a:pt x="0" y="2571750"/>
                  </a:lnTo>
                </a:path>
              </a:pathLst>
            </a:custGeom>
            <a:noFill/>
            <a:ln w="9525">
              <a:solidFill>
                <a:srgbClr val="D8DED6"/>
              </a:solidFill>
            </a:ln>
          </p:spPr>
        </p:sp>
        <p:sp>
          <p:nvSpPr>
            <p:cNvPr id="40" name="Line 40"/>
            <p:cNvSpPr/>
            <p:nvPr/>
          </p:nvSpPr>
          <p:spPr>
            <a:xfrm>
              <a:off x="7772400" y="2952750"/>
              <a:ext cx="9525" cy="2571750"/>
            </a:xfrm>
            <a:custGeom>
              <a:avLst/>
              <a:gdLst/>
              <a:ahLst/>
              <a:cxnLst/>
              <a:rect l="l" t="t" r="r" b="b"/>
              <a:pathLst>
                <a:path w="9525" h="2571750">
                  <a:moveTo>
                    <a:pt x="0" y="0"/>
                  </a:moveTo>
                  <a:lnTo>
                    <a:pt x="0" y="2571750"/>
                  </a:lnTo>
                </a:path>
              </a:pathLst>
            </a:custGeom>
            <a:noFill/>
            <a:ln w="9525">
              <a:solidFill>
                <a:srgbClr val="D8DED6"/>
              </a:solidFill>
            </a:ln>
          </p:spPr>
        </p:sp>
      </p:grpSp>
      <p:grpSp>
        <p:nvGrpSpPr>
          <p:cNvPr id="44" name="Group 44"/>
          <p:cNvGrpSpPr/>
          <p:nvPr/>
        </p:nvGrpSpPr>
        <p:grpSpPr>
          <a:xfrm>
            <a:off x="600456" y="5810250"/>
            <a:ext cx="10981944" cy="595884"/>
            <a:chOff x="600456" y="5810250"/>
            <a:chExt cx="10981944" cy="595884"/>
          </a:xfrm>
        </p:grpSpPr>
        <p:sp>
          <p:nvSpPr>
            <p:cNvPr id="42" name="Line 42"/>
            <p:cNvSpPr/>
            <p:nvPr/>
          </p:nvSpPr>
          <p:spPr>
            <a:xfrm>
              <a:off x="609600" y="5810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8DED6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00456" y="6054090"/>
              <a:ext cx="7187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E4D40"/>
                  </a:solidFill>
                  <a:latin typeface="Georgia"/>
                  <a:ea typeface="SimSun"/>
                  <a:cs typeface="Georgia"/>
                </a:rPr>
                <a:t>验收阈值与场景方共同确定；是否继续投入，由实测数据决定。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603504" y="6537960"/>
            <a:ext cx="10984992" cy="234696"/>
            <a:chOff x="603504" y="6537960"/>
            <a:chExt cx="10984992" cy="234696"/>
          </a:xfrm>
        </p:grpSpPr>
        <p:sp>
          <p:nvSpPr>
            <p:cNvPr id="45" name="TextBox 45"/>
            <p:cNvSpPr txBox="1"/>
            <p:nvPr/>
          </p:nvSpPr>
          <p:spPr>
            <a:xfrm>
              <a:off x="603504" y="6537960"/>
              <a:ext cx="15224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A968F"/>
                  </a:solidFill>
                  <a:latin typeface="Arial"/>
                  <a:ea typeface="Microsoft YaHei"/>
                  <a:cs typeface="Arial"/>
                </a:rPr>
                <a:t>OneCase · 初赛路演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10351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8A968F"/>
                  </a:solidFill>
                  <a:latin typeface="Arial"/>
                  <a:ea typeface="Arial"/>
                  <a:cs typeface="Arial"/>
                </a:rPr>
                <a:t>11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93598" y="594360"/>
            <a:ext cx="10988802" cy="805625"/>
            <a:chOff x="593598" y="594360"/>
            <a:chExt cx="10988802" cy="805625"/>
          </a:xfrm>
        </p:grpSpPr>
        <p:sp>
          <p:nvSpPr>
            <p:cNvPr id="3" name="TextBox 3"/>
            <p:cNvSpPr txBox="1"/>
            <p:nvPr/>
          </p:nvSpPr>
          <p:spPr>
            <a:xfrm>
              <a:off x="603504" y="594360"/>
              <a:ext cx="19680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300" dirty="0">
                  <a:solidFill>
                    <a:srgbClr val="D97B29"/>
                  </a:solidFill>
                  <a:latin typeface="Arial"/>
                  <a:ea typeface="Microsoft YaHei"/>
                  <a:cs typeface="Arial"/>
                </a:rPr>
                <a:t>边界 · 能力如实申报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3598" y="783908"/>
              <a:ext cx="332521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1E4D40"/>
                  </a:solidFill>
                  <a:latin typeface="Georgia"/>
                  <a:ea typeface="SimSun"/>
                  <a:cs typeface="Georgia"/>
                </a:rPr>
                <a:t>只讲已经实现的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609600" y="13525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8DED6"/>
              </a:solidFill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609600" y="1714500"/>
            <a:ext cx="3352800" cy="2518601"/>
            <a:chOff x="609600" y="1714500"/>
            <a:chExt cx="3352800" cy="2518601"/>
          </a:xfrm>
        </p:grpSpPr>
        <p:sp>
          <p:nvSpPr>
            <p:cNvPr id="7" name="Line 7"/>
            <p:cNvSpPr/>
            <p:nvPr/>
          </p:nvSpPr>
          <p:spPr>
            <a:xfrm>
              <a:off x="609600" y="1714500"/>
              <a:ext cx="3352800" cy="9525"/>
            </a:xfrm>
            <a:custGeom>
              <a:avLst/>
              <a:gdLst/>
              <a:ahLst/>
              <a:cxnLst/>
              <a:rect l="l" t="t" r="r" b="b"/>
              <a:pathLst>
                <a:path w="3352800" h="9525">
                  <a:moveTo>
                    <a:pt x="0" y="0"/>
                  </a:moveTo>
                  <a:lnTo>
                    <a:pt x="3352800" y="0"/>
                  </a:lnTo>
                </a:path>
              </a:pathLst>
            </a:custGeom>
            <a:noFill/>
            <a:ln w="28575">
              <a:solidFill>
                <a:srgbClr val="2E7D5B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628650" y="1885950"/>
              <a:ext cx="171450" cy="133350"/>
            </a:xfrm>
            <a:custGeom>
              <a:avLst/>
              <a:gdLst/>
              <a:ahLst/>
              <a:cxnLst/>
              <a:rect l="l" t="t" r="r" b="b"/>
              <a:pathLst>
                <a:path w="171450" h="133350">
                  <a:moveTo>
                    <a:pt x="0" y="76200"/>
                  </a:moveTo>
                  <a:lnTo>
                    <a:pt x="57150" y="133350"/>
                  </a:lnTo>
                  <a:lnTo>
                    <a:pt x="171450" y="0"/>
                  </a:lnTo>
                </a:path>
              </a:pathLst>
            </a:custGeom>
            <a:noFill/>
            <a:ln w="28575" cap="rnd">
              <a:solidFill>
                <a:srgbClr val="2E7D5B"/>
              </a:solidFill>
              <a:round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43356" y="1863090"/>
              <a:ext cx="12904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当前已实现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647700" y="2647950"/>
              <a:ext cx="76200" cy="76200"/>
            </a:xfrm>
            <a:prstGeom prst="ellipse">
              <a:avLst/>
            </a:prstGeom>
            <a:solidFill>
              <a:srgbClr val="2E7D5B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7542" y="259746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文字输入与长度校验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647700" y="3105150"/>
              <a:ext cx="76200" cy="76200"/>
            </a:xfrm>
            <a:prstGeom prst="ellipse">
              <a:avLst/>
            </a:prstGeom>
            <a:solidFill>
              <a:srgbClr val="2E7D5B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7542" y="305466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草稿检查与编辑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647700" y="3562350"/>
              <a:ext cx="76200" cy="76200"/>
            </a:xfrm>
            <a:prstGeom prst="ellipse">
              <a:avLst/>
            </a:prstGeom>
            <a:solidFill>
              <a:srgbClr val="2E7D5B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7542" y="351186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相似候选与人工确认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647700" y="4019550"/>
              <a:ext cx="76200" cy="76200"/>
            </a:xfrm>
            <a:prstGeom prst="ellipse">
              <a:avLst/>
            </a:prstGeom>
            <a:solidFill>
              <a:srgbClr val="2E7D5B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7542" y="396906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事项跟踪与统计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4257675" y="1714500"/>
            <a:ext cx="3362325" cy="2518601"/>
            <a:chOff x="4257675" y="1714500"/>
            <a:chExt cx="3362325" cy="2518601"/>
          </a:xfrm>
        </p:grpSpPr>
        <p:sp>
          <p:nvSpPr>
            <p:cNvPr id="19" name="Line 19"/>
            <p:cNvSpPr/>
            <p:nvPr/>
          </p:nvSpPr>
          <p:spPr>
            <a:xfrm>
              <a:off x="4267200" y="1714500"/>
              <a:ext cx="3352800" cy="9525"/>
            </a:xfrm>
            <a:custGeom>
              <a:avLst/>
              <a:gdLst/>
              <a:ahLst/>
              <a:cxnLst/>
              <a:rect l="l" t="t" r="r" b="b"/>
              <a:pathLst>
                <a:path w="3352800" h="9525">
                  <a:moveTo>
                    <a:pt x="0" y="0"/>
                  </a:moveTo>
                  <a:lnTo>
                    <a:pt x="3352800" y="0"/>
                  </a:lnTo>
                </a:path>
              </a:pathLst>
            </a:custGeom>
            <a:noFill/>
            <a:ln w="28575">
              <a:solidFill>
                <a:srgbClr val="B5442E"/>
              </a:solidFill>
            </a:ln>
          </p:spPr>
        </p:sp>
        <p:sp>
          <p:nvSpPr>
            <p:cNvPr id="20" name="Ellipse 20"/>
            <p:cNvSpPr/>
            <p:nvPr/>
          </p:nvSpPr>
          <p:spPr>
            <a:xfrm>
              <a:off x="4257675" y="1876425"/>
              <a:ext cx="171450" cy="171450"/>
            </a:xfrm>
            <a:prstGeom prst="ellipse">
              <a:avLst/>
            </a:prstGeom>
            <a:noFill/>
            <a:ln w="23812">
              <a:solidFill>
                <a:srgbClr val="B5442E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600956" y="1863090"/>
              <a:ext cx="12904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试点前补齐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4305300" y="2647950"/>
              <a:ext cx="76200" cy="76200"/>
            </a:xfrm>
            <a:prstGeom prst="ellipse">
              <a:avLst/>
            </a:prstGeom>
            <a:noFill/>
            <a:ln w="14288">
              <a:solidFill>
                <a:srgbClr val="B5442E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565142" y="259746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身份认证与权限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4305300" y="3105150"/>
              <a:ext cx="76200" cy="76200"/>
            </a:xfrm>
            <a:prstGeom prst="ellipse">
              <a:avLst/>
            </a:prstGeom>
            <a:noFill/>
            <a:ln w="14288">
              <a:solidFill>
                <a:srgbClr val="B5442E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565142" y="305466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组织数据隔离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4305300" y="3562350"/>
              <a:ext cx="76200" cy="76200"/>
            </a:xfrm>
            <a:prstGeom prst="ellipse">
              <a:avLst/>
            </a:prstGeom>
            <a:noFill/>
            <a:ln w="14288">
              <a:solidFill>
                <a:srgbClr val="B5442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565142" y="351186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输入与访问限制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4305300" y="4019550"/>
              <a:ext cx="76200" cy="76200"/>
            </a:xfrm>
            <a:prstGeom prst="ellipse">
              <a:avLst/>
            </a:prstGeom>
            <a:noFill/>
            <a:ln w="14288">
              <a:solidFill>
                <a:srgbClr val="B5442E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4565142" y="39690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草稿找回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7905750" y="1714500"/>
            <a:ext cx="3371850" cy="2061401"/>
            <a:chOff x="7905750" y="1714500"/>
            <a:chExt cx="3371850" cy="2061401"/>
          </a:xfrm>
        </p:grpSpPr>
        <p:sp>
          <p:nvSpPr>
            <p:cNvPr id="31" name="Line 31"/>
            <p:cNvSpPr/>
            <p:nvPr/>
          </p:nvSpPr>
          <p:spPr>
            <a:xfrm>
              <a:off x="7924800" y="1714500"/>
              <a:ext cx="3352800" cy="9525"/>
            </a:xfrm>
            <a:custGeom>
              <a:avLst/>
              <a:gdLst/>
              <a:ahLst/>
              <a:cxnLst/>
              <a:rect l="l" t="t" r="r" b="b"/>
              <a:pathLst>
                <a:path w="3352800" h="9525">
                  <a:moveTo>
                    <a:pt x="0" y="0"/>
                  </a:moveTo>
                  <a:lnTo>
                    <a:pt x="3352800" y="0"/>
                  </a:lnTo>
                </a:path>
              </a:pathLst>
            </a:custGeom>
            <a:noFill/>
            <a:ln w="28575">
              <a:solidFill>
                <a:srgbClr val="5E8C7B"/>
              </a:solidFill>
            </a:ln>
          </p:spPr>
        </p:sp>
        <p:sp>
          <p:nvSpPr>
            <p:cNvPr id="32" name="Polygon 32"/>
            <p:cNvSpPr/>
            <p:nvPr/>
          </p:nvSpPr>
          <p:spPr>
            <a:xfrm>
              <a:off x="7905750" y="1876425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95250" y="0"/>
                  </a:moveTo>
                  <a:lnTo>
                    <a:pt x="190500" y="95250"/>
                  </a:lnTo>
                  <a:lnTo>
                    <a:pt x="95250" y="190500"/>
                  </a:lnTo>
                  <a:lnTo>
                    <a:pt x="0" y="95250"/>
                  </a:lnTo>
                  <a:close/>
                </a:path>
              </a:pathLst>
            </a:custGeom>
            <a:noFill/>
            <a:ln w="23812">
              <a:solidFill>
                <a:srgbClr val="5E8C7B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258556" y="186309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后续评估</a:t>
              </a:r>
            </a:p>
          </p:txBody>
        </p:sp>
        <p:sp>
          <p:nvSpPr>
            <p:cNvPr id="34" name="Polygon 34"/>
            <p:cNvSpPr/>
            <p:nvPr/>
          </p:nvSpPr>
          <p:spPr>
            <a:xfrm>
              <a:off x="7943850" y="2647950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57150" y="0"/>
                  </a:moveTo>
                  <a:lnTo>
                    <a:pt x="114300" y="57150"/>
                  </a:lnTo>
                  <a:lnTo>
                    <a:pt x="57150" y="114300"/>
                  </a:lnTo>
                  <a:lnTo>
                    <a:pt x="0" y="57150"/>
                  </a:lnTo>
                  <a:close/>
                </a:path>
              </a:pathLst>
            </a:custGeom>
            <a:noFill/>
            <a:ln w="14288">
              <a:solidFill>
                <a:srgbClr val="5E8C7B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222742" y="2597468"/>
              <a:ext cx="13131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图片 / 语音输入</a:t>
              </a:r>
            </a:p>
          </p:txBody>
        </p:sp>
        <p:sp>
          <p:nvSpPr>
            <p:cNvPr id="36" name="Polygon 36"/>
            <p:cNvSpPr/>
            <p:nvPr/>
          </p:nvSpPr>
          <p:spPr>
            <a:xfrm>
              <a:off x="7943850" y="3105150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57150" y="0"/>
                  </a:moveTo>
                  <a:lnTo>
                    <a:pt x="114300" y="57150"/>
                  </a:lnTo>
                  <a:lnTo>
                    <a:pt x="57150" y="114300"/>
                  </a:lnTo>
                  <a:lnTo>
                    <a:pt x="0" y="57150"/>
                  </a:lnTo>
                  <a:close/>
                </a:path>
              </a:pathLst>
            </a:custGeom>
            <a:noFill/>
            <a:ln w="14288">
              <a:solidFill>
                <a:srgbClr val="5E8C7B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8222742" y="305466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微信等渠道接入</a:t>
              </a:r>
            </a:p>
          </p:txBody>
        </p:sp>
        <p:sp>
          <p:nvSpPr>
            <p:cNvPr id="38" name="Polygon 38"/>
            <p:cNvSpPr/>
            <p:nvPr/>
          </p:nvSpPr>
          <p:spPr>
            <a:xfrm>
              <a:off x="7943850" y="3562350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57150" y="0"/>
                  </a:moveTo>
                  <a:lnTo>
                    <a:pt x="114300" y="57150"/>
                  </a:lnTo>
                  <a:lnTo>
                    <a:pt x="57150" y="114300"/>
                  </a:lnTo>
                  <a:lnTo>
                    <a:pt x="0" y="57150"/>
                  </a:lnTo>
                  <a:close/>
                </a:path>
              </a:pathLst>
            </a:custGeom>
            <a:noFill/>
            <a:ln w="14288">
              <a:solidFill>
                <a:srgbClr val="5E8C7B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222742" y="3511868"/>
              <a:ext cx="20071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语义检索（Embedding）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4114800" y="1714500"/>
            <a:ext cx="3667125" cy="2762250"/>
            <a:chOff x="4114800" y="1714500"/>
            <a:chExt cx="3667125" cy="2762250"/>
          </a:xfrm>
        </p:grpSpPr>
        <p:sp>
          <p:nvSpPr>
            <p:cNvPr id="41" name="Line 41"/>
            <p:cNvSpPr/>
            <p:nvPr/>
          </p:nvSpPr>
          <p:spPr>
            <a:xfrm>
              <a:off x="4114800" y="1714500"/>
              <a:ext cx="9525" cy="2762250"/>
            </a:xfrm>
            <a:custGeom>
              <a:avLst/>
              <a:gdLst/>
              <a:ahLst/>
              <a:cxnLst/>
              <a:rect l="l" t="t" r="r" b="b"/>
              <a:pathLst>
                <a:path w="9525" h="2762250">
                  <a:moveTo>
                    <a:pt x="0" y="0"/>
                  </a:moveTo>
                  <a:lnTo>
                    <a:pt x="0" y="2762250"/>
                  </a:lnTo>
                </a:path>
              </a:pathLst>
            </a:custGeom>
            <a:noFill/>
            <a:ln w="9525">
              <a:solidFill>
                <a:srgbClr val="D8DED6"/>
              </a:solidFill>
            </a:ln>
          </p:spPr>
        </p:sp>
        <p:sp>
          <p:nvSpPr>
            <p:cNvPr id="42" name="Line 42"/>
            <p:cNvSpPr/>
            <p:nvPr/>
          </p:nvSpPr>
          <p:spPr>
            <a:xfrm>
              <a:off x="7772400" y="1714500"/>
              <a:ext cx="9525" cy="2762250"/>
            </a:xfrm>
            <a:custGeom>
              <a:avLst/>
              <a:gdLst/>
              <a:ahLst/>
              <a:cxnLst/>
              <a:rect l="l" t="t" r="r" b="b"/>
              <a:pathLst>
                <a:path w="9525" h="2762250">
                  <a:moveTo>
                    <a:pt x="0" y="0"/>
                  </a:moveTo>
                  <a:lnTo>
                    <a:pt x="0" y="2762250"/>
                  </a:lnTo>
                </a:path>
              </a:pathLst>
            </a:custGeom>
            <a:noFill/>
            <a:ln w="9525">
              <a:solidFill>
                <a:srgbClr val="D8DED6"/>
              </a:solidFill>
            </a:ln>
          </p:spPr>
        </p:sp>
      </p:grpSp>
      <p:grpSp>
        <p:nvGrpSpPr>
          <p:cNvPr id="47" name="Group 47"/>
          <p:cNvGrpSpPr/>
          <p:nvPr/>
        </p:nvGrpSpPr>
        <p:grpSpPr>
          <a:xfrm>
            <a:off x="599694" y="4953000"/>
            <a:ext cx="10982706" cy="1032701"/>
            <a:chOff x="599694" y="4953000"/>
            <a:chExt cx="10982706" cy="1032701"/>
          </a:xfrm>
        </p:grpSpPr>
        <p:sp>
          <p:nvSpPr>
            <p:cNvPr id="44" name="Line 44"/>
            <p:cNvSpPr/>
            <p:nvPr/>
          </p:nvSpPr>
          <p:spPr>
            <a:xfrm>
              <a:off x="609600" y="49530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8DED6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599694" y="5218748"/>
              <a:ext cx="418033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1E4D40"/>
                  </a:solidFill>
                  <a:latin typeface="Georgia"/>
                  <a:ea typeface="SimSun"/>
                  <a:cs typeface="Georgia"/>
                </a:rPr>
                <a:t>如实划界，比夸大更能建立信任。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02742" y="5721668"/>
              <a:ext cx="910056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页面中的图片、语音入口样式尚未打通，不计入已实现能力；当前版本面向受控演示，不声称满足真实部署条件。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603504" y="6480810"/>
            <a:ext cx="10984992" cy="234696"/>
            <a:chOff x="603504" y="6480810"/>
            <a:chExt cx="10984992" cy="234696"/>
          </a:xfrm>
        </p:grpSpPr>
        <p:sp>
          <p:nvSpPr>
            <p:cNvPr id="48" name="TextBox 48"/>
            <p:cNvSpPr txBox="1"/>
            <p:nvPr/>
          </p:nvSpPr>
          <p:spPr>
            <a:xfrm>
              <a:off x="603504" y="6480810"/>
              <a:ext cx="15224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A968F"/>
                  </a:solidFill>
                  <a:latin typeface="Arial"/>
                  <a:ea typeface="Microsoft YaHei"/>
                  <a:cs typeface="Arial"/>
                </a:rPr>
                <a:t>OneCase · 初赛路演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1035132" y="648081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8A968F"/>
                  </a:solidFill>
                  <a:latin typeface="Arial"/>
                  <a:ea typeface="Arial"/>
                  <a:cs typeface="Arial"/>
                </a:rPr>
                <a:t>12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93598" y="594360"/>
            <a:ext cx="10988802" cy="805625"/>
            <a:chOff x="593598" y="594360"/>
            <a:chExt cx="10988802" cy="805625"/>
          </a:xfrm>
        </p:grpSpPr>
        <p:sp>
          <p:nvSpPr>
            <p:cNvPr id="3" name="TextBox 3"/>
            <p:cNvSpPr txBox="1"/>
            <p:nvPr/>
          </p:nvSpPr>
          <p:spPr>
            <a:xfrm>
              <a:off x="603504" y="594360"/>
              <a:ext cx="15480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300" dirty="0">
                  <a:solidFill>
                    <a:srgbClr val="D97B29"/>
                  </a:solidFill>
                  <a:latin typeface="Arial"/>
                  <a:ea typeface="Microsoft YaHei"/>
                  <a:cs typeface="Arial"/>
                </a:rPr>
                <a:t>合规 · 红线对照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3598" y="783908"/>
              <a:ext cx="6618427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1E4D40"/>
                  </a:solidFill>
                  <a:latin typeface="Georgia"/>
                  <a:ea typeface="SimSun"/>
                  <a:cs typeface="Georgia"/>
                </a:rPr>
                <a:t>开源基础与本人贡献，分别说明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609600" y="13525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8DED6"/>
              </a:solidFill>
            </a:ln>
          </p:spPr>
        </p:sp>
      </p:grpSp>
      <p:grpSp>
        <p:nvGrpSpPr>
          <p:cNvPr id="27" name="Group 27"/>
          <p:cNvGrpSpPr/>
          <p:nvPr/>
        </p:nvGrpSpPr>
        <p:grpSpPr>
          <a:xfrm>
            <a:off x="603504" y="1674019"/>
            <a:ext cx="6284976" cy="3117437"/>
            <a:chOff x="603504" y="1674019"/>
            <a:chExt cx="6284976" cy="3117437"/>
          </a:xfrm>
        </p:grpSpPr>
        <p:grpSp>
          <p:nvGrpSpPr>
            <p:cNvPr id="12" name="Group 12"/>
            <p:cNvGrpSpPr/>
            <p:nvPr/>
          </p:nvGrpSpPr>
          <p:grpSpPr>
            <a:xfrm>
              <a:off x="645319" y="1674019"/>
              <a:ext cx="214313" cy="211931"/>
              <a:chOff x="645319" y="1674019"/>
              <a:chExt cx="214313" cy="21193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692944" y="1876425"/>
                <a:ext cx="11906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9062" h="9525">
                    <a:moveTo>
                      <a:pt x="0" y="0"/>
                    </a:moveTo>
                    <a:lnTo>
                      <a:pt x="119062" y="0"/>
                    </a:lnTo>
                  </a:path>
                </a:pathLst>
              </a:custGeom>
              <a:noFill/>
              <a:ln w="19050">
                <a:solidFill>
                  <a:srgbClr val="1E4D40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681038" y="1697831"/>
                <a:ext cx="142875" cy="11906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1906">
                    <a:moveTo>
                      <a:pt x="0" y="11906"/>
                    </a:moveTo>
                    <a:lnTo>
                      <a:pt x="71438" y="0"/>
                    </a:lnTo>
                    <a:lnTo>
                      <a:pt x="142875" y="11906"/>
                    </a:lnTo>
                  </a:path>
                </a:pathLst>
              </a:custGeom>
              <a:noFill/>
              <a:ln w="19050">
                <a:solidFill>
                  <a:srgbClr val="1E4D40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752475" y="1674019"/>
                <a:ext cx="9525" cy="202406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02406">
                    <a:moveTo>
                      <a:pt x="0" y="0"/>
                    </a:moveTo>
                    <a:lnTo>
                      <a:pt x="0" y="202406"/>
                    </a:lnTo>
                  </a:path>
                </a:pathLst>
              </a:custGeom>
              <a:noFill/>
              <a:ln w="19050">
                <a:solidFill>
                  <a:srgbClr val="1E4D40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645319" y="1709738"/>
                <a:ext cx="71438" cy="107156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107156">
                    <a:moveTo>
                      <a:pt x="71438" y="71438"/>
                    </a:moveTo>
                    <a:lnTo>
                      <a:pt x="35719" y="0"/>
                    </a:lnTo>
                    <a:lnTo>
                      <a:pt x="0" y="71438"/>
                    </a:lnTo>
                    <a:cubicBezTo>
                      <a:pt x="0" y="91164"/>
                      <a:pt x="15992" y="107156"/>
                      <a:pt x="35719" y="107156"/>
                    </a:cubicBezTo>
                    <a:cubicBezTo>
                      <a:pt x="55446" y="107156"/>
                      <a:pt x="71438" y="91164"/>
                      <a:pt x="71438" y="71438"/>
                    </a:cubicBezTo>
                  </a:path>
                </a:pathLst>
              </a:custGeom>
              <a:noFill/>
              <a:ln w="19050">
                <a:solidFill>
                  <a:srgbClr val="1E4D40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788194" y="1709738"/>
                <a:ext cx="71438" cy="107156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107156">
                    <a:moveTo>
                      <a:pt x="71438" y="71438"/>
                    </a:moveTo>
                    <a:lnTo>
                      <a:pt x="35719" y="0"/>
                    </a:lnTo>
                    <a:lnTo>
                      <a:pt x="0" y="71438"/>
                    </a:lnTo>
                    <a:cubicBezTo>
                      <a:pt x="0" y="91164"/>
                      <a:pt x="15992" y="107156"/>
                      <a:pt x="35719" y="107156"/>
                    </a:cubicBezTo>
                    <a:cubicBezTo>
                      <a:pt x="55446" y="107156"/>
                      <a:pt x="71438" y="91164"/>
                      <a:pt x="71438" y="71438"/>
                    </a:cubicBezTo>
                  </a:path>
                </a:pathLst>
              </a:custGeom>
              <a:noFill/>
              <a:ln w="19050">
                <a:solidFill>
                  <a:srgbClr val="1E4D40"/>
                </a:solidFill>
              </a:ln>
            </p:spPr>
          </p:sp>
        </p:grpSp>
        <p:sp>
          <p:nvSpPr>
            <p:cNvPr id="13" name="TextBox 13"/>
            <p:cNvSpPr txBox="1"/>
            <p:nvPr/>
          </p:nvSpPr>
          <p:spPr>
            <a:xfrm>
              <a:off x="1040130" y="1704975"/>
              <a:ext cx="170379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开源组件 License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609600" y="2095500"/>
              <a:ext cx="5905500" cy="457200"/>
            </a:xfrm>
            <a:prstGeom prst="rect">
              <a:avLst/>
            </a:prstGeom>
            <a:solidFill>
              <a:srgbClr val="F0F2ED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31342" y="2235518"/>
              <a:ext cx="3953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E4D40"/>
                  </a:solidFill>
                  <a:latin typeface="Arial"/>
                  <a:ea typeface="Microsoft YaHei"/>
                  <a:cs typeface="Arial"/>
                </a:rPr>
                <a:t>组件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184142" y="2235518"/>
              <a:ext cx="7062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E4D40"/>
                  </a:solidFill>
                  <a:latin typeface="Arial"/>
                  <a:ea typeface="Arial"/>
                  <a:cs typeface="Arial"/>
                </a:rPr>
                <a:t>License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31342" y="2749868"/>
              <a:ext cx="19083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22302B"/>
                  </a:solidFill>
                  <a:latin typeface="Consolas"/>
                  <a:ea typeface="Consolas"/>
                  <a:cs typeface="Consolas"/>
                </a:rPr>
                <a:t>Next.js / React / Zod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184142" y="2749868"/>
              <a:ext cx="3209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22302B"/>
                  </a:solidFill>
                  <a:latin typeface="Consolas"/>
                  <a:ea typeface="Consolas"/>
                  <a:cs typeface="Consolas"/>
                </a:rPr>
                <a:t>MIT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609600" y="3048000"/>
              <a:ext cx="5905500" cy="9525"/>
            </a:xfrm>
            <a:custGeom>
              <a:avLst/>
              <a:gdLst/>
              <a:ahLst/>
              <a:cxnLst/>
              <a:rect l="l" t="t" r="r" b="b"/>
              <a:pathLst>
                <a:path w="5905500" h="9525">
                  <a:moveTo>
                    <a:pt x="0" y="0"/>
                  </a:moveTo>
                  <a:lnTo>
                    <a:pt x="5905500" y="0"/>
                  </a:lnTo>
                </a:path>
              </a:pathLst>
            </a:custGeom>
            <a:noFill/>
            <a:ln w="9525">
              <a:solidFill>
                <a:srgbClr val="E4E8E1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31342" y="3359468"/>
              <a:ext cx="6099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22302B"/>
                  </a:solidFill>
                  <a:latin typeface="Consolas"/>
                  <a:ea typeface="Consolas"/>
                  <a:cs typeface="Consolas"/>
                </a:rPr>
                <a:t>Prisma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184142" y="3359468"/>
              <a:ext cx="102269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22302B"/>
                  </a:solidFill>
                  <a:latin typeface="Consolas"/>
                  <a:ea typeface="Consolas"/>
                  <a:cs typeface="Consolas"/>
                </a:rPr>
                <a:t>Apache-2.0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609600" y="3657600"/>
              <a:ext cx="5905500" cy="9525"/>
            </a:xfrm>
            <a:custGeom>
              <a:avLst/>
              <a:gdLst/>
              <a:ahLst/>
              <a:cxnLst/>
              <a:rect l="l" t="t" r="r" b="b"/>
              <a:pathLst>
                <a:path w="5905500" h="9525">
                  <a:moveTo>
                    <a:pt x="0" y="0"/>
                  </a:moveTo>
                  <a:lnTo>
                    <a:pt x="5905500" y="0"/>
                  </a:lnTo>
                </a:path>
              </a:pathLst>
            </a:custGeom>
            <a:noFill/>
            <a:ln w="9525">
              <a:solidFill>
                <a:srgbClr val="E4E8E1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31342" y="3969068"/>
              <a:ext cx="113372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22302B"/>
                  </a:solidFill>
                  <a:latin typeface="Consolas"/>
                  <a:ea typeface="Consolas"/>
                  <a:cs typeface="Consolas"/>
                </a:rPr>
                <a:t>Lucide React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184142" y="3969068"/>
              <a:ext cx="28255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22302B"/>
                  </a:solidFill>
                  <a:latin typeface="Consolas"/>
                  <a:ea typeface="Consolas"/>
                  <a:cs typeface="Consolas"/>
                </a:rPr>
                <a:t>ISC</a:t>
              </a:r>
            </a:p>
          </p:txBody>
        </p:sp>
        <p:sp>
          <p:nvSpPr>
            <p:cNvPr id="25" name="Line 25"/>
            <p:cNvSpPr/>
            <p:nvPr/>
          </p:nvSpPr>
          <p:spPr>
            <a:xfrm>
              <a:off x="609600" y="4267200"/>
              <a:ext cx="5905500" cy="9525"/>
            </a:xfrm>
            <a:custGeom>
              <a:avLst/>
              <a:gdLst/>
              <a:ahLst/>
              <a:cxnLst/>
              <a:rect l="l" t="t" r="r" b="b"/>
              <a:pathLst>
                <a:path w="5905500" h="9525">
                  <a:moveTo>
                    <a:pt x="0" y="0"/>
                  </a:moveTo>
                  <a:lnTo>
                    <a:pt x="5905500" y="0"/>
                  </a:lnTo>
                </a:path>
              </a:pathLst>
            </a:custGeom>
            <a:noFill/>
            <a:ln w="19050">
              <a:solidFill>
                <a:srgbClr val="1E4D40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03504" y="4556760"/>
              <a:ext cx="62849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A968F"/>
                  </a:solidFill>
                  <a:latin typeface="Arial"/>
                  <a:ea typeface="Microsoft YaHei"/>
                  <a:cs typeface="Arial"/>
                </a:rPr>
                <a:t>2026-08-31 全量扫描仓库 27 个直接依赖（含开发工具），无 GPL 等传染性协议。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7041642" y="1674019"/>
            <a:ext cx="4540758" cy="1478756"/>
            <a:chOff x="7041642" y="1674019"/>
            <a:chExt cx="4540758" cy="1478756"/>
          </a:xfrm>
        </p:grpSpPr>
        <p:grpSp>
          <p:nvGrpSpPr>
            <p:cNvPr id="30" name="Group 30"/>
            <p:cNvGrpSpPr/>
            <p:nvPr/>
          </p:nvGrpSpPr>
          <p:grpSpPr>
            <a:xfrm>
              <a:off x="7068151" y="1674019"/>
              <a:ext cx="232508" cy="214312"/>
              <a:chOff x="7068151" y="1674019"/>
              <a:chExt cx="232508" cy="214312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7068151" y="1674019"/>
                <a:ext cx="232508" cy="212479"/>
              </a:xfrm>
              <a:custGeom>
                <a:avLst/>
                <a:gdLst/>
                <a:ahLst/>
                <a:cxnLst/>
                <a:rect l="l" t="t" r="r" b="b"/>
                <a:pathLst>
                  <a:path w="232508" h="212479">
                    <a:moveTo>
                      <a:pt x="116795" y="212479"/>
                    </a:moveTo>
                    <a:cubicBezTo>
                      <a:pt x="42208" y="189358"/>
                      <a:pt x="0" y="110638"/>
                      <a:pt x="22021" y="35719"/>
                    </a:cubicBezTo>
                    <a:cubicBezTo>
                      <a:pt x="59115" y="37416"/>
                      <a:pt x="95413" y="24605"/>
                      <a:pt x="123224" y="0"/>
                    </a:cubicBezTo>
                    <a:cubicBezTo>
                      <a:pt x="151035" y="24605"/>
                      <a:pt x="187333" y="37416"/>
                      <a:pt x="224427" y="35719"/>
                    </a:cubicBezTo>
                    <a:cubicBezTo>
                      <a:pt x="232508" y="63212"/>
                      <a:pt x="232135" y="92499"/>
                      <a:pt x="223356" y="119777"/>
                    </a:cubicBezTo>
                  </a:path>
                </a:pathLst>
              </a:custGeom>
              <a:noFill/>
              <a:ln w="19050">
                <a:solidFill>
                  <a:srgbClr val="1E4D40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7227094" y="1840706"/>
                <a:ext cx="71438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47625">
                    <a:moveTo>
                      <a:pt x="0" y="23812"/>
                    </a:moveTo>
                    <a:lnTo>
                      <a:pt x="23812" y="47625"/>
                    </a:lnTo>
                    <a:lnTo>
                      <a:pt x="71438" y="0"/>
                    </a:lnTo>
                  </a:path>
                </a:pathLst>
              </a:custGeom>
              <a:noFill/>
              <a:ln w="19050">
                <a:solidFill>
                  <a:srgbClr val="1E4D40"/>
                </a:solidFill>
              </a:ln>
            </p:spPr>
          </p:sp>
        </p:grpSp>
        <p:sp>
          <p:nvSpPr>
            <p:cNvPr id="31" name="TextBox 31"/>
            <p:cNvSpPr txBox="1"/>
            <p:nvPr/>
          </p:nvSpPr>
          <p:spPr>
            <a:xfrm>
              <a:off x="7479030" y="170497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本人贡献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041642" y="2216468"/>
              <a:ext cx="38301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产品定义、业务规则设计、全部功能实现与测试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041642" y="2502218"/>
              <a:ext cx="40119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均由本人独立完成；项目未公开发表、未商业化。</a:t>
              </a:r>
            </a:p>
          </p:txBody>
        </p:sp>
        <p:sp>
          <p:nvSpPr>
            <p:cNvPr id="34" name="Line 34"/>
            <p:cNvSpPr/>
            <p:nvPr/>
          </p:nvSpPr>
          <p:spPr>
            <a:xfrm>
              <a:off x="7048500" y="3143250"/>
              <a:ext cx="4533900" cy="9525"/>
            </a:xfrm>
            <a:custGeom>
              <a:avLst/>
              <a:gdLst/>
              <a:ahLst/>
              <a:cxnLst/>
              <a:rect l="l" t="t" r="r" b="b"/>
              <a:pathLst>
                <a:path w="4533900" h="9525">
                  <a:moveTo>
                    <a:pt x="0" y="0"/>
                  </a:moveTo>
                  <a:lnTo>
                    <a:pt x="4533900" y="0"/>
                  </a:lnTo>
                </a:path>
              </a:pathLst>
            </a:custGeom>
            <a:noFill/>
            <a:ln w="9525">
              <a:solidFill>
                <a:srgbClr val="D8DED6"/>
              </a:solidFill>
            </a:ln>
          </p:spPr>
        </p:sp>
      </p:grpSp>
      <p:grpSp>
        <p:nvGrpSpPr>
          <p:cNvPr id="40" name="Group 40"/>
          <p:cNvGrpSpPr/>
          <p:nvPr/>
        </p:nvGrpSpPr>
        <p:grpSpPr>
          <a:xfrm>
            <a:off x="7040880" y="3457575"/>
            <a:ext cx="3649218" cy="1347026"/>
            <a:chOff x="7040880" y="3457575"/>
            <a:chExt cx="3649218" cy="1347026"/>
          </a:xfrm>
        </p:grpSpPr>
        <p:sp>
          <p:nvSpPr>
            <p:cNvPr id="36" name="TextBox 36"/>
            <p:cNvSpPr txBox="1"/>
            <p:nvPr/>
          </p:nvSpPr>
          <p:spPr>
            <a:xfrm>
              <a:off x="7040880" y="3457575"/>
              <a:ext cx="16170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2302B"/>
                  </a:solidFill>
                  <a:latin typeface="Arial"/>
                  <a:ea typeface="Microsoft YaHei"/>
                  <a:cs typeface="Arial"/>
                </a:rPr>
                <a:t>AI 辅助使用说明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041642" y="3969068"/>
              <a:ext cx="35565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开发中使用 AI 编程工具辅助编码与测试；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041642" y="4254818"/>
              <a:ext cx="36484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产品判断、方案取舍与最终验收由本人负责。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041642" y="4540568"/>
              <a:ext cx="36484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B64"/>
                  </a:solidFill>
                  <a:latin typeface="Arial"/>
                  <a:ea typeface="Microsoft YaHei"/>
                  <a:cs typeface="Arial"/>
                </a:rPr>
                <a:t>框架、模型与第三方代码不表述为本人原创。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598932" y="5143500"/>
            <a:ext cx="10983468" cy="755523"/>
            <a:chOff x="598932" y="5143500"/>
            <a:chExt cx="10983468" cy="755523"/>
          </a:xfrm>
        </p:grpSpPr>
        <p:sp>
          <p:nvSpPr>
            <p:cNvPr id="41" name="Line 41"/>
            <p:cNvSpPr/>
            <p:nvPr/>
          </p:nvSpPr>
          <p:spPr>
            <a:xfrm>
              <a:off x="609600" y="51435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8DED6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598932" y="5488305"/>
              <a:ext cx="901232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1E4D40"/>
                  </a:solidFill>
                  <a:latin typeface="Georgia"/>
                  <a:ea typeface="SimSun"/>
                  <a:cs typeface="Georgia"/>
                </a:rPr>
                <a:t>原创边界清晰——参赛材料中的每一条声明，都可回溯到代码与测试。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603504" y="6480810"/>
            <a:ext cx="10984992" cy="234696"/>
            <a:chOff x="603504" y="6480810"/>
            <a:chExt cx="10984992" cy="234696"/>
          </a:xfrm>
        </p:grpSpPr>
        <p:sp>
          <p:nvSpPr>
            <p:cNvPr id="44" name="TextBox 44"/>
            <p:cNvSpPr txBox="1"/>
            <p:nvPr/>
          </p:nvSpPr>
          <p:spPr>
            <a:xfrm>
              <a:off x="603504" y="6480810"/>
              <a:ext cx="15224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A968F"/>
                  </a:solidFill>
                  <a:latin typeface="Arial"/>
                  <a:ea typeface="Microsoft YaHei"/>
                  <a:cs typeface="Arial"/>
                </a:rPr>
                <a:t>OneCase · 初赛路演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1035132" y="648081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8A968F"/>
                  </a:solidFill>
                  <a:latin typeface="Arial"/>
                  <a:ea typeface="Arial"/>
                  <a:cs typeface="Arial"/>
                </a:rPr>
                <a:t>13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4D40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590550" y="1295400"/>
            <a:ext cx="10991850" cy="2748534"/>
            <a:chOff x="590550" y="1295400"/>
            <a:chExt cx="10991850" cy="2748534"/>
          </a:xfrm>
        </p:grpSpPr>
        <p:sp>
          <p:nvSpPr>
            <p:cNvPr id="3" name="TextBox 3"/>
            <p:cNvSpPr txBox="1"/>
            <p:nvPr/>
          </p:nvSpPr>
          <p:spPr>
            <a:xfrm>
              <a:off x="594360" y="1295400"/>
              <a:ext cx="195620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000" b="1" dirty="0">
                  <a:solidFill>
                    <a:srgbClr val="FAFAF7"/>
                  </a:solidFill>
                  <a:latin typeface="Georgia"/>
                  <a:ea typeface="Georgia"/>
                  <a:cs typeface="Georgia"/>
                </a:rPr>
                <a:t>OneCase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09600" y="19431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5E8C7B"/>
              </a:solidFill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590550" y="2689860"/>
              <a:ext cx="9292697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FAFAF7"/>
                  </a:solidFill>
                  <a:latin typeface="Georgia"/>
                  <a:ea typeface="SimSun"/>
                  <a:cs typeface="Georgia"/>
                </a:rPr>
                <a:t>AI 整理建议，</a:t>
              </a:r>
              <a:r>
                <a:rPr lang="zh-CN" sz="4200" b="1" dirty="0">
                  <a:solidFill>
                    <a:srgbClr val="D97B29"/>
                  </a:solidFill>
                  <a:latin typeface="Georgia"/>
                  <a:ea typeface="SimSun"/>
                  <a:cs typeface="Georgia"/>
                </a:rPr>
                <a:t>人确认事实。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00456" y="3691890"/>
              <a:ext cx="413766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0F2ED"/>
                  </a:solidFill>
                  <a:latin typeface="Arial"/>
                  <a:ea typeface="Microsoft YaHei"/>
                  <a:cs typeface="Arial"/>
                </a:rPr>
                <a:t>让每条反馈有去向，每个事项可追踪。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01980" y="4712018"/>
            <a:ext cx="3406140" cy="1070038"/>
            <a:chOff x="601980" y="4712018"/>
            <a:chExt cx="3406140" cy="1070038"/>
          </a:xfrm>
        </p:grpSpPr>
        <p:sp>
          <p:nvSpPr>
            <p:cNvPr id="8" name="TextBox 8"/>
            <p:cNvSpPr txBox="1"/>
            <p:nvPr/>
          </p:nvSpPr>
          <p:spPr>
            <a:xfrm>
              <a:off x="602742" y="4712018"/>
              <a:ext cx="8678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spc="225" dirty="0">
                  <a:solidFill>
                    <a:srgbClr val="F0F2ED"/>
                  </a:solidFill>
                  <a:latin typeface="Arial"/>
                  <a:ea typeface="Microsoft YaHei"/>
                  <a:cs typeface="Arial"/>
                </a:rPr>
                <a:t>期待共建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01980" y="5095875"/>
              <a:ext cx="290283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0F2ED"/>
                  </a:solidFill>
                  <a:latin typeface="Arial"/>
                  <a:ea typeface="Microsoft YaHei"/>
                  <a:cs typeface="Arial"/>
                </a:rPr>
                <a:t>真实场景 · 脱敏样本 · 流程评估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03504" y="5547360"/>
              <a:ext cx="340461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0F2ED">
                      <a:alphaMod val="75000"/>
                    </a:srgbClr>
                  </a:solidFill>
                  <a:latin typeface="Arial"/>
                  <a:ea typeface="Microsoft YaHei"/>
                  <a:cs typeface="Arial"/>
                </a:rPr>
                <a:t>欢迎就业务价值、人工确认机制与落地边界提问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603504" y="6172200"/>
            <a:ext cx="10984992" cy="467106"/>
            <a:chOff x="603504" y="6172200"/>
            <a:chExt cx="10984992" cy="467106"/>
          </a:xfrm>
        </p:grpSpPr>
        <p:sp>
          <p:nvSpPr>
            <p:cNvPr id="12" name="Line 12"/>
            <p:cNvSpPr/>
            <p:nvPr/>
          </p:nvSpPr>
          <p:spPr>
            <a:xfrm>
              <a:off x="609600" y="61722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5E8C7B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03504" y="6404610"/>
              <a:ext cx="217993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0F2ED"/>
                  </a:solidFill>
                  <a:latin typeface="Arial"/>
                  <a:ea typeface="Microsoft YaHei"/>
                  <a:cs typeface="Arial"/>
                </a:rPr>
                <a:t>乔瑞雪 · 不理不器 · AI+民生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390022" y="6404610"/>
              <a:ext cx="119847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F0F2ED">
                      <a:alphaMod val="75000"/>
                    </a:srgbClr>
                  </a:solidFill>
                  <a:latin typeface="Arial"/>
                  <a:ea typeface="Arial"/>
                  <a:cs typeface="Arial"/>
                </a:rPr>
                <a:t>Q &amp; A · 14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2026-08-31T09:39:01Z</dcterms:created>
  <dcterms:modified xsi:type="dcterms:W3CDTF">2026-08-31T09:39:01Z</dcterms:modified>
  <cp:category/>
  <cp:contentStatus/>
</cp:coreProperties>
</file>