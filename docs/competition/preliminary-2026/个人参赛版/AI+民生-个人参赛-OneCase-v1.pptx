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大家好，我以个人身份参加 AI+民生赛道，项目叫 OneCase。它帮社区工作人员整理居民的文字反馈：先生成草稿，由人检查，再新建事项或关联已有事项，之后继续跟进处理进度。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看这条合成的留言：灯坏了，垃圾也没人清。它是一条消息，但说了两件需要分别处理的事。如果另一位居民已经报过这盏灯，还要核对是不是同一个问题。OneCase 想帮忙做的，就是记入台账前的这段整理工作。不过，这类工作在真实社区有多频繁、花多少时间，我还需要去了解。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个项目由我一个人开发。我先设计反馈如何拆分、什么时候需要确认、状态怎么变更，再实现页面、模型接口和数据存储，最后补测试和文档。目前我还缺少社区一线经验，所以接下来想找工作人员一起核对流程，看看这些设计是不是用得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分析完，系统不会直接创建正式事项。工作人员要先看草稿，必要时修改，再选择新建、关联或拒绝。原始反馈、草稿和正式事项分开保存，后面也能回看来源。这样，录入什么内容、关联哪件事，都要经过人的确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边是把一条反馈里的几个问题拆开，分别处理。右边是几条反馈都在说同一件事，经人工确认后，把来源关联到已有事项。系统根据标题词汇、地点、类别和时间列出候选，也会提示地点差异。这些提示只帮助判断，不保证没有误判，系统也不会自动合并事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演示使用合成数据，开始前我会说明当前用的是真实模型还是 Mock；Mock 只用于检查操作流程。先贴入灯坏了和垃圾没清的留言，再检查两个草稿和相似事项。接着把照明问题关联到已有事项，为清运问题新建一条记录。最后打开详情，看看新增的来源、处理记录和首页统计。具体结果以现场输出为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草稿有错，可以先修改。新建事项使用修改后的字段；关联已有事项只增加反馈来源，不会直接改写原有内容。批量确认时，有草稿未处理就不提交这批记录，已经确认的反馈也不能重复提交。AI 失败后可以重试，符合条件时可以手动创建。这些规则有代码和测试，真实多人使用时仍需要进一步检查。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模型负责把文字整理成结构化草稿，程序检查字段格式、相似候选、人工确认和状态变更。页面通过 API 读写数据库，原始反馈和处理记录都会保存。项目已有 Qwen、OpenAI 接口和 Mock 测试模式，但接口写好不代表模型效果已经测好。当前查重用的是词汇、地点、类别和时间，没有使用 Embedding。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这里列的是 2026 年 8 月 31 日已有的本地测试记录：116 项单元测试、87 项业务不变量检查、22 项端到端流程测试，以及 6 个子包的类型检查都通过了。源码、脚本和用例可以供检查。这些结果说明程序通过了哪些检查，不能说明真实社区用了以后能省多少时间。目前还没有可展示的客户或合作数据。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费方式还没有验证。我想先找一个愿意试用的社区服务方，把使用流程和需要补的条件理清楚，再做小范围比较。如果确实有用，再讨论部署配置和持续运维怎么收费。谁有预算、谁负责采购，以及模型调用和维护成本，都需要逐项确认；目前没有可验证的价格、合同或收入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我想先测两件事：整理一条反馈要多久，整理完有没有漏项或关联错事项。做法是用同一批经授权、脱敏的反馈，比较人工整理和 OneCase 辅助整理，记录中位耗时、字段错误和修改次数，同时算模型失败率、转人工次数和单次成本。什么结果算值得继续做，要和社区工作人员事先商量。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在能演示的是文字输入、草稿编辑、人工确认和事项跟踪。图片和语音虽然有入口样式，但还不能用；微信接入和语义检索也没做。真实试点前还要补认证权限、组织数据隔离、访问频率限制和待确认草稿列表。目前已有带 ID 的页面恢复，不等于草稿管理已经完整。现阶段只用合成数据演示。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这里列了主要开源组件及许可证。项目由我独立开发，产品设计、业务规则、代码和测试都由我负责，写代码和测试时使用 AI 编程工具辅助。需求怎么定、方案怎么选、结果是否可用，仍由我检查。框架、模型和第三方代码会注明来源，不算作自己的原创成果。直接依赖的核对不覆盖所有传递依赖和素材。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OneCase 目前做到了把文字反馈整理成草稿，由人确认后持续跟进。下一步，我希望和社区工作人员一起试用，用授权后的脱敏样本看看它能不能减少整理时间、会不会带来新的错误。谢谢，欢迎提问。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3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E884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AI+民生赛道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94360" y="1600200"/>
            <a:ext cx="914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OneCase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594360" y="28803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2F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把居民反馈整理成事项，跟进处理进度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4160520"/>
            <a:ext cx="1481328" cy="475488"/>
          </a:xfrm>
          <a:prstGeom prst="roundRect">
            <a:avLst>
              <a:gd name="adj" fmla="val 15385"/>
            </a:avLst>
          </a:prstGeom>
          <a:solidFill>
            <a:srgbClr val="1B443C"/>
          </a:solidFill>
          <a:ln w="9525">
            <a:solidFill>
              <a:srgbClr val="6FA99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416052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F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居民反馈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76856" y="4398264"/>
            <a:ext cx="347472" cy="0"/>
          </a:xfrm>
          <a:prstGeom prst="line">
            <a:avLst/>
          </a:prstGeom>
          <a:noFill/>
          <a:ln w="15875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734056" y="4160520"/>
            <a:ext cx="1481328" cy="475488"/>
          </a:xfrm>
          <a:prstGeom prst="roundRect">
            <a:avLst>
              <a:gd name="adj" fmla="val 15385"/>
            </a:avLst>
          </a:prstGeom>
          <a:solidFill>
            <a:srgbClr val="1B443C"/>
          </a:solidFill>
          <a:ln w="9525">
            <a:solidFill>
              <a:srgbClr val="6FA9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34056" y="416052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F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草稿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25112" y="4398264"/>
            <a:ext cx="347472" cy="0"/>
          </a:xfrm>
          <a:prstGeom prst="line">
            <a:avLst/>
          </a:prstGeom>
          <a:noFill/>
          <a:ln w="15875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782312" y="4160520"/>
            <a:ext cx="1481328" cy="475488"/>
          </a:xfrm>
          <a:prstGeom prst="roundRect">
            <a:avLst>
              <a:gd name="adj" fmla="val 15385"/>
            </a:avLst>
          </a:prstGeom>
          <a:solidFill>
            <a:srgbClr val="1B443C"/>
          </a:solidFill>
          <a:ln w="9525">
            <a:solidFill>
              <a:srgbClr val="6FA99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82312" y="416052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F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人工确认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73368" y="4398264"/>
            <a:ext cx="347472" cy="0"/>
          </a:xfrm>
          <a:prstGeom prst="line">
            <a:avLst/>
          </a:prstGeom>
          <a:noFill/>
          <a:ln w="15875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830568" y="4160520"/>
            <a:ext cx="1481328" cy="475488"/>
          </a:xfrm>
          <a:prstGeom prst="roundRect">
            <a:avLst>
              <a:gd name="adj" fmla="val 15385"/>
            </a:avLst>
          </a:prstGeom>
          <a:solidFill>
            <a:srgbClr val="1B443C"/>
          </a:solidFill>
          <a:ln w="9525">
            <a:solidFill>
              <a:srgbClr val="6FA99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30568" y="416052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F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正式事项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421624" y="4398264"/>
            <a:ext cx="347472" cy="0"/>
          </a:xfrm>
          <a:prstGeom prst="line">
            <a:avLst/>
          </a:prstGeom>
          <a:noFill/>
          <a:ln w="15875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878824" y="4160520"/>
            <a:ext cx="1481328" cy="475488"/>
          </a:xfrm>
          <a:prstGeom prst="roundRect">
            <a:avLst>
              <a:gd name="adj" fmla="val 15385"/>
            </a:avLst>
          </a:prstGeom>
          <a:solidFill>
            <a:srgbClr val="1B443C"/>
          </a:solidFill>
          <a:ln w="9525">
            <a:solidFill>
              <a:srgbClr val="6FA99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78824" y="416052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F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持续跟踪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5806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DB8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个人参赛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一条反馈里，可能有几件事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954512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1000232" cy="1572768"/>
          </a:xfrm>
          <a:prstGeom prst="roundRect">
            <a:avLst>
              <a:gd name="adj" fmla="val 4070"/>
            </a:avLst>
          </a:prstGeom>
          <a:solidFill>
            <a:srgbClr val="EAF4F1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234440"/>
            <a:ext cx="1017727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E6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“三栋二单元的灯又坏了……另外楼下垃圾今天也没人清。”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2395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一条居民留言（合成示例）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364992"/>
            <a:ext cx="100584" cy="100584"/>
          </a:xfrm>
          <a:prstGeom prst="ellipse">
            <a:avLst/>
          </a:prstGeom>
          <a:solidFill>
            <a:srgbClr val="E8842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2461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一条消息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2926080" y="324612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可能包含多个需要分别处理的问题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100584" cy="100584"/>
          </a:xfrm>
          <a:prstGeom prst="ellipse">
            <a:avLst/>
          </a:prstGeom>
          <a:solidFill>
            <a:srgbClr val="E8842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9959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不同居民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926080" y="3995928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可能重复反映同一个问题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4864608"/>
            <a:ext cx="100584" cy="100584"/>
          </a:xfrm>
          <a:prstGeom prst="ellipse">
            <a:avLst/>
          </a:prstGeom>
          <a:solidFill>
            <a:srgbClr val="E8842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7457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工作人员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2926080" y="47457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要拆开问题、核对重复，再记入台账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921240" y="3246120"/>
            <a:ext cx="1691640" cy="2011680"/>
          </a:xfrm>
          <a:prstGeom prst="roundRect">
            <a:avLst>
              <a:gd name="adj" fmla="val 3784"/>
            </a:avLst>
          </a:prstGeom>
          <a:solidFill>
            <a:srgbClr val="F4FAF8"/>
          </a:solidFill>
          <a:ln/>
        </p:spPr>
      </p:sp>
      <p:sp>
        <p:nvSpPr>
          <p:cNvPr id="17" name="Text 15"/>
          <p:cNvSpPr/>
          <p:nvPr/>
        </p:nvSpPr>
        <p:spPr>
          <a:xfrm>
            <a:off x="9921240" y="34290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6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直接用户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921240" y="379476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社区工作人员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网格员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一个人开发，先做好事项整理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954512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3749040" cy="4206240"/>
          </a:xfrm>
          <a:prstGeom prst="roundRect">
            <a:avLst>
              <a:gd name="adj" fmla="val 1707"/>
            </a:avLst>
          </a:prstGeom>
          <a:solidFill>
            <a:srgbClr val="EAF4F1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8288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6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个人参赛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2606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个人参赛 · 1 人团队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47091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独立开发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00600" y="146304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FA9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669280" y="14813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产品设计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669280" y="1901952"/>
            <a:ext cx="5806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设计反馈整理流程、状态规则、人工确认和查重方式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800600" y="283464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FA9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669280" y="28529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前后端开发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669280" y="3273552"/>
            <a:ext cx="5806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 Web 工作台、模型接口、数据存储与 API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800600" y="420624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FA9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669280" y="42245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测试与文档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669280" y="4645152"/>
            <a:ext cx="5806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单元测试、业务不变量测试、端到端流程测试与产品文档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确认草稿后，再创建正式事项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94360" y="1042416"/>
            <a:ext cx="11000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处理流程示意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54512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50392" y="2148840"/>
            <a:ext cx="1847088" cy="960120"/>
          </a:xfrm>
          <a:prstGeom prst="roundRect">
            <a:avLst>
              <a:gd name="adj" fmla="val 5714"/>
            </a:avLst>
          </a:prstGeom>
          <a:solidFill>
            <a:srgbClr val="EAF4F1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" y="2148840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居民文字反馈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70632" y="2624328"/>
            <a:ext cx="237744" cy="0"/>
          </a:xfrm>
          <a:prstGeom prst="line">
            <a:avLst/>
          </a:prstGeom>
          <a:noFill/>
          <a:ln w="25400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081528" y="2148840"/>
            <a:ext cx="1847088" cy="960120"/>
          </a:xfrm>
          <a:prstGeom prst="roundRect">
            <a:avLst>
              <a:gd name="adj" fmla="val 5714"/>
            </a:avLst>
          </a:prstGeom>
          <a:solidFill>
            <a:srgbClr val="EAF4F1"/>
          </a:solidFill>
          <a:ln/>
        </p:spPr>
      </p:sp>
      <p:sp>
        <p:nvSpPr>
          <p:cNvPr id="9" name="Text 7"/>
          <p:cNvSpPr/>
          <p:nvPr/>
        </p:nvSpPr>
        <p:spPr>
          <a:xfrm>
            <a:off x="3081528" y="2148840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事项草稿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01768" y="2624328"/>
            <a:ext cx="237744" cy="0"/>
          </a:xfrm>
          <a:prstGeom prst="line">
            <a:avLst/>
          </a:prstGeom>
          <a:noFill/>
          <a:ln w="25400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312664" y="2148840"/>
            <a:ext cx="1847088" cy="960120"/>
          </a:xfrm>
          <a:prstGeom prst="roundRect">
            <a:avLst>
              <a:gd name="adj" fmla="val 5714"/>
            </a:avLst>
          </a:prstGeom>
          <a:solidFill>
            <a:srgbClr val="0E6E5C"/>
          </a:solidFill>
          <a:ln/>
        </p:spPr>
      </p:sp>
      <p:sp>
        <p:nvSpPr>
          <p:cNvPr id="12" name="Text 10"/>
          <p:cNvSpPr/>
          <p:nvPr/>
        </p:nvSpPr>
        <p:spPr>
          <a:xfrm>
            <a:off x="5312664" y="2148840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人工检查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232904" y="2624328"/>
            <a:ext cx="237744" cy="0"/>
          </a:xfrm>
          <a:prstGeom prst="line">
            <a:avLst/>
          </a:prstGeom>
          <a:noFill/>
          <a:ln w="25400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543800" y="2148840"/>
            <a:ext cx="1847088" cy="960120"/>
          </a:xfrm>
          <a:prstGeom prst="roundRect">
            <a:avLst>
              <a:gd name="adj" fmla="val 5714"/>
            </a:avLst>
          </a:prstGeom>
          <a:solidFill>
            <a:srgbClr val="0E6E5C"/>
          </a:solidFill>
          <a:ln/>
        </p:spPr>
      </p:sp>
      <p:sp>
        <p:nvSpPr>
          <p:cNvPr id="15" name="Text 13"/>
          <p:cNvSpPr/>
          <p:nvPr/>
        </p:nvSpPr>
        <p:spPr>
          <a:xfrm>
            <a:off x="7543800" y="2148840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新建或关联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464040" y="2624328"/>
            <a:ext cx="237744" cy="0"/>
          </a:xfrm>
          <a:prstGeom prst="line">
            <a:avLst/>
          </a:prstGeom>
          <a:noFill/>
          <a:ln w="25400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774936" y="2148840"/>
            <a:ext cx="1847088" cy="960120"/>
          </a:xfrm>
          <a:prstGeom prst="roundRect">
            <a:avLst>
              <a:gd name="adj" fmla="val 5714"/>
            </a:avLst>
          </a:prstGeom>
          <a:solidFill>
            <a:srgbClr val="EAF4F1"/>
          </a:solidFill>
          <a:ln/>
        </p:spPr>
      </p:sp>
      <p:sp>
        <p:nvSpPr>
          <p:cNvPr id="18" name="Text 16"/>
          <p:cNvSpPr/>
          <p:nvPr/>
        </p:nvSpPr>
        <p:spPr>
          <a:xfrm>
            <a:off x="9774936" y="2148840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持续跟踪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715768" y="322783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建议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62088" y="322783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84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人做决定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" y="4206240"/>
            <a:ext cx="11000232" cy="1234440"/>
          </a:xfrm>
          <a:prstGeom prst="roundRect">
            <a:avLst>
              <a:gd name="adj" fmla="val 5185"/>
            </a:avLst>
          </a:prstGeom>
          <a:solidFill>
            <a:srgbClr val="EAF4F1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4206240"/>
            <a:ext cx="102687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生成草稿，</a:t>
            </a:r>
            <a:pPr indent="0" marL="0">
              <a:buNone/>
            </a:pPr>
            <a:r>
              <a:rPr lang="en-US" sz="2100" b="1" dirty="0">
                <a:solidFill>
                  <a:srgbClr val="0E6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工作人员检查后决定是否录入。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594360" y="571500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原始反馈、草稿和正式事项分开保存。AI 分析完成后，仍需人工确认。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问题分开处理，来源一起保留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954512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拆开：一条反馈 → 多个事项草稿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148840" y="2057400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EAF4F1"/>
          </a:solidFill>
          <a:ln/>
        </p:spPr>
      </p:sp>
      <p:sp>
        <p:nvSpPr>
          <p:cNvPr id="6" name="Text 4"/>
          <p:cNvSpPr/>
          <p:nvPr/>
        </p:nvSpPr>
        <p:spPr>
          <a:xfrm>
            <a:off x="2148840" y="2057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居民反馈 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703320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0E6E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703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草稿 1｜照明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66160" y="3703320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0E6E5C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3703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草稿 2｜清运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0" y="2697480"/>
            <a:ext cx="-1005840" cy="1005840"/>
          </a:xfrm>
          <a:prstGeom prst="line">
            <a:avLst/>
          </a:prstGeom>
          <a:noFill/>
          <a:ln w="19050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840480" y="2697480"/>
            <a:ext cx="1005840" cy="1005840"/>
          </a:xfrm>
          <a:prstGeom prst="line">
            <a:avLst/>
          </a:prstGeom>
          <a:noFill/>
          <a:ln w="19050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355080" y="13716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关联：多条反馈 → 同一事项（人工确认）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92240" y="2057400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EAF4F1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2057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 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326880" y="2057400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EAF4F1"/>
          </a:solidFill>
          <a:ln/>
        </p:spPr>
      </p:sp>
      <p:sp>
        <p:nvSpPr>
          <p:cNvPr id="17" name="Text 15"/>
          <p:cNvSpPr/>
          <p:nvPr/>
        </p:nvSpPr>
        <p:spPr>
          <a:xfrm>
            <a:off x="9326880" y="2057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 B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909560" y="3703320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0E6E5C"/>
          </a:solidFill>
          <a:ln/>
        </p:spPr>
      </p:sp>
      <p:sp>
        <p:nvSpPr>
          <p:cNvPr id="19" name="Text 17"/>
          <p:cNvSpPr/>
          <p:nvPr/>
        </p:nvSpPr>
        <p:spPr>
          <a:xfrm>
            <a:off x="7909560" y="3703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同一事项 + 多条来源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 flipH="1">
            <a:off x="7818120" y="2697480"/>
            <a:ext cx="1005840" cy="1005840"/>
          </a:xfrm>
          <a:prstGeom prst="line">
            <a:avLst/>
          </a:prstGeom>
          <a:noFill/>
          <a:ln w="19050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098280" y="2697480"/>
            <a:ext cx="-1005840" cy="1005840"/>
          </a:xfrm>
          <a:prstGeom prst="line">
            <a:avLst/>
          </a:prstGeom>
          <a:noFill/>
          <a:ln w="19050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94360" y="4892040"/>
            <a:ext cx="11000232" cy="1051560"/>
          </a:xfrm>
          <a:prstGeom prst="roundRect">
            <a:avLst>
              <a:gd name="adj" fmla="val 6087"/>
            </a:avLst>
          </a:prstGeom>
          <a:solidFill>
            <a:srgbClr val="F4FAF8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4892040"/>
            <a:ext cx="102687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候选按标题词汇、地点、类别和时间排序，并展示依据。地点不同时会提醒，由工作人员核对，不自动合并。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现场演示：关联一件，新建一件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954512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2606040" cy="2834640"/>
          </a:xfrm>
          <a:prstGeom prst="roundRect">
            <a:avLst>
              <a:gd name="adj" fmla="val 2456"/>
            </a:avLst>
          </a:prstGeom>
          <a:solidFill>
            <a:srgbClr val="F4FAF8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FA9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粘贴一段反馈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同时包含照明与清运两个问题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27832" y="2880360"/>
            <a:ext cx="182880" cy="0"/>
          </a:xfrm>
          <a:prstGeom prst="line">
            <a:avLst/>
          </a:prstGeom>
          <a:noFill/>
          <a:ln w="19050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47288" y="1463040"/>
            <a:ext cx="2606040" cy="2834640"/>
          </a:xfrm>
          <a:prstGeom prst="roundRect">
            <a:avLst>
              <a:gd name="adj" fmla="val 2456"/>
            </a:avLst>
          </a:prstGeom>
          <a:solidFill>
            <a:srgbClr val="F4FAF8"/>
          </a:solidFill>
          <a:ln/>
        </p:spPr>
      </p:sp>
      <p:sp>
        <p:nvSpPr>
          <p:cNvPr id="10" name="Text 8"/>
          <p:cNvSpPr/>
          <p:nvPr/>
        </p:nvSpPr>
        <p:spPr>
          <a:xfrm>
            <a:off x="3721608" y="16916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FA9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721608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检查草稿与候选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721608" y="2971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查看两个草稿、相似事项及匹配依据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080760" y="2880360"/>
            <a:ext cx="182880" cy="0"/>
          </a:xfrm>
          <a:prstGeom prst="line">
            <a:avLst/>
          </a:prstGeom>
          <a:noFill/>
          <a:ln w="19050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00216" y="1463040"/>
            <a:ext cx="2606040" cy="2834640"/>
          </a:xfrm>
          <a:prstGeom prst="roundRect">
            <a:avLst>
              <a:gd name="adj" fmla="val 2456"/>
            </a:avLst>
          </a:prstGeom>
          <a:solidFill>
            <a:srgbClr val="EAF4F1"/>
          </a:solidFill>
          <a:ln/>
        </p:spPr>
      </p:sp>
      <p:sp>
        <p:nvSpPr>
          <p:cNvPr id="15" name="Text 13"/>
          <p:cNvSpPr/>
          <p:nvPr/>
        </p:nvSpPr>
        <p:spPr>
          <a:xfrm>
            <a:off x="6574536" y="16916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84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574536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选择关联或新建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574536" y="2971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照明问题关联已有事项；清运问题新建事项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933688" y="2880360"/>
            <a:ext cx="182880" cy="0"/>
          </a:xfrm>
          <a:prstGeom prst="line">
            <a:avLst/>
          </a:prstGeom>
          <a:noFill/>
          <a:ln w="19050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153144" y="1463040"/>
            <a:ext cx="2606040" cy="2834640"/>
          </a:xfrm>
          <a:prstGeom prst="roundRect">
            <a:avLst>
              <a:gd name="adj" fmla="val 2456"/>
            </a:avLst>
          </a:prstGeom>
          <a:solidFill>
            <a:srgbClr val="F4FAF8"/>
          </a:solidFill>
          <a:ln/>
        </p:spPr>
      </p:sp>
      <p:sp>
        <p:nvSpPr>
          <p:cNvPr id="20" name="Text 18"/>
          <p:cNvSpPr/>
          <p:nvPr/>
        </p:nvSpPr>
        <p:spPr>
          <a:xfrm>
            <a:off x="9427464" y="16916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FA9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9427464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查看处理结果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427464" y="2971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来源、处理记录与首页统计变化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94360" y="4709160"/>
            <a:ext cx="11000232" cy="1188720"/>
          </a:xfrm>
          <a:prstGeom prst="roundRect">
            <a:avLst>
              <a:gd name="adj" fmla="val 5385"/>
            </a:avLst>
          </a:prstGeom>
          <a:solidFill>
            <a:srgbClr val="EAF4F1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4709160"/>
            <a:ext cx="10268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6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演示使用合成数据，</a:t>
            </a:r>
            <a:pPr indent="0" marL="0">
              <a:buNone/>
            </a:pPr>
            <a:r>
              <a:rPr lang="en-US" sz="16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现场说明模型模式：真实模型或 Mock。Mock 只用于检查操作流程。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草稿能修改，分析失败可重试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954512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5349240" cy="2011680"/>
          </a:xfrm>
          <a:prstGeom prst="roundRect">
            <a:avLst>
              <a:gd name="adj" fmla="val 3182"/>
            </a:avLst>
          </a:prstGeom>
          <a:solidFill>
            <a:srgbClr val="F4FAF8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847088"/>
            <a:ext cx="118872" cy="118872"/>
          </a:xfrm>
          <a:prstGeom prst="ellipse">
            <a:avLst/>
          </a:prstGeom>
          <a:solidFill>
            <a:srgbClr val="E8842C"/>
          </a:solidFill>
          <a:ln/>
        </p:spPr>
      </p:sp>
      <p:sp>
        <p:nvSpPr>
          <p:cNvPr id="6" name="Text 4"/>
          <p:cNvSpPr/>
          <p:nvPr/>
        </p:nvSpPr>
        <p:spPr>
          <a:xfrm>
            <a:off x="1161288" y="16642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草稿可修改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61288" y="2240280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新建事项采用人工确认后的标题、地点与优先级，并留下修改记录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349240" cy="2011680"/>
          </a:xfrm>
          <a:prstGeom prst="roundRect">
            <a:avLst>
              <a:gd name="adj" fmla="val 3182"/>
            </a:avLst>
          </a:prstGeom>
          <a:solidFill>
            <a:srgbClr val="F4FAF8"/>
          </a:solidFill>
          <a:ln/>
        </p:spPr>
      </p:sp>
      <p:sp>
        <p:nvSpPr>
          <p:cNvPr id="9" name="Shape 7"/>
          <p:cNvSpPr/>
          <p:nvPr/>
        </p:nvSpPr>
        <p:spPr>
          <a:xfrm>
            <a:off x="6537960" y="1847088"/>
            <a:ext cx="118872" cy="118872"/>
          </a:xfrm>
          <a:prstGeom prst="ellipse">
            <a:avLst/>
          </a:prstGeom>
          <a:solidFill>
            <a:srgbClr val="E8842C"/>
          </a:solidFill>
          <a:ln/>
        </p:spPr>
      </p:sp>
      <p:sp>
        <p:nvSpPr>
          <p:cNvPr id="10" name="Text 8"/>
          <p:cNvSpPr/>
          <p:nvPr/>
        </p:nvSpPr>
        <p:spPr>
          <a:xfrm>
            <a:off x="6784848" y="16642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批量确认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784848" y="2240280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新建、关联和处理记录一起保存；有草稿未处理时不提交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94360" y="3749040"/>
            <a:ext cx="5349240" cy="2011680"/>
          </a:xfrm>
          <a:prstGeom prst="roundRect">
            <a:avLst>
              <a:gd name="adj" fmla="val 3182"/>
            </a:avLst>
          </a:prstGeom>
          <a:solidFill>
            <a:srgbClr val="F4FAF8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4133088"/>
            <a:ext cx="118872" cy="118872"/>
          </a:xfrm>
          <a:prstGeom prst="ellipse">
            <a:avLst/>
          </a:prstGeom>
          <a:solidFill>
            <a:srgbClr val="E8842C"/>
          </a:solidFill>
          <a:ln/>
        </p:spPr>
      </p:sp>
      <p:sp>
        <p:nvSpPr>
          <p:cNvPr id="14" name="Text 12"/>
          <p:cNvSpPr/>
          <p:nvPr/>
        </p:nvSpPr>
        <p:spPr>
          <a:xfrm>
            <a:off x="1161288" y="39502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防止重复确认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61288" y="4526280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已确认的反馈不能重复提交；状态只能按规定顺序变更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217920" y="3749040"/>
            <a:ext cx="5349240" cy="2011680"/>
          </a:xfrm>
          <a:prstGeom prst="roundRect">
            <a:avLst>
              <a:gd name="adj" fmla="val 3182"/>
            </a:avLst>
          </a:prstGeom>
          <a:solidFill>
            <a:srgbClr val="F4FAF8"/>
          </a:solidFill>
          <a:ln/>
        </p:spPr>
      </p:sp>
      <p:sp>
        <p:nvSpPr>
          <p:cNvPr id="17" name="Shape 15"/>
          <p:cNvSpPr/>
          <p:nvPr/>
        </p:nvSpPr>
        <p:spPr>
          <a:xfrm>
            <a:off x="6537960" y="4133088"/>
            <a:ext cx="118872" cy="118872"/>
          </a:xfrm>
          <a:prstGeom prst="ellipse">
            <a:avLst/>
          </a:prstGeom>
          <a:solidFill>
            <a:srgbClr val="E8842C"/>
          </a:solidFill>
          <a:ln/>
        </p:spPr>
      </p:sp>
      <p:sp>
        <p:nvSpPr>
          <p:cNvPr id="18" name="Text 16"/>
          <p:cNvSpPr/>
          <p:nvPr/>
        </p:nvSpPr>
        <p:spPr>
          <a:xfrm>
            <a:off x="6784848" y="39502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失败后转人工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784848" y="4526280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分析失败后可重试；符合条件时可手动创建事项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模型整理文字，程序检查规则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954512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2743200" cy="868680"/>
          </a:xfrm>
          <a:prstGeom prst="roundRect">
            <a:avLst>
              <a:gd name="adj" fmla="val 6316"/>
            </a:avLst>
          </a:prstGeom>
          <a:solidFill>
            <a:srgbClr val="0E6E5C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4173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工作台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566160" y="1417320"/>
            <a:ext cx="8028432" cy="868680"/>
          </a:xfrm>
          <a:prstGeom prst="roundRect">
            <a:avLst>
              <a:gd name="adj" fmla="val 7368"/>
            </a:avLst>
          </a:prstGeom>
          <a:solidFill>
            <a:srgbClr val="EAF4F1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0" y="1417320"/>
            <a:ext cx="7479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输入、草稿检查、事项跟踪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94360" y="2450592"/>
            <a:ext cx="2743200" cy="868680"/>
          </a:xfrm>
          <a:prstGeom prst="roundRect">
            <a:avLst>
              <a:gd name="adj" fmla="val 6316"/>
            </a:avLst>
          </a:prstGeom>
          <a:solidFill>
            <a:srgbClr val="2E8574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450592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适配层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566160" y="2450592"/>
            <a:ext cx="8028432" cy="868680"/>
          </a:xfrm>
          <a:prstGeom prst="roundRect">
            <a:avLst>
              <a:gd name="adj" fmla="val 7368"/>
            </a:avLst>
          </a:prstGeom>
          <a:solidFill>
            <a:srgbClr val="F4FAF8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0" y="2450592"/>
            <a:ext cx="7479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 Qwen、OpenAI；Mock 用于流程测试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94360" y="3483864"/>
            <a:ext cx="2743200" cy="868680"/>
          </a:xfrm>
          <a:prstGeom prst="roundRect">
            <a:avLst>
              <a:gd name="adj" fmla="val 6316"/>
            </a:avLst>
          </a:prstGeom>
          <a:solidFill>
            <a:srgbClr val="3E9284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483864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业务控制层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566160" y="3483864"/>
            <a:ext cx="8028432" cy="868680"/>
          </a:xfrm>
          <a:prstGeom prst="roundRect">
            <a:avLst>
              <a:gd name="adj" fmla="val 7368"/>
            </a:avLst>
          </a:prstGeom>
          <a:solidFill>
            <a:srgbClr val="EAF4F1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0" y="3483864"/>
            <a:ext cx="7479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检查字段格式、排列候选、要求人工确认、校验状态变更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94360" y="4517136"/>
            <a:ext cx="2743200" cy="868680"/>
          </a:xfrm>
          <a:prstGeom prst="roundRect">
            <a:avLst>
              <a:gd name="adj" fmla="val 6316"/>
            </a:avLst>
          </a:prstGeom>
          <a:solidFill>
            <a:srgbClr val="6FA99C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4517136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数据记录层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3566160" y="4517136"/>
            <a:ext cx="8028432" cy="868680"/>
          </a:xfrm>
          <a:prstGeom prst="roundRect">
            <a:avLst>
              <a:gd name="adj" fmla="val 7368"/>
            </a:avLst>
          </a:prstGeom>
          <a:solidFill>
            <a:srgbClr val="F4FAF8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0" y="4517136"/>
            <a:ext cx="7479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保存原始反馈、草稿、事项、来源及处理记录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94360" y="5806440"/>
            <a:ext cx="11000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技术基础  </a:t>
            </a:r>
            <a:pPr indent="0" marL="0">
              <a:buNone/>
            </a:pPr>
            <a:r>
              <a:rPr lang="en-US" sz="15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Next.js · React · TypeScript · Zod · Prisma · SQLite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案例与背书：功能与测试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954512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3429000" cy="2651760"/>
          </a:xfrm>
          <a:prstGeom prst="roundRect">
            <a:avLst>
              <a:gd name="adj" fmla="val 2414"/>
            </a:avLst>
          </a:prstGeom>
          <a:solidFill>
            <a:srgbClr val="F4FAF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6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116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68680" y="27889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项单元测试 全部通过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321868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 AI 数据格式、业务规则和查重服务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463040"/>
            <a:ext cx="3429000" cy="2651760"/>
          </a:xfrm>
          <a:prstGeom prst="roundRect">
            <a:avLst>
              <a:gd name="adj" fmla="val 2414"/>
            </a:avLst>
          </a:prstGeom>
          <a:solidFill>
            <a:srgbClr val="F4FAF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6916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6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87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4617720" y="27889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项业务不变量 全部通过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17720" y="321868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在真实数据库上检查业务规则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429000" cy="2651760"/>
          </a:xfrm>
          <a:prstGeom prst="roundRect">
            <a:avLst>
              <a:gd name="adj" fmla="val 2414"/>
            </a:avLst>
          </a:prstGeom>
          <a:solidFill>
            <a:srgbClr val="F4FAF8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16916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6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8366760" y="27889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项端到端流程 全部通过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66760" y="321868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浏览器流程测试，含 AI 失败后的处理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535424"/>
            <a:ext cx="100584" cy="100584"/>
          </a:xfrm>
          <a:prstGeom prst="ellipse">
            <a:avLst/>
          </a:prstGeom>
          <a:solidFill>
            <a:srgbClr val="E8842C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434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项目成果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06040" y="443484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已实现文字整理、人工确认和事项跟踪；AI 失败后可重试或按条件转人工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0080" y="5102352"/>
            <a:ext cx="100584" cy="100584"/>
          </a:xfrm>
          <a:prstGeom prst="ellipse">
            <a:avLst/>
          </a:prstGeom>
          <a:solidFill>
            <a:srgbClr val="E8842C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0017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工程证据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606040" y="500176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有源码、演示脚本和自动化测试用例，可供检查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40080" y="5669280"/>
            <a:ext cx="100584" cy="100584"/>
          </a:xfrm>
          <a:prstGeom prst="ellipse">
            <a:avLst/>
          </a:prstGeom>
          <a:solidFill>
            <a:srgbClr val="E8842C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556869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如实说明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606040" y="5568696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个人开发项目，尚无可展示的客户或合作数据；实际使用效果还需验证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94360" y="62636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数据来源：仓库自动化测试套件，2026-08-31 本机实测通过（另含 6 个子包类型检查全过）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先小范围试用，再讨论收费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954512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280160" y="1554480"/>
            <a:ext cx="3017520" cy="868680"/>
          </a:xfrm>
          <a:prstGeom prst="roundRect">
            <a:avLst>
              <a:gd name="adj" fmla="val 6316"/>
            </a:avLst>
          </a:prstGeom>
          <a:solidFill>
            <a:srgbClr val="EAF4F1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15544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梳理流程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389120" y="1984248"/>
            <a:ext cx="411480" cy="0"/>
          </a:xfrm>
          <a:prstGeom prst="line">
            <a:avLst/>
          </a:prstGeom>
          <a:noFill/>
          <a:ln w="25400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892040" y="1554480"/>
            <a:ext cx="3017520" cy="868680"/>
          </a:xfrm>
          <a:prstGeom prst="roundRect">
            <a:avLst>
              <a:gd name="adj" fmla="val 6316"/>
            </a:avLst>
          </a:prstGeom>
          <a:solidFill>
            <a:srgbClr val="EAF4F1"/>
          </a:solidFill>
          <a:ln/>
        </p:spPr>
      </p:sp>
      <p:sp>
        <p:nvSpPr>
          <p:cNvPr id="8" name="Text 6"/>
          <p:cNvSpPr/>
          <p:nvPr/>
        </p:nvSpPr>
        <p:spPr>
          <a:xfrm>
            <a:off x="4892040" y="15544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小范围试用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001000" y="1984248"/>
            <a:ext cx="411480" cy="0"/>
          </a:xfrm>
          <a:prstGeom prst="line">
            <a:avLst/>
          </a:prstGeom>
          <a:noFill/>
          <a:ln w="25400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503920" y="1554480"/>
            <a:ext cx="3017520" cy="868680"/>
          </a:xfrm>
          <a:prstGeom prst="roundRect">
            <a:avLst>
              <a:gd name="adj" fmla="val 6316"/>
            </a:avLst>
          </a:prstGeom>
          <a:solidFill>
            <a:srgbClr val="0E6E5C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15544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服务采购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94360" y="2880360"/>
            <a:ext cx="2148840" cy="548640"/>
          </a:xfrm>
          <a:prstGeom prst="roundRect">
            <a:avLst>
              <a:gd name="adj" fmla="val 10000"/>
            </a:avLst>
          </a:prstGeom>
          <a:solidFill>
            <a:srgbClr val="0E6E5C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8803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使用者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17520" y="2907792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社区工作人员与网格员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4360" y="3593592"/>
            <a:ext cx="2148840" cy="548640"/>
          </a:xfrm>
          <a:prstGeom prst="roundRect">
            <a:avLst>
              <a:gd name="adj" fmla="val 10000"/>
            </a:avLst>
          </a:prstGeom>
          <a:solidFill>
            <a:srgbClr val="2E8574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59359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潜在付费方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017520" y="3621024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社区服务运营方，预算和采购流程待确认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4360" y="4306824"/>
            <a:ext cx="2148840" cy="548640"/>
          </a:xfrm>
          <a:prstGeom prst="roundRect">
            <a:avLst>
              <a:gd name="adj" fmla="val 10000"/>
            </a:avLst>
          </a:prstGeom>
          <a:solidFill>
            <a:srgbClr val="0E6E5C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4306824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收费设想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017520" y="4334256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部署与配置服务费 + 持续运维服务费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4360" y="5020056"/>
            <a:ext cx="2148840" cy="548640"/>
          </a:xfrm>
          <a:prstGeom prst="roundRect">
            <a:avLst>
              <a:gd name="adj" fmla="val 10000"/>
            </a:avLst>
          </a:prstGeom>
          <a:solidFill>
            <a:srgbClr val="2E8574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502005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主要成本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017520" y="5047488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模型调用、部署、安全合规与用户支持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4360" y="5897880"/>
            <a:ext cx="11000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收费方式仍是设想。先确认实际使用价值，目前没有可验证的价格、合同或收入数据。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下一步：测耗时，也检查错误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954512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371600"/>
            <a:ext cx="11000232" cy="1051560"/>
          </a:xfrm>
          <a:prstGeom prst="roundRect">
            <a:avLst>
              <a:gd name="adj" fmla="val 6087"/>
            </a:avLst>
          </a:prstGeom>
          <a:solidFill>
            <a:srgbClr val="EAF4F1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371600"/>
            <a:ext cx="102687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6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用同一批经授权、脱敏的反馈，比较人工整理和 OneCase 辅助整理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94360" y="2743200"/>
            <a:ext cx="3429000" cy="2148840"/>
          </a:xfrm>
          <a:prstGeom prst="roundRect">
            <a:avLst>
              <a:gd name="adj" fmla="val 2979"/>
            </a:avLst>
          </a:prstGeom>
          <a:solidFill>
            <a:srgbClr val="F4FAF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0175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主要指标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从原始反馈到确认事项的中位耗时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43400" y="2743200"/>
            <a:ext cx="3429000" cy="2148840"/>
          </a:xfrm>
          <a:prstGeom prst="roundRect">
            <a:avLst>
              <a:gd name="adj" fmla="val 2979"/>
            </a:avLst>
          </a:prstGeom>
          <a:solidFill>
            <a:srgbClr val="F4FAF8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30175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质量指标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17720" y="352044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漏项、关键字段错误、误关联、人工修改次数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092440" y="2743200"/>
            <a:ext cx="3429000" cy="2148840"/>
          </a:xfrm>
          <a:prstGeom prst="roundRect">
            <a:avLst>
              <a:gd name="adj" fmla="val 2979"/>
            </a:avLst>
          </a:prstGeom>
          <a:solidFill>
            <a:srgbClr val="F4FAF8"/>
          </a:solidFill>
          <a:ln/>
        </p:spPr>
      </p:sp>
      <p:sp>
        <p:nvSpPr>
          <p:cNvPr id="13" name="Text 11"/>
          <p:cNvSpPr/>
          <p:nvPr/>
        </p:nvSpPr>
        <p:spPr>
          <a:xfrm>
            <a:off x="8366760" y="30175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运行指标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366760" y="352044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模型失败率、转人工次数、单次使用成本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94360" y="5303520"/>
            <a:ext cx="11000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和社区工作人员商定试用标准，再看是否值得继续做。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现在能做什么，试点前还缺什么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954512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3429000" cy="566928"/>
          </a:xfrm>
          <a:prstGeom prst="roundRect">
            <a:avLst>
              <a:gd name="adj" fmla="val 9677"/>
            </a:avLst>
          </a:prstGeom>
          <a:solidFill>
            <a:srgbClr val="0E6E5C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46304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当前已实现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94360" y="2148840"/>
            <a:ext cx="3429000" cy="3246120"/>
          </a:xfrm>
          <a:prstGeom prst="roundRect">
            <a:avLst>
              <a:gd name="adj" fmla="val 1972"/>
            </a:avLst>
          </a:prstGeom>
          <a:solidFill>
            <a:srgbClr val="EAF4F1"/>
          </a:solidFill>
          <a:ln/>
        </p:spPr>
      </p:sp>
      <p:sp>
        <p:nvSpPr>
          <p:cNvPr id="7" name="Shape 5"/>
          <p:cNvSpPr/>
          <p:nvPr/>
        </p:nvSpPr>
        <p:spPr>
          <a:xfrm>
            <a:off x="886968" y="2560320"/>
            <a:ext cx="91440" cy="91440"/>
          </a:xfrm>
          <a:prstGeom prst="ellipse">
            <a:avLst/>
          </a:prstGeom>
          <a:solidFill>
            <a:srgbClr val="E8842C"/>
          </a:solidFill>
          <a:ln/>
        </p:spPr>
      </p:sp>
      <p:sp>
        <p:nvSpPr>
          <p:cNvPr id="8" name="Text 6"/>
          <p:cNvSpPr/>
          <p:nvPr/>
        </p:nvSpPr>
        <p:spPr>
          <a:xfrm>
            <a:off x="1124712" y="2468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文字输入与长度校验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86968" y="3273552"/>
            <a:ext cx="91440" cy="91440"/>
          </a:xfrm>
          <a:prstGeom prst="ellipse">
            <a:avLst/>
          </a:prstGeom>
          <a:solidFill>
            <a:srgbClr val="E8842C"/>
          </a:solidFill>
          <a:ln/>
        </p:spPr>
      </p:sp>
      <p:sp>
        <p:nvSpPr>
          <p:cNvPr id="10" name="Text 8"/>
          <p:cNvSpPr/>
          <p:nvPr/>
        </p:nvSpPr>
        <p:spPr>
          <a:xfrm>
            <a:off x="1124712" y="31821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草稿检查与编辑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86968" y="3986784"/>
            <a:ext cx="91440" cy="91440"/>
          </a:xfrm>
          <a:prstGeom prst="ellipse">
            <a:avLst/>
          </a:prstGeom>
          <a:solidFill>
            <a:srgbClr val="E8842C"/>
          </a:solidFill>
          <a:ln/>
        </p:spPr>
      </p:sp>
      <p:sp>
        <p:nvSpPr>
          <p:cNvPr id="12" name="Text 10"/>
          <p:cNvSpPr/>
          <p:nvPr/>
        </p:nvSpPr>
        <p:spPr>
          <a:xfrm>
            <a:off x="1124712" y="389534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相似候选与人工确认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86968" y="4700016"/>
            <a:ext cx="91440" cy="91440"/>
          </a:xfrm>
          <a:prstGeom prst="ellipse">
            <a:avLst/>
          </a:prstGeom>
          <a:solidFill>
            <a:srgbClr val="E8842C"/>
          </a:solidFill>
          <a:ln/>
        </p:spPr>
      </p:sp>
      <p:sp>
        <p:nvSpPr>
          <p:cNvPr id="14" name="Text 12"/>
          <p:cNvSpPr/>
          <p:nvPr/>
        </p:nvSpPr>
        <p:spPr>
          <a:xfrm>
            <a:off x="1124712" y="460857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事项跟踪与统计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343400" y="1463040"/>
            <a:ext cx="3429000" cy="566928"/>
          </a:xfrm>
          <a:prstGeom prst="roundRect">
            <a:avLst>
              <a:gd name="adj" fmla="val 9677"/>
            </a:avLst>
          </a:prstGeom>
          <a:solidFill>
            <a:srgbClr val="2E8574"/>
          </a:solidFill>
          <a:ln/>
        </p:spPr>
      </p:sp>
      <p:sp>
        <p:nvSpPr>
          <p:cNvPr id="16" name="Text 14"/>
          <p:cNvSpPr/>
          <p:nvPr/>
        </p:nvSpPr>
        <p:spPr>
          <a:xfrm>
            <a:off x="4343400" y="146304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试点前补齐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343400" y="2148840"/>
            <a:ext cx="3429000" cy="3246120"/>
          </a:xfrm>
          <a:prstGeom prst="roundRect">
            <a:avLst>
              <a:gd name="adj" fmla="val 1972"/>
            </a:avLst>
          </a:prstGeom>
          <a:solidFill>
            <a:srgbClr val="F4FAF8"/>
          </a:solidFill>
          <a:ln/>
        </p:spPr>
      </p:sp>
      <p:sp>
        <p:nvSpPr>
          <p:cNvPr id="18" name="Shape 16"/>
          <p:cNvSpPr/>
          <p:nvPr/>
        </p:nvSpPr>
        <p:spPr>
          <a:xfrm>
            <a:off x="4636008" y="2560320"/>
            <a:ext cx="91440" cy="91440"/>
          </a:xfrm>
          <a:prstGeom prst="ellipse">
            <a:avLst/>
          </a:prstGeom>
          <a:solidFill>
            <a:srgbClr val="6FA99C"/>
          </a:solidFill>
          <a:ln/>
        </p:spPr>
      </p:sp>
      <p:sp>
        <p:nvSpPr>
          <p:cNvPr id="19" name="Text 17"/>
          <p:cNvSpPr/>
          <p:nvPr/>
        </p:nvSpPr>
        <p:spPr>
          <a:xfrm>
            <a:off x="4873752" y="2468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身份认证与权限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636008" y="3273552"/>
            <a:ext cx="91440" cy="91440"/>
          </a:xfrm>
          <a:prstGeom prst="ellipse">
            <a:avLst/>
          </a:prstGeom>
          <a:solidFill>
            <a:srgbClr val="6FA99C"/>
          </a:solidFill>
          <a:ln/>
        </p:spPr>
      </p:sp>
      <p:sp>
        <p:nvSpPr>
          <p:cNvPr id="21" name="Text 19"/>
          <p:cNvSpPr/>
          <p:nvPr/>
        </p:nvSpPr>
        <p:spPr>
          <a:xfrm>
            <a:off x="4873752" y="31821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组织数据隔离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636008" y="3986784"/>
            <a:ext cx="91440" cy="91440"/>
          </a:xfrm>
          <a:prstGeom prst="ellipse">
            <a:avLst/>
          </a:prstGeom>
          <a:solidFill>
            <a:srgbClr val="6FA99C"/>
          </a:solidFill>
          <a:ln/>
        </p:spPr>
      </p:sp>
      <p:sp>
        <p:nvSpPr>
          <p:cNvPr id="23" name="Text 21"/>
          <p:cNvSpPr/>
          <p:nvPr/>
        </p:nvSpPr>
        <p:spPr>
          <a:xfrm>
            <a:off x="4873752" y="389534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访问频率限制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636008" y="4700016"/>
            <a:ext cx="91440" cy="91440"/>
          </a:xfrm>
          <a:prstGeom prst="ellipse">
            <a:avLst/>
          </a:prstGeom>
          <a:solidFill>
            <a:srgbClr val="6FA99C"/>
          </a:solidFill>
          <a:ln/>
        </p:spPr>
      </p:sp>
      <p:sp>
        <p:nvSpPr>
          <p:cNvPr id="25" name="Text 23"/>
          <p:cNvSpPr/>
          <p:nvPr/>
        </p:nvSpPr>
        <p:spPr>
          <a:xfrm>
            <a:off x="4873752" y="460857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待确认草稿列表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092440" y="1463040"/>
            <a:ext cx="3429000" cy="566928"/>
          </a:xfrm>
          <a:prstGeom prst="roundRect">
            <a:avLst>
              <a:gd name="adj" fmla="val 9677"/>
            </a:avLst>
          </a:prstGeom>
          <a:solidFill>
            <a:srgbClr val="6FA99C"/>
          </a:solidFill>
          <a:ln/>
        </p:spPr>
      </p:sp>
      <p:sp>
        <p:nvSpPr>
          <p:cNvPr id="27" name="Text 25"/>
          <p:cNvSpPr/>
          <p:nvPr/>
        </p:nvSpPr>
        <p:spPr>
          <a:xfrm>
            <a:off x="8092440" y="146304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后续评估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8092440" y="2148840"/>
            <a:ext cx="3429000" cy="3246120"/>
          </a:xfrm>
          <a:prstGeom prst="roundRect">
            <a:avLst>
              <a:gd name="adj" fmla="val 1972"/>
            </a:avLst>
          </a:prstGeom>
          <a:solidFill>
            <a:srgbClr val="F4FAF8"/>
          </a:solidFill>
          <a:ln/>
        </p:spPr>
      </p:sp>
      <p:sp>
        <p:nvSpPr>
          <p:cNvPr id="29" name="Shape 27"/>
          <p:cNvSpPr/>
          <p:nvPr/>
        </p:nvSpPr>
        <p:spPr>
          <a:xfrm>
            <a:off x="8385048" y="2560320"/>
            <a:ext cx="91440" cy="91440"/>
          </a:xfrm>
          <a:prstGeom prst="ellipse">
            <a:avLst/>
          </a:prstGeom>
          <a:solidFill>
            <a:srgbClr val="6FA99C"/>
          </a:solidFill>
          <a:ln/>
        </p:spPr>
      </p:sp>
      <p:sp>
        <p:nvSpPr>
          <p:cNvPr id="30" name="Text 28"/>
          <p:cNvSpPr/>
          <p:nvPr/>
        </p:nvSpPr>
        <p:spPr>
          <a:xfrm>
            <a:off x="8622792" y="2468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 / 语音输入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385048" y="3273552"/>
            <a:ext cx="91440" cy="91440"/>
          </a:xfrm>
          <a:prstGeom prst="ellipse">
            <a:avLst/>
          </a:prstGeom>
          <a:solidFill>
            <a:srgbClr val="6FA99C"/>
          </a:solidFill>
          <a:ln/>
        </p:spPr>
      </p:sp>
      <p:sp>
        <p:nvSpPr>
          <p:cNvPr id="32" name="Text 30"/>
          <p:cNvSpPr/>
          <p:nvPr/>
        </p:nvSpPr>
        <p:spPr>
          <a:xfrm>
            <a:off x="8622792" y="31821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微信等渠道接入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8385048" y="3986784"/>
            <a:ext cx="91440" cy="91440"/>
          </a:xfrm>
          <a:prstGeom prst="ellipse">
            <a:avLst/>
          </a:prstGeom>
          <a:solidFill>
            <a:srgbClr val="6FA99C"/>
          </a:solidFill>
          <a:ln/>
        </p:spPr>
      </p:sp>
      <p:sp>
        <p:nvSpPr>
          <p:cNvPr id="34" name="Text 32"/>
          <p:cNvSpPr/>
          <p:nvPr/>
        </p:nvSpPr>
        <p:spPr>
          <a:xfrm>
            <a:off x="8622792" y="389534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语义检索（Embedding）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94360" y="5715000"/>
            <a:ext cx="11000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图片、语音入口暂不能使用。目前只用合成数据演示，真实试点前还需补齐安全措施。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开发分工与开源组件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954512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主要开源组件 License</a:t>
            </a:r>
            <a:endParaRPr lang="en-US" sz="1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874520"/>
          <a:ext cx="50292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920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License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5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E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Next.js / React / Zod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E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MIT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E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Prisma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E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Apache-2.0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E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Lucide React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E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ISC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94360" y="40690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License 依据本机安装包元数据核对；完整依赖清单提交前复核。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126480" y="1371600"/>
            <a:ext cx="5486400" cy="2103120"/>
          </a:xfrm>
          <a:prstGeom prst="roundRect">
            <a:avLst>
              <a:gd name="adj" fmla="val 3043"/>
            </a:avLst>
          </a:prstGeom>
          <a:solidFill>
            <a:srgbClr val="EAF4F1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6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开发工作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400800" y="205740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OneCase 由参赛者独立开发，负责产品设计、业务规则、代码实现和测试。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126480" y="3657600"/>
            <a:ext cx="5486400" cy="2103120"/>
          </a:xfrm>
          <a:prstGeom prst="roundRect">
            <a:avLst>
              <a:gd name="adj" fmla="val 3043"/>
            </a:avLst>
          </a:prstGeom>
          <a:solidFill>
            <a:srgbClr val="F4FAF8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0" y="3886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6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辅助开发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400800" y="434340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编程工具用于辅助写代码和测试。需求、方案和最终检查由开发者负责；框架、模型和第三方代码注明来源。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3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5544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OneCase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594360" y="26060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84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先整理，工作人员再确认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32461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F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保留反馈来源，跟进处理进度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41148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DB8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下一步：和社区工作人员一起试用、比较效果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5806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B8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个人参赛 · AI+民生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个人参赛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OneCase — 社区事项 AI 工作台</dc:title>
  <dc:subject>PptxGenJS Presentation</dc:subject>
  <dc:creator>个人参赛</dc:creator>
  <cp:lastModifiedBy>个人参赛</cp:lastModifiedBy>
  <cp:revision>1</cp:revision>
  <dcterms:created xsi:type="dcterms:W3CDTF">2026-08-31T07:07:57Z</dcterms:created>
  <dcterms:modified xsi:type="dcterms:W3CDTF">2026-08-31T07:07:57Z</dcterms:modified>
</cp:coreProperties>
</file>