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006750f1428d4e9f" Type="http://schemas.openxmlformats.org/officeDocument/2006/relationships/extended-properties" Target="docProps/app.xml"/><Relationship Id="R65c4035a1f1e4dd4" Type="http://schemas.openxmlformats.org/package/2006/relationships/metadata/core-properties" Target="docProps/core.xml"/><Relationship Id="Rc350c8e35dca40cd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fb9dd483b3e468d"/>
  </p:sldMasterIdLst>
  <p:notesMasterIdLst>
    <p:notesMasterId xmlns:r="http://schemas.openxmlformats.org/officeDocument/2006/relationships" r:id="R9ab1f3be523244eb"/>
  </p:notesMasterIdLst>
  <p:sldIdLst>
    <p:sldId xmlns:r="http://schemas.openxmlformats.org/officeDocument/2006/relationships" id="256" r:id="R3fc05363b55846e6"/>
    <p:sldId xmlns:r="http://schemas.openxmlformats.org/officeDocument/2006/relationships" id="257" r:id="Rbee2401facaf4c88"/>
    <p:sldId xmlns:r="http://schemas.openxmlformats.org/officeDocument/2006/relationships" id="258" r:id="Rf50d097c11e14d13"/>
    <p:sldId xmlns:r="http://schemas.openxmlformats.org/officeDocument/2006/relationships" id="259" r:id="Ra94f2dd98aad4a06"/>
    <p:sldId xmlns:r="http://schemas.openxmlformats.org/officeDocument/2006/relationships" id="260" r:id="R68eabf86589f4a41"/>
    <p:sldId xmlns:r="http://schemas.openxmlformats.org/officeDocument/2006/relationships" id="261" r:id="R84d99c9ebf4f45d5"/>
    <p:sldId xmlns:r="http://schemas.openxmlformats.org/officeDocument/2006/relationships" id="262" r:id="R96d1743a52c641e9"/>
    <p:sldId xmlns:r="http://schemas.openxmlformats.org/officeDocument/2006/relationships" id="263" r:id="R09ab0932f51241c0"/>
    <p:sldId xmlns:r="http://schemas.openxmlformats.org/officeDocument/2006/relationships" id="264" r:id="R69c7405349ab42ee"/>
    <p:sldId xmlns:r="http://schemas.openxmlformats.org/officeDocument/2006/relationships" id="265" r:id="Rb7268ad673034d9d"/>
    <p:sldId xmlns:r="http://schemas.openxmlformats.org/officeDocument/2006/relationships" id="266" r:id="R7c021dc0cf1f4331"/>
    <p:sldId xmlns:r="http://schemas.openxmlformats.org/officeDocument/2006/relationships" id="267" r:id="R1c44b06487e04c26"/>
    <p:sldId xmlns:r="http://schemas.openxmlformats.org/officeDocument/2006/relationships" id="268" r:id="Rb255f11cd81a47ff"/>
    <p:sldId xmlns:r="http://schemas.openxmlformats.org/officeDocument/2006/relationships" id="269" r:id="R477707725c34450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<?xml version='1.0' encoding='UTF-8' standalone='yes'?>
<Relationships xmlns="http://schemas.openxmlformats.org/package/2006/relationships"><Relationship Id="R08a0f24506cc4d38" Type="http://schemas.openxmlformats.org/officeDocument/2006/relationships/theme" Target="theme/theme1.xml"/><Relationship Id="R09ab0932f51241c0" Type="http://schemas.openxmlformats.org/officeDocument/2006/relationships/slide" Target="slides/slide8.xml"/><Relationship Id="R0ade868b6ac54f1a" Type="http://schemas.openxmlformats.org/officeDocument/2006/relationships/viewProps" Target="viewProps.xml"/><Relationship Id="R1c44b06487e04c26" Type="http://schemas.openxmlformats.org/officeDocument/2006/relationships/slide" Target="slides/slide12.xml"/><Relationship Id="R2fb9dd483b3e468d" Type="http://schemas.openxmlformats.org/officeDocument/2006/relationships/slideMaster" Target="slideMasters/slideMaster1.xml"/><Relationship Id="R3fc05363b55846e6" Type="http://schemas.openxmlformats.org/officeDocument/2006/relationships/slide" Target="slides/slide1.xml"/><Relationship Id="R477707725c34450b" Type="http://schemas.openxmlformats.org/officeDocument/2006/relationships/slide" Target="slides/slide14.xml"/><Relationship Id="R68eabf86589f4a41" Type="http://schemas.openxmlformats.org/officeDocument/2006/relationships/slide" Target="slides/slide5.xml"/><Relationship Id="R69c7405349ab42ee" Type="http://schemas.openxmlformats.org/officeDocument/2006/relationships/slide" Target="slides/slide9.xml"/><Relationship Id="R7c021dc0cf1f4331" Type="http://schemas.openxmlformats.org/officeDocument/2006/relationships/slide" Target="slides/slide11.xml"/><Relationship Id="R84d99c9ebf4f45d5" Type="http://schemas.openxmlformats.org/officeDocument/2006/relationships/slide" Target="slides/slide6.xml"/><Relationship Id="R96d1743a52c641e9" Type="http://schemas.openxmlformats.org/officeDocument/2006/relationships/slide" Target="slides/slide7.xml"/><Relationship Id="R9ab1f3be523244eb" Type="http://schemas.openxmlformats.org/officeDocument/2006/relationships/notesMaster" Target="notesMasters/notesMaster1.xml"/><Relationship Id="Ra94f2dd98aad4a06" Type="http://schemas.openxmlformats.org/officeDocument/2006/relationships/slide" Target="slides/slide4.xml"/><Relationship Id="Rab95d84ab33141cb" Type="http://schemas.openxmlformats.org/officeDocument/2006/relationships/tableStyles" Target="tableStyles.xml"/><Relationship Id="Rb255f11cd81a47ff" Type="http://schemas.openxmlformats.org/officeDocument/2006/relationships/slide" Target="slides/slide13.xml"/><Relationship Id="Rb7268ad673034d9d" Type="http://schemas.openxmlformats.org/officeDocument/2006/relationships/slide" Target="slides/slide10.xml"/><Relationship Id="Rbe6ea7fec14541a5" Type="http://schemas.openxmlformats.org/officeDocument/2006/relationships/presProps" Target="presProps.xml"/><Relationship Id="Rbee2401facaf4c88" Type="http://schemas.openxmlformats.org/officeDocument/2006/relationships/slide" Target="slides/slide2.xml"/><Relationship Id="Rf50d097c11e14d13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315416494f494852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709ba6c30e814888" Type="http://schemas.openxmlformats.org/officeDocument/2006/relationships/notesMaster" Target="../notesMasters/notesMaster1.xml"/><Relationship Id="Re04aadcbb9d04acc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539eb61baed04031" Type="http://schemas.openxmlformats.org/officeDocument/2006/relationships/slide" Target="../slides/slide2.xml"/><Relationship Id="Rb27bfc514a3d4d87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0c09bbe5cc4d4f79" Type="http://schemas.openxmlformats.org/officeDocument/2006/relationships/notesMaster" Target="../notesMasters/notesMaster1.xml"/><Relationship Id="Rfaf1b211e0ec47a8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5c5dcb28b30f409a" Type="http://schemas.openxmlformats.org/officeDocument/2006/relationships/notesMaster" Target="../notesMasters/notesMaster1.xml"/><Relationship Id="Re63b7917ab384309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2f6d04116b994a97" Type="http://schemas.openxmlformats.org/officeDocument/2006/relationships/slide" Target="../slides/slide5.xml"/><Relationship Id="Rbda7c8ecf2fe4798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a2821d9950484b4c" Type="http://schemas.openxmlformats.org/officeDocument/2006/relationships/slide" Target="../slides/slide6.xml"/><Relationship Id="Rc9315fc8f1964fe4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6bfa58a288324b1c" Type="http://schemas.openxmlformats.org/officeDocument/2006/relationships/notesMaster" Target="../notesMasters/notesMaster1.xml"/><Relationship Id="R9ac0b3a6a3214af5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0c13925b08b14d3d" Type="http://schemas.openxmlformats.org/officeDocument/2006/relationships/slide" Target="../slides/slide8.xml"/><Relationship Id="Rc335ebfe9ebd47f4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13d2f0e1b2954723" Type="http://schemas.openxmlformats.org/officeDocument/2006/relationships/notesMaster" Target="../notesMasters/notesMaster1.xml"/><Relationship Id="Rd00751bb26164ab1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448c8962f51248b5" Type="http://schemas.openxmlformats.org/officeDocument/2006/relationships/slide" Target="../slides/slide10.xml"/><Relationship Id="R7c913ecc88504844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0f4804f2854547b8" Type="http://schemas.openxmlformats.org/officeDocument/2006/relationships/notesMaster" Target="../notesMasters/notesMaster1.xml"/><Relationship Id="Rfbccf1ca991b48ed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bc5dfb7ce80948ad" Type="http://schemas.openxmlformats.org/officeDocument/2006/relationships/notesMaster" Target="../notesMasters/notesMaster1.xml"/><Relationship Id="Re7a3877273b34b0e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4819ed78a62041ba" Type="http://schemas.openxmlformats.org/officeDocument/2006/relationships/slide" Target="../slides/slide13.xml"/><Relationship Id="R882cec863c2c4243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6f62476fb75945ca" Type="http://schemas.openxmlformats.org/officeDocument/2006/relationships/notesMaster" Target="../notesMasters/notesMaster1.xml"/><Relationship Id="Rbb60e4398dc84ff2" Type="http://schemas.openxmlformats.org/officeDocument/2006/relationships/slide" Target="../slides/slide14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大家好，我以个人身份参加 AI+民生赛道，项目叫 OneCase。它帮社区工作人员整理居民的文字反馈：先生成草稿，由人检查，再新建事项或关联已有事项，之后继续跟进处理进度。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看这条合成的留言：灯坏了，垃圾也没人清。它是一条消息，但说了两件需要分别处理的事。如果另一位居民已经报过这盏灯，还要核对是不是同一个问题。OneCase 想帮忙做的，就是记入台账前的这段整理工作。不过，这类工作在真实社区有多频繁、花多少时间，我还需要去了解。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个项目由我一个人开发。我先设计反馈如何拆分、什么时候需要确认、状态怎么变更，再实现页面、模型接口和数据存储，最后补测试和文档。目前我还缺少社区一线经验，所以接下来想找工作人员一起核对流程，看看这些设计是不是用得上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AI 分析完，系统不会直接创建正式事项。工作人员要先看草稿，必要时修改，再选择新建、关联或拒绝。原始反馈、草稿和正式事项分开保存，后面也能回看来源。这样，录入什么内容、关联哪件事，都要经过人的确认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左边是把一条反馈里的几个问题拆开，分别处理。右边是几条反馈都在说同一件事，经人工确认后，把来源关联到已有事项。系统根据标题词汇、地点、类别和时间列出候选，也会提示地点差异。这些提示只帮助判断，不保证没有误判，系统也不会自动合并事项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演示使用合成数据，开始前我会说明当前用的是真实模型还是 Mock；Mock 只用于检查操作流程。先贴入灯坏了和垃圾没清的留言，再检查两个草稿和相似事项。接着把照明问题关联到已有事项，为清运问题新建一条记录。最后打开详情，看看新增的来源、处理记录和首页统计。具体结果以现场输出为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草稿有错，可以先修改。新建事项使用修改后的字段；关联已有事项只增加反馈来源，不会直接改写原有内容。批量确认时，有草稿未处理就不提交这批记录，已经确认的反馈也不能重复提交。AI 失败后可以重试，符合条件时可以手动创建。这些规则有代码和测试，真实多人使用时仍需要进一步检查。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模型负责把反馈整理成结构化草稿，程序检查字段格式、相似候选、人工确认和状态变更。页面通过 API 读写数据库，原始反馈和处理记录都会保存。项目已有 Qwen、OpenAI、StepFun 的文字与图片消息适配；当前一条单张合成图片 Intake 已经 StepFun 分析并到达 Review，Qwen、OpenAI 的图片检查以及 StepFun 单元测试使用模拟响应。一次正常调用不能说明准确率或稳定性。Mock 只用于文字流程测试。当前查重用的是词汇、地点、类别和时间，没有使用 Embedding。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这次我重新跑了全仓 200 项单元测试——AI 包 74 项、Web 包 68 项、Contracts 包 25 项、domain 包 33 项——全部通过；另有 99 项业务不变量和 29 项端到端测试（E2E 已隔离专用库与端口）同口径通过。单元测试里的模型响应是模拟的，只能证明 Provider 装配、请求格式、输出校验和失败处理。当前一条带单张合成图片的 Intake 已由 StepFun 完成分析并到达 Review，数据库记录耗时 3449ms、生成 1 条 Issue；这仍不能说明图片识别准确率、稳定性，更不能代替代表性样本或社区使用效果。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收费方式还没有验证。我想先找一个愿意试用的社区服务方，把使用流程和需要补的条件理清楚，再做小范围比较。如果确实有用，再讨论部署配置和持续运维怎么收费。谁有预算、谁负责采购，以及模型调用和维护成本，都需要逐项确认；目前没有可验证的价格、合同或收入数据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我想先测两件事：整理一条反馈要多久，整理完有没有漏项或关联错事项。做法是用同一批经授权、脱敏的反馈，比较人工整理和 OneCase 辅助整理，记录中位耗时、字段错误和修改次数，同时算模型失败率、转人工次数和单次成本。什么结果算值得继续做，要和社区工作人员事先商量。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现在可以演示文字整理、草稿编辑、人工确认和事项跟踪，也能上传图片、查看预览、保存后刷新恢复。Qwen、OpenAI、StepFun 的图片消息链路已经接入；当前一条 StepFun 合成图片 Intake 已真实到达 Review，但代表性真实场景仍待验证。现场如果使用 Mock，要明确它不能识别图片，只展示上传、保存、失败恢复和转人工。语音入口已禁用，微信接入和语义检索也没做。真实试点前仍要补认证权限、组织数据隔离、访问频率限制和待确认草稿列表；现阶段只用合成数据演示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这里列了主要开源组件及许可证。项目由我独立开发，产品设计、业务规则、代码和测试都由我负责，写代码和测试时使用 AI 编程工具辅助。需求怎么定、方案怎么选、结果是否可用，仍由我检查。框架、模型和第三方代码会注明来源，不算作自己的原创成果。直接依赖的核对不覆盖所有传递依赖和素材。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OneCase 目前做到了把文字反馈整理成草稿，由人确认后持续跟进。下一步，我希望和社区工作人员一起试用，用授权后的脱敏样本看看它能不能减少整理时间、会不会带来新的错误。谢谢，欢迎提问。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f4c0a6a6dd0842b7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bba07885fe114efb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deeb3a0b911348cc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4a7337f31b914426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f830cc602f134ca4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6c9a233142ae4d2a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58c5cd8f24e04399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ed0eb8428b284b6c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587fc16ff99c4899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4b3565ba8440468c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5057c51db8714614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3CAD93D-BC5B-4903-A59F-5D4DFD399DDD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D595258-3854-4B37-9F97-8535E4031F54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4B47931-586D-47F6-BB08-9B8C9F1E12D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11CDE92-7688-49AB-933B-EDD7382B3EB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FEE3AC1-7BDB-49ED-8F79-F45EE41D7D4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774B9CE-CBF0-4995-86CB-D9D2183791F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3C4A90C7-F4FB-44FE-A0AD-168B2EF5F35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A23BAE6-313A-4844-939E-88A0150ACB3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846E837-0AE8-47B5-83D5-647790B9175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588B281-F7D9-4866-B83C-3D741F304C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EE930C2-241B-4ACE-96C3-9F35B56C939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9F7C4C13-E7B5-471D-9E5E-8BFEEC1DF8D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9438B16-0775-4CB7-AFF2-7EB40F379DE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4461465-6D53-4345-A73C-8F872A4A401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6670840-0104-4D40-9385-E6C091948E9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B3BAF53-EEB1-41A1-A7EF-4A69420E09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C54EC883-D615-4F53-9934-6D75B9890427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8B5A6269-F810-4528-870E-870F55818AA3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E93F684F-520C-4DF6-BFB4-70335C9D943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2FA33089-E08E-41F9-8A08-E1D85BFDD7B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0579E504-F89E-41FC-AEA0-E8359372D6E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416F603-A1C7-470B-9A3C-D122FFF2BBB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30E304B3-648F-4003-82E1-511BC32B1D5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D6832472-E94B-4C3A-8919-3432D2A8A0CC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5F355043-AE80-46E7-9D8D-B5B14D7B92FC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6AACCA6C-C8B6-48DE-81D3-8798F3F71232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48A8AE19-8042-47D4-80AC-E86C6080F17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295A4C8C-E6A9-4D14-B55B-1BD86573965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5091348C-61EC-4158-9DCF-432538EB95F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087D9C9-DBE0-44F1-8FB9-E942F67E69C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D8D1DF63-155C-430D-A997-FB1752F63D2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FAA015BA-CE95-4ECD-8DDC-4E9A3AD7DC7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C05FC2E0-8BE1-4DD1-B8EA-694010FEFDF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24979213-296D-46E6-ADCB-3FEFFE37076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AA9F182C-0CA3-4BDF-9C41-C280A49E8F9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149A51D6-B0C8-4FCC-BE4A-AAB48D1FC91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A3A7453-3641-463C-B5A1-61753F831B1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6BA72AF-CA88-49D8-8188-0FC4F59FB583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F7641F62-A1C6-4568-8DA5-345E368D6B9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7978C3BE-818B-4E67-97E8-21E0DF97655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C462D5F5-69CB-48BA-816D-D94C12C418D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3FDBF280-7BDC-4BE7-ADBF-127987593CE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DD3B571-9924-410B-ADE1-0FA326046D4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EAACE869-403C-4CC1-B1E9-FAEDE5FB3DEC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1F23EEB-336E-4364-8037-C689BBD93989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38D8072B-CFA5-4A6D-B000-C3FC16B2F7B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E6019035-3D80-4405-B49B-39C41317012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D95494D-5F10-4B6D-97C5-A3FA89C26DB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AB0932E-8BB4-4CD8-9AE3-7CE3F6A9AAC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9F800720-BA17-46FF-B2DA-9C5B24B553E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72D246F1-57D0-452C-A3DC-5B2285C9379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7605901-F870-42B0-A5CD-725DB40FF92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1CD0D16-419D-4075-8C04-FE9D4BC4A52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CB58176D-8F34-4A5F-A57D-7EDB63BFA51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38310FF8-0501-4604-977B-D35E27E1877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71CC8EAA-A714-4348-A514-941389CF8FE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EB7124A-A7D3-4010-A913-F33FDAC09DE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3BC474F-E973-4496-AF17-AF73EC9FA2D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3cc7cdc76e994198" Type="http://schemas.openxmlformats.org/officeDocument/2006/relationships/theme" Target="theme/theme2.xml"/><Relationship Id="R4bd53d29198f4274" Type="http://schemas.openxmlformats.org/officeDocument/2006/relationships/slideLayout" Target="../slideLayouts/slideLayout11.xml"/><Relationship Id="R71c6620624d84a1b" Type="http://schemas.openxmlformats.org/officeDocument/2006/relationships/slideLayout" Target="../slideLayouts/slideLayout2.xml"/><Relationship Id="R758d24c1aa454ca8" Type="http://schemas.openxmlformats.org/officeDocument/2006/relationships/slideLayout" Target="../slideLayouts/slideLayout4.xml"/><Relationship Id="R8b517549705b4147" Type="http://schemas.openxmlformats.org/officeDocument/2006/relationships/slideLayout" Target="../slideLayouts/slideLayout3.xml"/><Relationship Id="R92c6a5cadae74151" Type="http://schemas.openxmlformats.org/officeDocument/2006/relationships/slideLayout" Target="../slideLayouts/slideLayout7.xml"/><Relationship Id="Rb3799a8c777e4a67" Type="http://schemas.openxmlformats.org/officeDocument/2006/relationships/slideLayout" Target="../slideLayouts/slideLayout8.xml"/><Relationship Id="Rb7f5f850d8b44e8b" Type="http://schemas.openxmlformats.org/officeDocument/2006/relationships/slideLayout" Target="../slideLayouts/slideLayout10.xml"/><Relationship Id="Rc0d17be025ee4dfc" Type="http://schemas.openxmlformats.org/officeDocument/2006/relationships/slideLayout" Target="../slideLayouts/slideLayout6.xml"/><Relationship Id="Rd8149009135f41ad" Type="http://schemas.openxmlformats.org/officeDocument/2006/relationships/slideLayout" Target="../slideLayouts/slideLayout9.xml"/><Relationship Id="Re348762c208f49f6" Type="http://schemas.openxmlformats.org/officeDocument/2006/relationships/slideLayout" Target="../slideLayouts/slideLayout1.xml"/><Relationship Id="Rec1b10a59f0841be" Type="http://schemas.openxmlformats.org/officeDocument/2006/relationships/slideLayout" Target="../slideLayouts/slideLayout5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1B99E911-0E7B-4247-9EF6-512AF687E6D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9236E3FA-7542-460C-8EA3-EDF02F9AC40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D4C8F60-8BAB-4661-B079-7FD68017BFFA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C383FB89-D893-49B2-B826-F937A5CB2EBA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5F56CD5-2B53-4B89-82E6-778DF36721A6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348762c208f49f6"/>
    <p:sldLayoutId xmlns:r="http://schemas.openxmlformats.org/officeDocument/2006/relationships" id="2147483650" r:id="R71c6620624d84a1b"/>
    <p:sldLayoutId xmlns:r="http://schemas.openxmlformats.org/officeDocument/2006/relationships" id="2147483651" r:id="R8b517549705b4147"/>
    <p:sldLayoutId xmlns:r="http://schemas.openxmlformats.org/officeDocument/2006/relationships" id="2147483652" r:id="R758d24c1aa454ca8"/>
    <p:sldLayoutId xmlns:r="http://schemas.openxmlformats.org/officeDocument/2006/relationships" id="2147483653" r:id="Rec1b10a59f0841be"/>
    <p:sldLayoutId xmlns:r="http://schemas.openxmlformats.org/officeDocument/2006/relationships" id="2147483654" r:id="Rc0d17be025ee4dfc"/>
    <p:sldLayoutId xmlns:r="http://schemas.openxmlformats.org/officeDocument/2006/relationships" id="2147483655" r:id="R92c6a5cadae74151"/>
    <p:sldLayoutId xmlns:r="http://schemas.openxmlformats.org/officeDocument/2006/relationships" id="2147483656" r:id="Rb3799a8c777e4a67"/>
    <p:sldLayoutId xmlns:r="http://schemas.openxmlformats.org/officeDocument/2006/relationships" id="2147483657" r:id="Rd8149009135f41ad"/>
    <p:sldLayoutId xmlns:r="http://schemas.openxmlformats.org/officeDocument/2006/relationships" id="2147483658" r:id="Rb7f5f850d8b44e8b"/>
    <p:sldLayoutId xmlns:r="http://schemas.openxmlformats.org/officeDocument/2006/relationships" id="2147483659" r:id="R4bd53d29198f4274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1aa15e9bd9274fb1" Type="http://schemas.openxmlformats.org/officeDocument/2006/relationships/notesSlide" Target="../notesSlides/notesSlide1.xml"/><Relationship Id="R472f5f51f524433a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95a02d6f130f4dea" Type="http://schemas.openxmlformats.org/officeDocument/2006/relationships/slideLayout" Target="../slideLayouts/slideLayout1.xml"/><Relationship Id="R99597305febc4cbf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350efd9b594c462c" Type="http://schemas.openxmlformats.org/officeDocument/2006/relationships/notesSlide" Target="../notesSlides/notesSlide3.xml"/><Relationship Id="Ra7f8f97dab40440e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5620430ce2384a44" Type="http://schemas.openxmlformats.org/officeDocument/2006/relationships/notesSlide" Target="../notesSlides/notesSlide4.xml"/><Relationship Id="R8cfa64b1edec444e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1b78d5bf5fe6497f" Type="http://schemas.openxmlformats.org/officeDocument/2006/relationships/notesSlide" Target="../notesSlides/notesSlide5.xml"/><Relationship Id="Ra6bae9cc19be4ba8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a990ee62a7ce4d61" Type="http://schemas.openxmlformats.org/officeDocument/2006/relationships/slideLayout" Target="../slideLayouts/slideLayout1.xml"/><Relationship Id="Rb5c3b6edf2994b00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9e6b02ec4f0b4cf0" Type="http://schemas.openxmlformats.org/officeDocument/2006/relationships/notesSlide" Target="../notesSlides/notesSlide7.xml"/><Relationship Id="Rf5b2a41238364f0e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35897695c0b24eb4" Type="http://schemas.openxmlformats.org/officeDocument/2006/relationships/notesSlide" Target="../notesSlides/notesSlide8.xml"/><Relationship Id="R9e99220ca7104eb9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1677cb04e5cf4c52" Type="http://schemas.openxmlformats.org/officeDocument/2006/relationships/notesSlide" Target="../notesSlides/notesSlide9.xml"/><Relationship Id="Rd174adbd347e43dc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2afc38075a994ac3" Type="http://schemas.openxmlformats.org/officeDocument/2006/relationships/slideLayout" Target="../slideLayouts/slideLayout1.xml"/><Relationship Id="Ra61b6d56bc4c427d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22eb3e6fb4554e92" Type="http://schemas.openxmlformats.org/officeDocument/2006/relationships/slideLayout" Target="../slideLayouts/slideLayout1.xml"/><Relationship Id="R35fb05d82ee54309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89a1363c386f4eba" Type="http://schemas.openxmlformats.org/officeDocument/2006/relationships/notesSlide" Target="../notesSlides/notesSlide12.xml"/><Relationship Id="Rc4643de267b240be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2a23c10f55c64dfd" Type="http://schemas.openxmlformats.org/officeDocument/2006/relationships/slideLayout" Target="../slideLayouts/slideLayout1.xml"/><Relationship Id="R4d06833498944a5f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28eb39105f674622" Type="http://schemas.openxmlformats.org/officeDocument/2006/relationships/slideLayout" Target="../slideLayouts/slideLayout1.xml"/><Relationship Id="Rb43f625b6e394198" Type="http://schemas.openxmlformats.org/officeDocument/2006/relationships/notesSlide" Target="../notesSlides/notesSlide14.xml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2">
            <a:extLst xmlns:a="http://schemas.openxmlformats.org/drawingml/2006/main">
              <a:ext uri="{FF2B5EF4-FFF2-40B4-BE49-F238E27FC236}">
                <a16:creationId xmlns:a16="http://schemas.microsoft.com/office/drawing/2014/main" id="{DC8020B9-43B2-4932-B548-6B3012EF3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7"/>
          </a:solidFill>
          <a:ln xmlns:a="http://schemas.openxmlformats.org/drawingml/2006/main">
            <a:noFill/>
          </a:ln>
        </p:spPr>
      </p:sp>
      <p:sp>
        <p:nvSpPr>
          <p:cNvPr id="3" name="TextBox 3">
            <a:extLst xmlns:a="http://schemas.openxmlformats.org/drawingml/2006/main">
              <a:ext uri="{FF2B5EF4-FFF2-40B4-BE49-F238E27FC236}">
                <a16:creationId xmlns:a16="http://schemas.microsoft.com/office/drawing/2014/main" id="{06813817-A4D8-4DE9-87DD-7FA0F5735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3504" y="289560"/>
            <a:ext cx="3183331" cy="2346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spc="150">
                <a:solidFill>
                  <a:srgbClr val="5C6B64"/>
                </a:solidFill>
                <a:latin typeface="SimSun"/>
                <a:ea typeface="SimSun"/>
                <a:cs typeface="SimSun"/>
              </a:rPr>
              <a:t>江岸计划</a:t>
            </a:r>
            <a:r>
              <a:rPr sz="1200" spc="150">
                <a:solidFill>
                  <a:srgbClr val="5C6B64"/>
                </a:solidFill>
                <a:latin typeface="Georgia"/>
                <a:ea typeface="Georgia"/>
                <a:cs typeface="Georgia"/>
              </a:rPr>
              <a:t> · AI </a:t>
            </a:r>
            <a:r>
              <a:rPr sz="1200" spc="150">
                <a:solidFill>
                  <a:srgbClr val="5C6B64"/>
                </a:solidFill>
                <a:latin typeface="SimSun"/>
                <a:ea typeface="SimSun"/>
                <a:cs typeface="SimSun"/>
              </a:rPr>
              <a:t>黑客松创新大赛</a:t>
            </a:r>
          </a:p>
        </p:txBody>
      </p:sp>
      <p:sp>
        <p:nvSpPr>
          <p:cNvPr id="4" name="TextBox 4">
            <a:extLst xmlns:a="http://schemas.openxmlformats.org/drawingml/2006/main">
              <a:ext uri="{FF2B5EF4-FFF2-40B4-BE49-F238E27FC236}">
                <a16:creationId xmlns:a16="http://schemas.microsoft.com/office/drawing/2014/main" id="{23F06EEC-0F51-47CA-8813-725778521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029548" y="289560"/>
            <a:ext cx="2558948" cy="2346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200" spc="225">
                <a:solidFill>
                  <a:srgbClr val="5C6B64"/>
                </a:solidFill>
                <a:latin typeface="Georgia"/>
                <a:ea typeface="Georgia"/>
                <a:cs typeface="Georgia"/>
              </a:rPr>
              <a:t>PRELIMINARY · 2026</a:t>
            </a:r>
          </a:p>
        </p:txBody>
      </p:sp>
      <p:sp>
        <p:nvSpPr>
          <p:cNvPr id="5" name="Line 5">
            <a:extLst xmlns:a="http://schemas.openxmlformats.org/drawingml/2006/main">
              <a:ext uri="{FF2B5EF4-FFF2-40B4-BE49-F238E27FC236}">
                <a16:creationId xmlns:a16="http://schemas.microsoft.com/office/drawing/2014/main" id="{58DBCC40-68C9-4995-B515-4E6785017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9600" y="552450"/>
            <a:ext cx="10972800" cy="9525"/>
          </a:xfrm>
          <a:custGeom xmlns:a="http://schemas.openxmlformats.org/drawingml/2006/main"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E4D40"/>
            </a:solidFill>
          </a:ln>
        </p:spPr>
      </p:sp>
      <p:sp>
        <p:nvSpPr>
          <p:cNvPr id="6" name="Line 6">
            <a:extLst xmlns:a="http://schemas.openxmlformats.org/drawingml/2006/main">
              <a:ext uri="{FF2B5EF4-FFF2-40B4-BE49-F238E27FC236}">
                <a16:creationId xmlns:a16="http://schemas.microsoft.com/office/drawing/2014/main" id="{A76D6C61-4267-4EC0-BF6A-590D60A03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9600" y="628650"/>
            <a:ext cx="10972800" cy="9525"/>
          </a:xfrm>
          <a:custGeom xmlns:a="http://schemas.openxmlformats.org/drawingml/2006/main"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D8DED6"/>
            </a:solidFill>
          </a:ln>
        </p:spPr>
      </p:sp>
      <p:sp>
        <p:nvSpPr>
          <p:cNvPr id="8" name="TextBox 8">
            <a:extLst xmlns:a="http://schemas.openxmlformats.org/drawingml/2006/main">
              <a:ext uri="{FF2B5EF4-FFF2-40B4-BE49-F238E27FC236}">
                <a16:creationId xmlns:a16="http://schemas.microsoft.com/office/drawing/2014/main" id="{1E0482A1-5FE4-4C7F-9390-27D496C4F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3504" y="1203960"/>
            <a:ext cx="3633765" cy="2346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 spc="375">
                <a:solidFill>
                  <a:srgbClr val="D97B29"/>
                </a:solidFill>
                <a:latin typeface="Arial"/>
                <a:ea typeface="Arial"/>
                <a:cs typeface="Arial"/>
              </a:rPr>
              <a:t>AI+</a:t>
            </a:r>
            <a:r>
              <a:rPr sz="1200" b="1" spc="375">
                <a:solidFill>
                  <a:srgbClr val="D97B29"/>
                </a:solidFill>
                <a:latin typeface="Microsoft YaHei"/>
                <a:ea typeface="Microsoft YaHei"/>
                <a:cs typeface="Microsoft YaHei"/>
              </a:rPr>
              <a:t>民生赛道</a:t>
            </a:r>
            <a:r>
              <a:rPr sz="1200" b="1" spc="375">
                <a:solidFill>
                  <a:srgbClr val="D97B29"/>
                </a:solidFill>
                <a:latin typeface="Arial"/>
                <a:ea typeface="Arial"/>
                <a:cs typeface="Arial"/>
              </a:rPr>
              <a:t> · </a:t>
            </a:r>
            <a:r>
              <a:rPr sz="1200" b="1" spc="375">
                <a:solidFill>
                  <a:srgbClr val="D97B29"/>
                </a:solidFill>
                <a:latin typeface="Microsoft YaHei"/>
                <a:ea typeface="Microsoft YaHei"/>
                <a:cs typeface="Microsoft YaHei"/>
              </a:rPr>
              <a:t>个人参赛</a:t>
            </a:r>
          </a:p>
        </p:txBody>
      </p:sp>
      <p:sp>
        <p:nvSpPr>
          <p:cNvPr id="10" name="TextBox 10">
            <a:extLst xmlns:a="http://schemas.openxmlformats.org/drawingml/2006/main">
              <a:ext uri="{FF2B5EF4-FFF2-40B4-BE49-F238E27FC236}">
                <a16:creationId xmlns:a16="http://schemas.microsoft.com/office/drawing/2014/main" id="{4C4F69BC-C3C2-4DC0-BB70-D9074F8A9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52450" y="1912620"/>
            <a:ext cx="3504408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5400" b="1">
                <a:solidFill>
                  <a:srgbClr val="1E4D40"/>
                </a:solidFill>
                <a:latin typeface="Georgia"/>
                <a:ea typeface="Georgia"/>
                <a:cs typeface="Georgia"/>
              </a:rPr>
              <a:t>OneCase</a:t>
            </a:r>
          </a:p>
        </p:txBody>
      </p:sp>
      <p:sp>
        <p:nvSpPr>
          <p:cNvPr id="11" name="TextBox 11">
            <a:extLst xmlns:a="http://schemas.openxmlformats.org/drawingml/2006/main">
              <a:ext uri="{FF2B5EF4-FFF2-40B4-BE49-F238E27FC236}">
                <a16:creationId xmlns:a16="http://schemas.microsoft.com/office/drawing/2014/main" id="{324EBB82-015E-4693-92EB-637F5B9EC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97408" y="2884170"/>
            <a:ext cx="5827776" cy="4693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>
                <a:solidFill>
                  <a:srgbClr val="22302B"/>
                </a:solidFill>
                <a:latin typeface="SimSun"/>
                <a:ea typeface="SimSun"/>
                <a:cs typeface="SimSun"/>
              </a:rPr>
              <a:t>把居民反馈整理成事项，跟进处理进度</a:t>
            </a:r>
          </a:p>
        </p:txBody>
      </p:sp>
      <p:sp>
        <p:nvSpPr>
          <p:cNvPr id="13" name="Line 13">
            <a:extLst xmlns:a="http://schemas.openxmlformats.org/drawingml/2006/main">
              <a:ext uri="{FF2B5EF4-FFF2-40B4-BE49-F238E27FC236}">
                <a16:creationId xmlns:a16="http://schemas.microsoft.com/office/drawing/2014/main" id="{41ECADA7-9215-4572-A5DA-F79F6E2CF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9600" y="3886200"/>
            <a:ext cx="9525" cy="990600"/>
          </a:xfrm>
          <a:custGeom xmlns:a="http://schemas.openxmlformats.org/drawingml/2006/main">
            <a:rect l="l" t="t" r="r" b="b"/>
            <a:pathLst>
              <a:path w="9525" h="990600">
                <a:moveTo>
                  <a:pt x="0" y="0"/>
                </a:moveTo>
                <a:lnTo>
                  <a:pt x="0" y="990600"/>
                </a:lnTo>
              </a:path>
            </a:pathLst>
          </a:custGeom>
          <a:noFill xmlns:a="http://schemas.openxmlformats.org/drawingml/2006/main"/>
          <a:ln xmlns:a="http://schemas.openxmlformats.org/drawingml/2006/main" w="38100">
            <a:solidFill>
              <a:srgbClr val="D97B29"/>
            </a:solidFill>
          </a:ln>
        </p:spPr>
      </p:sp>
      <p:sp>
        <p:nvSpPr>
          <p:cNvPr id="14" name="TextBox 14">
            <a:extLst xmlns:a="http://schemas.openxmlformats.org/drawingml/2006/main">
              <a:ext uri="{FF2B5EF4-FFF2-40B4-BE49-F238E27FC236}">
                <a16:creationId xmlns:a16="http://schemas.microsoft.com/office/drawing/2014/main" id="{020BCDA2-A080-4552-88E6-B718E8936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03732" y="4002405"/>
            <a:ext cx="7548677" cy="41071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00">
                <a:solidFill>
                  <a:srgbClr val="22302B"/>
                </a:solidFill>
                <a:latin typeface="SimSun"/>
                <a:ea typeface="SimSun"/>
                <a:cs typeface="SimSun"/>
              </a:rPr>
              <a:t>“三栋二单元的灯又坏了……另外楼下垃圾今天也没人清。”</a:t>
            </a:r>
          </a:p>
        </p:txBody>
      </p:sp>
      <p:sp>
        <p:nvSpPr>
          <p:cNvPr id="15" name="TextBox 15">
            <a:extLst xmlns:a="http://schemas.openxmlformats.org/drawingml/2006/main">
              <a:ext uri="{FF2B5EF4-FFF2-40B4-BE49-F238E27FC236}">
                <a16:creationId xmlns:a16="http://schemas.microsoft.com/office/drawing/2014/main" id="{5B5070F4-BD3F-415D-9946-3AB1EF698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07542" y="4540568"/>
            <a:ext cx="6431212" cy="2640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50">
                <a:solidFill>
                  <a:srgbClr val="5C6B64"/>
                </a:solidFill>
                <a:latin typeface="Microsoft YaHei"/>
                <a:ea typeface="Microsoft YaHei"/>
                <a:cs typeface="Microsoft YaHei"/>
              </a:rPr>
              <a:t>合成示例：灯坏了、垃圾没人清，需要分别跟进。</a:t>
            </a:r>
          </a:p>
        </p:txBody>
      </p:sp>
      <p:sp>
        <p:nvSpPr>
          <p:cNvPr id="17" name="Line 17">
            <a:extLst xmlns:a="http://schemas.openxmlformats.org/drawingml/2006/main">
              <a:ext uri="{FF2B5EF4-FFF2-40B4-BE49-F238E27FC236}">
                <a16:creationId xmlns:a16="http://schemas.microsoft.com/office/drawing/2014/main" id="{D57CAC7C-B004-446D-9C28-711C9A4E6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9600" y="6172200"/>
            <a:ext cx="10972800" cy="9525"/>
          </a:xfrm>
          <a:custGeom xmlns:a="http://schemas.openxmlformats.org/drawingml/2006/main"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D8DED6"/>
            </a:solidFill>
          </a:ln>
        </p:spPr>
      </p:sp>
      <p:sp>
        <p:nvSpPr>
          <p:cNvPr id="18" name="TextBox 18">
            <a:extLst xmlns:a="http://schemas.openxmlformats.org/drawingml/2006/main">
              <a:ext uri="{FF2B5EF4-FFF2-40B4-BE49-F238E27FC236}">
                <a16:creationId xmlns:a16="http://schemas.microsoft.com/office/drawing/2014/main" id="{4BCB3554-B302-4B94-8C9F-2FB67762D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3504" y="6404610"/>
            <a:ext cx="2160727" cy="2346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>
                <a:solidFill>
                  <a:srgbClr val="5C6B64"/>
                </a:solidFill>
                <a:latin typeface="Microsoft YaHei"/>
                <a:ea typeface="Microsoft YaHei"/>
                <a:cs typeface="Microsoft YaHei"/>
              </a:rPr>
              <a:t>个人参赛</a:t>
            </a:r>
          </a:p>
        </p:txBody>
      </p:sp>
      <p:sp>
        <p:nvSpPr>
          <p:cNvPr id="19" name="TextBox 19">
            <a:extLst xmlns:a="http://schemas.openxmlformats.org/drawingml/2006/main">
              <a:ext uri="{FF2B5EF4-FFF2-40B4-BE49-F238E27FC236}">
                <a16:creationId xmlns:a16="http://schemas.microsoft.com/office/drawing/2014/main" id="{F3FAFFCC-5168-4CF7-882D-1D8B6B9C5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154717" y="6404610"/>
            <a:ext cx="1433779" cy="2346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200">
                <a:solidFill>
                  <a:srgbClr val="8A968F"/>
                </a:solidFill>
                <a:latin typeface="Arial"/>
                <a:ea typeface="Arial"/>
                <a:cs typeface="Arial"/>
              </a:rPr>
              <a:t>2026.09 · </a:t>
            </a:r>
            <a:r>
              <a:rPr sz="1200">
                <a:solidFill>
                  <a:srgbClr val="8A968F"/>
                </a:solidFill>
                <a:latin typeface="Microsoft YaHei"/>
                <a:ea typeface="Microsoft YaHei"/>
                <a:cs typeface="Microsoft YaHei"/>
              </a:rPr>
              <a:t>南京</a:t>
            </a:r>
          </a:p>
        </p:txBody>
      </p:sp>
    </p:spTree>
    <p:extLst>
      <p:ext uri="{BB962C8B-B14F-4D97-AF65-F5344CB8AC3E}">
        <p14:creationId xmlns:p14="http://schemas.microsoft.com/office/powerpoint/2010/main" val="488078613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2">
            <a:extLst xmlns:a="http://schemas.openxmlformats.org/drawingml/2006/main">
              <a:ext uri="{FF2B5EF4-FFF2-40B4-BE49-F238E27FC236}">
                <a16:creationId xmlns:a16="http://schemas.microsoft.com/office/drawing/2014/main" id="{7BD53855-7458-40EB-A299-2A16A41E8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7"/>
          </a:solidFill>
          <a:ln xmlns:a="http://schemas.openxmlformats.org/drawingml/2006/main">
            <a:noFill/>
          </a:ln>
        </p:spPr>
      </p:sp>
      <p:sp>
        <p:nvSpPr>
          <p:cNvPr id="3" name="TextBox 3">
            <a:extLst xmlns:a="http://schemas.openxmlformats.org/drawingml/2006/main">
              <a:ext uri="{FF2B5EF4-FFF2-40B4-BE49-F238E27FC236}">
                <a16:creationId xmlns:a16="http://schemas.microsoft.com/office/drawing/2014/main" id="{5CEB3AE5-B40F-4B91-B303-34C991A4F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3504" y="594360"/>
            <a:ext cx="2598108" cy="2346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 spc="300">
                <a:solidFill>
                  <a:srgbClr val="D97B29"/>
                </a:solidFill>
                <a:latin typeface="Microsoft YaHei"/>
                <a:ea typeface="Microsoft YaHei"/>
                <a:cs typeface="Microsoft YaHei"/>
              </a:rPr>
              <a:t>问题</a:t>
            </a:r>
            <a:r>
              <a:rPr sz="1200" b="1" spc="300">
                <a:solidFill>
                  <a:srgbClr val="D97B29"/>
                </a:solidFill>
                <a:latin typeface="Arial"/>
                <a:ea typeface="Arial"/>
                <a:cs typeface="Arial"/>
              </a:rPr>
              <a:t> · </a:t>
            </a:r>
            <a:r>
              <a:rPr sz="1200" b="1" spc="300">
                <a:solidFill>
                  <a:srgbClr val="D97B29"/>
                </a:solidFill>
                <a:latin typeface="Microsoft YaHei"/>
                <a:ea typeface="Microsoft YaHei"/>
                <a:cs typeface="Microsoft YaHei"/>
              </a:rPr>
              <a:t>反馈如何记入台账</a:t>
            </a:r>
          </a:p>
        </p:txBody>
      </p:sp>
      <p:sp>
        <p:nvSpPr>
          <p:cNvPr id="4" name="TextBox 4">
            <a:extLst xmlns:a="http://schemas.openxmlformats.org/drawingml/2006/main">
              <a:ext uri="{FF2B5EF4-FFF2-40B4-BE49-F238E27FC236}">
                <a16:creationId xmlns:a16="http://schemas.microsoft.com/office/drawing/2014/main" id="{F654FE26-C3A3-454E-BF1A-C468C635D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93598" y="783908"/>
            <a:ext cx="5677510" cy="6160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150" b="1">
                <a:solidFill>
                  <a:srgbClr val="1E4D40"/>
                </a:solidFill>
                <a:latin typeface="SimSun"/>
                <a:ea typeface="SimSun"/>
                <a:cs typeface="SimSun"/>
              </a:rPr>
              <a:t>一条留言，说了两件事</a:t>
            </a:r>
          </a:p>
        </p:txBody>
      </p:sp>
      <p:sp>
        <p:nvSpPr>
          <p:cNvPr id="5" name="Line 5">
            <a:extLst xmlns:a="http://schemas.openxmlformats.org/drawingml/2006/main">
              <a:ext uri="{FF2B5EF4-FFF2-40B4-BE49-F238E27FC236}">
                <a16:creationId xmlns:a16="http://schemas.microsoft.com/office/drawing/2014/main" id="{6A81C628-3DDA-4FD6-8E7D-A074041AE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9600" y="1352550"/>
            <a:ext cx="10972800" cy="9525"/>
          </a:xfrm>
          <a:custGeom xmlns:a="http://schemas.openxmlformats.org/drawingml/2006/main"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D8DED6"/>
            </a:solidFill>
          </a:ln>
        </p:spPr>
      </p:sp>
      <p:sp>
        <p:nvSpPr>
          <p:cNvPr id="7" name="TextBox 7">
            <a:extLst xmlns:a="http://schemas.openxmlformats.org/drawingml/2006/main">
              <a:ext uri="{FF2B5EF4-FFF2-40B4-BE49-F238E27FC236}">
                <a16:creationId xmlns:a16="http://schemas.microsoft.com/office/drawing/2014/main" id="{2829901E-1C19-416F-9DEB-8D74F2532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97408" y="1760220"/>
            <a:ext cx="418673" cy="4693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1E4D40"/>
                </a:solidFill>
                <a:latin typeface="Georgia"/>
                <a:ea typeface="Georgia"/>
                <a:cs typeface="Georgia"/>
              </a:rPr>
              <a:t>01</a:t>
            </a:r>
          </a:p>
        </p:txBody>
      </p:sp>
      <p:sp>
        <p:nvSpPr>
          <p:cNvPr id="8" name="TextBox 8">
            <a:extLst xmlns:a="http://schemas.openxmlformats.org/drawingml/2006/main">
              <a:ext uri="{FF2B5EF4-FFF2-40B4-BE49-F238E27FC236}">
                <a16:creationId xmlns:a16="http://schemas.microsoft.com/office/drawing/2014/main" id="{4CC50D4C-504A-4530-9366-03735D8AF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419606" y="1767840"/>
            <a:ext cx="1036015" cy="3520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22302B"/>
                </a:solidFill>
                <a:latin typeface="Microsoft YaHei"/>
                <a:ea typeface="Microsoft YaHei"/>
                <a:cs typeface="Microsoft YaHei"/>
              </a:rPr>
              <a:t>一条消息</a:t>
            </a:r>
          </a:p>
        </p:txBody>
      </p:sp>
      <p:sp>
        <p:nvSpPr>
          <p:cNvPr id="9" name="TextBox 9">
            <a:extLst xmlns:a="http://schemas.openxmlformats.org/drawingml/2006/main">
              <a:ext uri="{FF2B5EF4-FFF2-40B4-BE49-F238E27FC236}">
                <a16:creationId xmlns:a16="http://schemas.microsoft.com/office/drawing/2014/main" id="{8E81DE17-4D9D-4539-8D46-E253E3FA4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421892" y="2140268"/>
            <a:ext cx="5665737" cy="2640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50">
                <a:solidFill>
                  <a:srgbClr val="5C6B64"/>
                </a:solidFill>
                <a:latin typeface="Microsoft YaHei"/>
                <a:ea typeface="Microsoft YaHei"/>
                <a:cs typeface="Microsoft YaHei"/>
              </a:rPr>
              <a:t>灯坏了、垃圾没人清，需要分开记录和处理。</a:t>
            </a:r>
          </a:p>
        </p:txBody>
      </p:sp>
      <p:sp>
        <p:nvSpPr>
          <p:cNvPr id="10" name="Line 10">
            <a:extLst xmlns:a="http://schemas.openxmlformats.org/drawingml/2006/main">
              <a:ext uri="{FF2B5EF4-FFF2-40B4-BE49-F238E27FC236}">
                <a16:creationId xmlns:a16="http://schemas.microsoft.com/office/drawing/2014/main" id="{C982F341-FDF1-44E7-8A83-E4F06D2A9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9600" y="2647950"/>
            <a:ext cx="7200900" cy="9525"/>
          </a:xfrm>
          <a:custGeom xmlns:a="http://schemas.openxmlformats.org/drawingml/2006/main">
            <a:rect l="l" t="t" r="r" b="b"/>
            <a:pathLst>
              <a:path w="7200900" h="9525">
                <a:moveTo>
                  <a:pt x="0" y="0"/>
                </a:moveTo>
                <a:lnTo>
                  <a:pt x="72009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E4E8E1"/>
            </a:solidFill>
          </a:ln>
        </p:spPr>
      </p:sp>
      <p:sp>
        <p:nvSpPr>
          <p:cNvPr id="12" name="TextBox 12">
            <a:extLst xmlns:a="http://schemas.openxmlformats.org/drawingml/2006/main">
              <a:ext uri="{FF2B5EF4-FFF2-40B4-BE49-F238E27FC236}">
                <a16:creationId xmlns:a16="http://schemas.microsoft.com/office/drawing/2014/main" id="{294EA2AA-39B3-4C25-85EE-8A883CDF1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97408" y="3093720"/>
            <a:ext cx="418673" cy="4693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1E4D40"/>
                </a:solidFill>
                <a:latin typeface="Georgia"/>
                <a:ea typeface="Georgia"/>
                <a:cs typeface="Georgia"/>
              </a:rPr>
              <a:t>02</a:t>
            </a:r>
          </a:p>
        </p:txBody>
      </p:sp>
      <p:sp>
        <p:nvSpPr>
          <p:cNvPr id="13" name="TextBox 13">
            <a:extLst xmlns:a="http://schemas.openxmlformats.org/drawingml/2006/main">
              <a:ext uri="{FF2B5EF4-FFF2-40B4-BE49-F238E27FC236}">
                <a16:creationId xmlns:a16="http://schemas.microsoft.com/office/drawing/2014/main" id="{E25892C0-4895-4176-B458-51AD502B6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419606" y="3101340"/>
            <a:ext cx="1036015" cy="3520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22302B"/>
                </a:solidFill>
                <a:latin typeface="Microsoft YaHei"/>
                <a:ea typeface="Microsoft YaHei"/>
                <a:cs typeface="Microsoft YaHei"/>
              </a:rPr>
              <a:t>不同居民</a:t>
            </a:r>
          </a:p>
        </p:txBody>
      </p:sp>
      <p:sp>
        <p:nvSpPr>
          <p:cNvPr id="14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51125C-9498-4FC6-96D8-7DC31ADD4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421892" y="3473768"/>
            <a:ext cx="4938789" cy="2640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50">
                <a:solidFill>
                  <a:srgbClr val="5C6B64"/>
                </a:solidFill>
                <a:latin typeface="Microsoft YaHei"/>
                <a:ea typeface="Microsoft YaHei"/>
                <a:cs typeface="Microsoft YaHei"/>
              </a:rPr>
              <a:t>可能反映同一个问题，记入台账前要先核对。</a:t>
            </a:r>
          </a:p>
        </p:txBody>
      </p:sp>
      <p:sp>
        <p:nvSpPr>
          <p:cNvPr id="15" name="Line 15">
            <a:extLst xmlns:a="http://schemas.openxmlformats.org/drawingml/2006/main">
              <a:ext uri="{FF2B5EF4-FFF2-40B4-BE49-F238E27FC236}">
                <a16:creationId xmlns:a16="http://schemas.microsoft.com/office/drawing/2014/main" id="{28503B88-5C5C-4966-86E2-1AD8EDB4A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9600" y="3981450"/>
            <a:ext cx="7200900" cy="9525"/>
          </a:xfrm>
          <a:custGeom xmlns:a="http://schemas.openxmlformats.org/drawingml/2006/main">
            <a:rect l="l" t="t" r="r" b="b"/>
            <a:pathLst>
              <a:path w="7200900" h="9525">
                <a:moveTo>
                  <a:pt x="0" y="0"/>
                </a:moveTo>
                <a:lnTo>
                  <a:pt x="72009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E4E8E1"/>
            </a:solidFill>
          </a:ln>
        </p:spPr>
      </p:sp>
      <p:sp>
        <p:nvSpPr>
          <p:cNvPr id="17" name="TextBox 17">
            <a:extLst xmlns:a="http://schemas.openxmlformats.org/drawingml/2006/main">
              <a:ext uri="{FF2B5EF4-FFF2-40B4-BE49-F238E27FC236}">
                <a16:creationId xmlns:a16="http://schemas.microsoft.com/office/drawing/2014/main" id="{3846AC5E-D1FD-418C-ACE8-AF93CD87D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97408" y="4427220"/>
            <a:ext cx="418673" cy="4693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1E4D40"/>
                </a:solidFill>
                <a:latin typeface="Georgia"/>
                <a:ea typeface="Georgia"/>
                <a:cs typeface="Georgia"/>
              </a:rPr>
              <a:t>03</a:t>
            </a:r>
          </a:p>
        </p:txBody>
      </p:sp>
      <p:sp>
        <p:nvSpPr>
          <p:cNvPr id="18" name="TextBox 18">
            <a:extLst xmlns:a="http://schemas.openxmlformats.org/drawingml/2006/main">
              <a:ext uri="{FF2B5EF4-FFF2-40B4-BE49-F238E27FC236}">
                <a16:creationId xmlns:a16="http://schemas.microsoft.com/office/drawing/2014/main" id="{04A90720-B1CF-4633-A29E-F4C394CE7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419606" y="4434840"/>
            <a:ext cx="1036015" cy="3520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22302B"/>
                </a:solidFill>
                <a:latin typeface="Microsoft YaHei"/>
                <a:ea typeface="Microsoft YaHei"/>
                <a:cs typeface="Microsoft YaHei"/>
              </a:rPr>
              <a:t>工作人员</a:t>
            </a:r>
          </a:p>
        </p:txBody>
      </p:sp>
      <p:sp>
        <p:nvSpPr>
          <p:cNvPr id="19" name="TextBox 19">
            <a:extLst xmlns:a="http://schemas.openxmlformats.org/drawingml/2006/main">
              <a:ext uri="{FF2B5EF4-FFF2-40B4-BE49-F238E27FC236}">
                <a16:creationId xmlns:a16="http://schemas.microsoft.com/office/drawing/2014/main" id="{1C62CB4D-6C93-466D-AE64-65355706C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421892" y="4807268"/>
            <a:ext cx="5302263" cy="2640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50">
                <a:solidFill>
                  <a:srgbClr val="5C6B64"/>
                </a:solidFill>
                <a:latin typeface="Microsoft YaHei"/>
                <a:ea typeface="Microsoft YaHei"/>
                <a:cs typeface="Microsoft YaHei"/>
              </a:rPr>
              <a:t>需要拆开问题、核对重复，再记入台账。</a:t>
            </a:r>
          </a:p>
        </p:txBody>
      </p:sp>
      <p:sp>
        <p:nvSpPr>
          <p:cNvPr id="21" name="Rectangle 21">
            <a:extLst xmlns:a="http://schemas.openxmlformats.org/drawingml/2006/main">
              <a:ext uri="{FF2B5EF4-FFF2-40B4-BE49-F238E27FC236}">
                <a16:creationId xmlns:a16="http://schemas.microsoft.com/office/drawing/2014/main" id="{7D1D6ABE-3023-4BC1-985F-8108DCAAD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382000" y="1714500"/>
            <a:ext cx="3200400" cy="1905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2ED"/>
          </a:solidFill>
          <a:ln xmlns:a="http://schemas.openxmlformats.org/drawingml/2006/main">
            <a:noFill/>
          </a:ln>
        </p:spPr>
      </p:sp>
      <p:sp>
        <p:nvSpPr>
          <p:cNvPr id="22" name="Freeform 22">
            <a:extLst xmlns:a="http://schemas.openxmlformats.org/drawingml/2006/main">
              <a:ext uri="{FF2B5EF4-FFF2-40B4-BE49-F238E27FC236}">
                <a16:creationId xmlns:a16="http://schemas.microsoft.com/office/drawing/2014/main" id="{96636817-71B8-4C7E-8DBA-A4F4A0415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758238" y="2024062"/>
            <a:ext cx="114300" cy="114300"/>
          </a:xfrm>
          <a:custGeom xmlns:a="http://schemas.openxmlformats.org/drawingml/2006/main">
            <a:rect l="l" t="t" r="r" b="b"/>
            <a:pathLst>
              <a:path w="114300" h="114300">
                <a:moveTo>
                  <a:pt x="0" y="57150"/>
                </a:moveTo>
                <a:cubicBezTo>
                  <a:pt x="0" y="88713"/>
                  <a:pt x="25587" y="114300"/>
                  <a:pt x="57150" y="114300"/>
                </a:cubicBezTo>
                <a:cubicBezTo>
                  <a:pt x="88713" y="114300"/>
                  <a:pt x="114300" y="88713"/>
                  <a:pt x="114300" y="57150"/>
                </a:cubicBezTo>
                <a:cubicBezTo>
                  <a:pt x="114300" y="25587"/>
                  <a:pt x="88713" y="0"/>
                  <a:pt x="57150" y="0"/>
                </a:cubicBezTo>
                <a:cubicBezTo>
                  <a:pt x="25587" y="0"/>
                  <a:pt x="0" y="25587"/>
                  <a:pt x="0" y="57150"/>
                </a:cubicBez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E4D40"/>
            </a:solidFill>
          </a:ln>
        </p:spPr>
      </p:sp>
      <p:sp>
        <p:nvSpPr>
          <p:cNvPr id="23" name="Freeform 23">
            <a:extLst xmlns:a="http://schemas.openxmlformats.org/drawingml/2006/main">
              <a:ext uri="{FF2B5EF4-FFF2-40B4-BE49-F238E27FC236}">
                <a16:creationId xmlns:a16="http://schemas.microsoft.com/office/drawing/2014/main" id="{1CA73853-53BF-4B2A-BBCF-1E9DFAE11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729662" y="2195512"/>
            <a:ext cx="171450" cy="85725"/>
          </a:xfrm>
          <a:custGeom xmlns:a="http://schemas.openxmlformats.org/drawingml/2006/main">
            <a:rect l="l" t="t" r="r" b="b"/>
            <a:pathLst>
              <a:path w="171450" h="85725">
                <a:moveTo>
                  <a:pt x="0" y="85725"/>
                </a:moveTo>
                <a:lnTo>
                  <a:pt x="0" y="57150"/>
                </a:lnTo>
                <a:cubicBezTo>
                  <a:pt x="0" y="25587"/>
                  <a:pt x="25587" y="0"/>
                  <a:pt x="57150" y="0"/>
                </a:cubicBezTo>
                <a:lnTo>
                  <a:pt x="114300" y="0"/>
                </a:lnTo>
                <a:cubicBezTo>
                  <a:pt x="145863" y="0"/>
                  <a:pt x="171450" y="25587"/>
                  <a:pt x="171450" y="57150"/>
                </a:cubicBezTo>
                <a:lnTo>
                  <a:pt x="171450" y="8572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E4D40"/>
            </a:solidFill>
          </a:ln>
        </p:spPr>
      </p:sp>
      <p:sp>
        <p:nvSpPr>
          <p:cNvPr id="24" name="Freeform 24">
            <a:extLst xmlns:a="http://schemas.openxmlformats.org/drawingml/2006/main">
              <a:ext uri="{FF2B5EF4-FFF2-40B4-BE49-F238E27FC236}">
                <a16:creationId xmlns:a16="http://schemas.microsoft.com/office/drawing/2014/main" id="{89B9E8E6-BC84-46FF-8D40-3ABB0993D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915400" y="2025920"/>
            <a:ext cx="42975" cy="110728"/>
          </a:xfrm>
          <a:custGeom xmlns:a="http://schemas.openxmlformats.org/drawingml/2006/main">
            <a:rect l="l" t="t" r="r" b="b"/>
            <a:pathLst>
              <a:path w="42975" h="110728">
                <a:moveTo>
                  <a:pt x="0" y="0"/>
                </a:moveTo>
                <a:cubicBezTo>
                  <a:pt x="25288" y="6475"/>
                  <a:pt x="42975" y="29261"/>
                  <a:pt x="42975" y="55364"/>
                </a:cubicBezTo>
                <a:cubicBezTo>
                  <a:pt x="42975" y="81467"/>
                  <a:pt x="25288" y="104253"/>
                  <a:pt x="0" y="110728"/>
                </a:cubicBez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E4D40"/>
            </a:solidFill>
          </a:ln>
        </p:spPr>
      </p:sp>
      <p:sp>
        <p:nvSpPr>
          <p:cNvPr id="25" name="Freeform 25">
            <a:extLst xmlns:a="http://schemas.openxmlformats.org/drawingml/2006/main">
              <a:ext uri="{FF2B5EF4-FFF2-40B4-BE49-F238E27FC236}">
                <a16:creationId xmlns:a16="http://schemas.microsoft.com/office/drawing/2014/main" id="{C4EFA2F3-BD4B-4014-8B8B-FF79255DE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943975" y="2197656"/>
            <a:ext cx="42862" cy="83582"/>
          </a:xfrm>
          <a:custGeom xmlns:a="http://schemas.openxmlformats.org/drawingml/2006/main">
            <a:rect l="l" t="t" r="r" b="b"/>
            <a:pathLst>
              <a:path w="42862" h="83582">
                <a:moveTo>
                  <a:pt x="42862" y="83582"/>
                </a:moveTo>
                <a:lnTo>
                  <a:pt x="42862" y="55007"/>
                </a:lnTo>
                <a:cubicBezTo>
                  <a:pt x="42713" y="29069"/>
                  <a:pt x="25115" y="6484"/>
                  <a:pt x="0" y="0"/>
                </a:cubicBez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E4D40"/>
            </a:solidFill>
          </a:ln>
        </p:spPr>
      </p:sp>
      <p:sp>
        <p:nvSpPr>
          <p:cNvPr id="27" name="TextBox 27">
            <a:extLst xmlns:a="http://schemas.openxmlformats.org/drawingml/2006/main">
              <a:ext uri="{FF2B5EF4-FFF2-40B4-BE49-F238E27FC236}">
                <a16:creationId xmlns:a16="http://schemas.microsoft.com/office/drawing/2014/main" id="{843C5A1D-DF16-4304-8123-4962B8CD3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679942" y="2597468"/>
            <a:ext cx="837590" cy="2640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50" b="1" spc="150">
                <a:solidFill>
                  <a:srgbClr val="5C6B64"/>
                </a:solidFill>
                <a:latin typeface="Microsoft YaHei"/>
                <a:ea typeface="Microsoft YaHei"/>
                <a:cs typeface="Microsoft YaHei"/>
              </a:rPr>
              <a:t>直接用户</a:t>
            </a:r>
          </a:p>
        </p:txBody>
      </p:sp>
      <p:sp>
        <p:nvSpPr>
          <p:cNvPr id="28" name="TextBox 28">
            <a:extLst xmlns:a="http://schemas.openxmlformats.org/drawingml/2006/main">
              <a:ext uri="{FF2B5EF4-FFF2-40B4-BE49-F238E27FC236}">
                <a16:creationId xmlns:a16="http://schemas.microsoft.com/office/drawing/2014/main" id="{0450C145-47FE-4AD8-AD98-CEC2D4E83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677656" y="2891790"/>
            <a:ext cx="2600771" cy="3520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22302B"/>
                </a:solidFill>
                <a:latin typeface="Microsoft YaHei"/>
                <a:ea typeface="Microsoft YaHei"/>
                <a:cs typeface="Microsoft YaHei"/>
              </a:rPr>
              <a:t>社区工作人员</a:t>
            </a:r>
            <a:r>
              <a:rPr sz="1800" b="1">
                <a:solidFill>
                  <a:srgbClr val="22302B"/>
                </a:solidFill>
                <a:latin typeface="Arial"/>
                <a:ea typeface="Arial"/>
                <a:cs typeface="Arial"/>
              </a:rPr>
              <a:t> · </a:t>
            </a:r>
            <a:r>
              <a:rPr sz="1800" b="1">
                <a:solidFill>
                  <a:srgbClr val="22302B"/>
                </a:solidFill>
                <a:latin typeface="Microsoft YaHei"/>
                <a:ea typeface="Microsoft YaHei"/>
                <a:cs typeface="Microsoft YaHei"/>
              </a:rPr>
              <a:t>网格员</a:t>
            </a:r>
          </a:p>
        </p:txBody>
      </p:sp>
      <p:sp>
        <p:nvSpPr>
          <p:cNvPr id="29" name="TextBox 29">
            <a:extLst xmlns:a="http://schemas.openxmlformats.org/drawingml/2006/main">
              <a:ext uri="{FF2B5EF4-FFF2-40B4-BE49-F238E27FC236}">
                <a16:creationId xmlns:a16="http://schemas.microsoft.com/office/drawing/2014/main" id="{868952A6-66FF-445F-B404-BDA848AE2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680704" y="3261360"/>
            <a:ext cx="2273808" cy="2346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>
                <a:solidFill>
                  <a:srgbClr val="8A968F"/>
                </a:solidFill>
                <a:latin typeface="Microsoft YaHei"/>
                <a:ea typeface="Microsoft YaHei"/>
                <a:cs typeface="Microsoft YaHei"/>
              </a:rPr>
              <a:t>居民是信息来源，暂不需要操作</a:t>
            </a:r>
          </a:p>
        </p:txBody>
      </p:sp>
      <p:sp>
        <p:nvSpPr>
          <p:cNvPr id="31" name="Line 31">
            <a:extLst xmlns:a="http://schemas.openxmlformats.org/drawingml/2006/main">
              <a:ext uri="{FF2B5EF4-FFF2-40B4-BE49-F238E27FC236}">
                <a16:creationId xmlns:a16="http://schemas.microsoft.com/office/drawing/2014/main" id="{EB3BB594-2854-4DFD-A4E8-9D4F01447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382000" y="4000500"/>
            <a:ext cx="9525" cy="1333500"/>
          </a:xfrm>
          <a:custGeom xmlns:a="http://schemas.openxmlformats.org/drawingml/2006/main">
            <a:rect l="l" t="t" r="r" b="b"/>
            <a:pathLst>
              <a:path w="9525" h="1333500">
                <a:moveTo>
                  <a:pt x="0" y="0"/>
                </a:moveTo>
                <a:lnTo>
                  <a:pt x="0" y="133350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D97B29"/>
            </a:solidFill>
          </a:ln>
        </p:spPr>
      </p:sp>
      <p:sp>
        <p:nvSpPr>
          <p:cNvPr id="32" name="TextBox 32">
            <a:extLst xmlns:a="http://schemas.openxmlformats.org/drawingml/2006/main">
              <a:ext uri="{FF2B5EF4-FFF2-40B4-BE49-F238E27FC236}">
                <a16:creationId xmlns:a16="http://schemas.microsoft.com/office/drawing/2014/main" id="{E5387962-850B-4B5E-BD2C-33AFC86EC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603742" y="4159568"/>
            <a:ext cx="837590" cy="2640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50" b="1" spc="150">
                <a:solidFill>
                  <a:srgbClr val="1E4D40"/>
                </a:solidFill>
                <a:latin typeface="Microsoft YaHei"/>
                <a:ea typeface="Microsoft YaHei"/>
                <a:cs typeface="Microsoft YaHei"/>
              </a:rPr>
              <a:t>目前情况</a:t>
            </a:r>
          </a:p>
        </p:txBody>
      </p:sp>
      <p:sp>
        <p:nvSpPr>
          <p:cNvPr id="33" name="TextBox 33">
            <a:extLst xmlns:a="http://schemas.openxmlformats.org/drawingml/2006/main">
              <a:ext uri="{FF2B5EF4-FFF2-40B4-BE49-F238E27FC236}">
                <a16:creationId xmlns:a16="http://schemas.microsoft.com/office/drawing/2014/main" id="{D2EA896D-66E9-4239-BF4A-1D60C2CB9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603742" y="4502468"/>
            <a:ext cx="2194560" cy="2640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50">
                <a:solidFill>
                  <a:srgbClr val="5C6B64"/>
                </a:solidFill>
                <a:latin typeface="Microsoft YaHei"/>
                <a:ea typeface="Microsoft YaHei"/>
                <a:cs typeface="Microsoft YaHei"/>
              </a:rPr>
              <a:t>整理反馈的频率和耗时，</a:t>
            </a:r>
          </a:p>
        </p:txBody>
      </p:sp>
      <p:sp>
        <p:nvSpPr>
          <p:cNvPr id="34" name="TextBox 34">
            <a:extLst xmlns:a="http://schemas.openxmlformats.org/drawingml/2006/main">
              <a:ext uri="{FF2B5EF4-FFF2-40B4-BE49-F238E27FC236}">
                <a16:creationId xmlns:a16="http://schemas.microsoft.com/office/drawing/2014/main" id="{91E884F9-FC97-407C-8130-6BDE0E621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603742" y="4769168"/>
            <a:ext cx="2558034" cy="2640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50">
                <a:solidFill>
                  <a:srgbClr val="5C6B64"/>
                </a:solidFill>
                <a:latin typeface="Microsoft YaHei"/>
                <a:ea typeface="Microsoft YaHei"/>
                <a:cs typeface="Microsoft YaHei"/>
              </a:rPr>
              <a:t>还需要实地了解。</a:t>
            </a:r>
          </a:p>
        </p:txBody>
      </p:sp>
      <p:sp>
        <p:nvSpPr>
          <p:cNvPr id="36" name="TextBox 36">
            <a:extLst xmlns:a="http://schemas.openxmlformats.org/drawingml/2006/main">
              <a:ext uri="{FF2B5EF4-FFF2-40B4-BE49-F238E27FC236}">
                <a16:creationId xmlns:a16="http://schemas.microsoft.com/office/drawing/2014/main" id="{54651560-4182-4227-8FAE-0A30E29B8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3504" y="6404610"/>
            <a:ext cx="1522432" cy="2346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>
                <a:solidFill>
                  <a:srgbClr val="8A968F"/>
                </a:solidFill>
                <a:latin typeface="Arial"/>
                <a:ea typeface="Arial"/>
                <a:cs typeface="Arial"/>
              </a:rPr>
              <a:t>OneCase · </a:t>
            </a:r>
            <a:r>
              <a:rPr sz="1200">
                <a:solidFill>
                  <a:srgbClr val="8A968F"/>
                </a:solidFill>
                <a:latin typeface="Microsoft YaHei"/>
                <a:ea typeface="Microsoft YaHei"/>
                <a:cs typeface="Microsoft YaHei"/>
              </a:rPr>
              <a:t>初赛路演</a:t>
            </a:r>
          </a:p>
        </p:txBody>
      </p:sp>
      <p:sp>
        <p:nvSpPr>
          <p:cNvPr id="37" name="TextBox 37">
            <a:extLst xmlns:a="http://schemas.openxmlformats.org/drawingml/2006/main">
              <a:ext uri="{FF2B5EF4-FFF2-40B4-BE49-F238E27FC236}">
                <a16:creationId xmlns:a16="http://schemas.microsoft.com/office/drawing/2014/main" id="{703A1F33-AF71-4077-85E1-CF7A0A3F1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035132" y="6404610"/>
            <a:ext cx="553364" cy="2346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200">
                <a:solidFill>
                  <a:srgbClr val="8A968F"/>
                </a:solidFill>
                <a:latin typeface="Arial"/>
                <a:ea typeface="Arial"/>
                <a:cs typeface="Arial"/>
              </a:rPr>
              <a:t>02 / 14</a:t>
            </a:r>
          </a:p>
        </p:txBody>
      </p:sp>
    </p:spTree>
    <p:extLst>
      <p:ext uri="{BB962C8B-B14F-4D97-AF65-F5344CB8AC3E}">
        <p14:creationId xmlns:p14="http://schemas.microsoft.com/office/powerpoint/2010/main" val="2088489166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2">
            <a:extLst xmlns:a="http://schemas.openxmlformats.org/drawingml/2006/main">
              <a:ext uri="{FF2B5EF4-FFF2-40B4-BE49-F238E27FC236}">
                <a16:creationId xmlns:a16="http://schemas.microsoft.com/office/drawing/2014/main" id="{6573A86D-F91A-4BCA-8BCE-CA54E87D3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7"/>
          </a:solidFill>
          <a:ln xmlns:a="http://schemas.openxmlformats.org/drawingml/2006/main">
            <a:noFill/>
          </a:ln>
        </p:spPr>
        <p:txBody xmlns:a="http://schemas.openxmlformats.org/drawingml/2006/main">
          <a:bodyPr/>
          <a:p/>
        </p:txBody>
      </p:sp>
      <p:sp>
        <p:nvSpPr>
          <p:cNvPr id="3" name="TextBox 3">
            <a:extLst xmlns:a="http://schemas.openxmlformats.org/drawingml/2006/main">
              <a:ext uri="{FF2B5EF4-FFF2-40B4-BE49-F238E27FC236}">
                <a16:creationId xmlns:a16="http://schemas.microsoft.com/office/drawing/2014/main" id="{BF2B87CC-A8D9-4BC6-BABD-431C12E10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3504" y="594360"/>
            <a:ext cx="1548072" cy="2346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 spc="300">
                <a:solidFill>
                  <a:srgbClr val="D97B29"/>
                </a:solidFill>
                <a:latin typeface="Microsoft YaHei"/>
                <a:ea typeface="Microsoft YaHei"/>
                <a:cs typeface="Microsoft YaHei"/>
              </a:rPr>
              <a:t>团队</a:t>
            </a:r>
            <a:r>
              <a:rPr sz="1200" b="1" spc="300">
                <a:solidFill>
                  <a:srgbClr val="D97B29"/>
                </a:solidFill>
                <a:latin typeface="Arial"/>
                <a:ea typeface="Arial"/>
                <a:cs typeface="Arial"/>
              </a:rPr>
              <a:t> · </a:t>
            </a:r>
            <a:r>
              <a:rPr sz="1200" b="1" spc="300">
                <a:solidFill>
                  <a:srgbClr val="D97B29"/>
                </a:solidFill>
                <a:latin typeface="Microsoft YaHei"/>
                <a:ea typeface="Microsoft YaHei"/>
                <a:cs typeface="Microsoft YaHei"/>
              </a:rPr>
              <a:t>单人参赛</a:t>
            </a:r>
          </a:p>
        </p:txBody>
      </p:sp>
      <p:sp>
        <p:nvSpPr>
          <p:cNvPr id="4" name="TextBox 4">
            <a:extLst xmlns:a="http://schemas.openxmlformats.org/drawingml/2006/main">
              <a:ext uri="{FF2B5EF4-FFF2-40B4-BE49-F238E27FC236}">
                <a16:creationId xmlns:a16="http://schemas.microsoft.com/office/drawing/2014/main" id="{8B8118AE-0ED7-4878-9B3B-D8BADC2D6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93598" y="783908"/>
            <a:ext cx="4736592" cy="6160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150" b="1">
                <a:solidFill>
                  <a:srgbClr val="1E4D40"/>
                </a:solidFill>
                <a:latin typeface="SimSun"/>
                <a:ea typeface="SimSun"/>
                <a:cs typeface="SimSun"/>
              </a:rPr>
              <a:t>一个人的开发工作</a:t>
            </a:r>
          </a:p>
        </p:txBody>
      </p:sp>
      <p:sp>
        <p:nvSpPr>
          <p:cNvPr id="5" name="Line 5">
            <a:extLst xmlns:a="http://schemas.openxmlformats.org/drawingml/2006/main">
              <a:ext uri="{FF2B5EF4-FFF2-40B4-BE49-F238E27FC236}">
                <a16:creationId xmlns:a16="http://schemas.microsoft.com/office/drawing/2014/main" id="{324D7285-F302-4F35-9C4A-37BFB5D9F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9600" y="1352550"/>
            <a:ext cx="10972800" cy="9525"/>
          </a:xfrm>
          <a:custGeom xmlns:a="http://schemas.openxmlformats.org/drawingml/2006/main"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D8DED6"/>
            </a:solidFill>
          </a:ln>
        </p:spPr>
        <p:txBody xmlns:a="http://schemas.openxmlformats.org/drawingml/2006/main">
          <a:bodyPr/>
          <a:p/>
        </p:txBody>
      </p:sp>
      <p:sp>
        <p:nvSpPr>
          <p:cNvPr id="7" name="Rectangle 7">
            <a:extLst xmlns:a="http://schemas.openxmlformats.org/drawingml/2006/main">
              <a:ext uri="{FF2B5EF4-FFF2-40B4-BE49-F238E27FC236}">
                <a16:creationId xmlns:a16="http://schemas.microsoft.com/office/drawing/2014/main" id="{4E336450-1106-4288-8369-A515DBB88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9600" y="1714500"/>
            <a:ext cx="3048000" cy="419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2ED"/>
          </a:solidFill>
          <a:ln xmlns:a="http://schemas.openxmlformats.org/drawingml/2006/main">
            <a:noFill/>
          </a:ln>
        </p:spPr>
        <p:txBody xmlns:a="http://schemas.openxmlformats.org/drawingml/2006/main">
          <a:bodyPr/>
          <a:p/>
        </p:txBody>
      </p:sp>
      <p:sp>
        <p:nvSpPr>
          <p:cNvPr id="8" name="Freeform 8">
            <a:extLst xmlns:a="http://schemas.openxmlformats.org/drawingml/2006/main">
              <a:ext uri="{FF2B5EF4-FFF2-40B4-BE49-F238E27FC236}">
                <a16:creationId xmlns:a16="http://schemas.microsoft.com/office/drawing/2014/main" id="{BCD89E49-4834-45A7-AE13-114DA1694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54100" y="2109787"/>
            <a:ext cx="139700" cy="139700"/>
          </a:xfrm>
          <a:custGeom xmlns:a="http://schemas.openxmlformats.org/drawingml/2006/main">
            <a:rect l="l" t="t" r="r" b="b"/>
            <a:pathLst>
              <a:path w="139700" h="139700">
                <a:moveTo>
                  <a:pt x="0" y="69850"/>
                </a:moveTo>
                <a:cubicBezTo>
                  <a:pt x="0" y="108427"/>
                  <a:pt x="31273" y="139700"/>
                  <a:pt x="69850" y="139700"/>
                </a:cubicBezTo>
                <a:cubicBezTo>
                  <a:pt x="108427" y="139700"/>
                  <a:pt x="139700" y="108427"/>
                  <a:pt x="139700" y="69850"/>
                </a:cubicBezTo>
                <a:cubicBezTo>
                  <a:pt x="139700" y="31273"/>
                  <a:pt x="108427" y="0"/>
                  <a:pt x="69850" y="0"/>
                </a:cubicBezTo>
                <a:cubicBezTo>
                  <a:pt x="31273" y="0"/>
                  <a:pt x="0" y="31273"/>
                  <a:pt x="0" y="69850"/>
                </a:cubicBez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E4D40"/>
            </a:solidFill>
          </a:ln>
        </p:spPr>
        <p:txBody xmlns:a="http://schemas.openxmlformats.org/drawingml/2006/main">
          <a:bodyPr/>
          <a:p/>
        </p:txBody>
      </p:sp>
      <p:sp>
        <p:nvSpPr>
          <p:cNvPr id="9" name="Freeform 9">
            <a:extLst xmlns:a="http://schemas.openxmlformats.org/drawingml/2006/main">
              <a:ext uri="{FF2B5EF4-FFF2-40B4-BE49-F238E27FC236}">
                <a16:creationId xmlns:a16="http://schemas.microsoft.com/office/drawing/2014/main" id="{939F23A0-ED73-445C-A51E-596DC5C32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19175" y="2319337"/>
            <a:ext cx="209550" cy="104775"/>
          </a:xfrm>
          <a:custGeom xmlns:a="http://schemas.openxmlformats.org/drawingml/2006/main">
            <a:rect l="l" t="t" r="r" b="b"/>
            <a:pathLst>
              <a:path w="209550" h="104775">
                <a:moveTo>
                  <a:pt x="0" y="104775"/>
                </a:moveTo>
                <a:lnTo>
                  <a:pt x="0" y="69850"/>
                </a:lnTo>
                <a:cubicBezTo>
                  <a:pt x="0" y="31273"/>
                  <a:pt x="31273" y="0"/>
                  <a:pt x="69850" y="0"/>
                </a:cubicBezTo>
                <a:lnTo>
                  <a:pt x="139700" y="0"/>
                </a:lnTo>
                <a:cubicBezTo>
                  <a:pt x="178277" y="0"/>
                  <a:pt x="209550" y="31273"/>
                  <a:pt x="209550" y="69850"/>
                </a:cubicBezTo>
                <a:lnTo>
                  <a:pt x="209550" y="10477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E4D40"/>
            </a:solidFill>
          </a:ln>
        </p:spPr>
        <p:txBody xmlns:a="http://schemas.openxmlformats.org/drawingml/2006/main">
          <a:bodyPr/>
          <a:p/>
        </p:txBody>
      </p:sp>
      <p:sp>
        <p:nvSpPr>
          <p:cNvPr id="11" name="TextBox 11">
            <a:extLst xmlns:a="http://schemas.openxmlformats.org/drawingml/2006/main">
              <a:ext uri="{FF2B5EF4-FFF2-40B4-BE49-F238E27FC236}">
                <a16:creationId xmlns:a16="http://schemas.microsoft.com/office/drawing/2014/main" id="{F2AB23FA-A7DA-49E0-9AC7-8039F6C36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98398" y="2669858"/>
            <a:ext cx="1443380" cy="6160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150" b="1">
                <a:solidFill>
                  <a:srgbClr val="1E4D40"/>
                </a:solidFill>
                <a:latin typeface="Georgia"/>
                <a:ea typeface="Georgia"/>
                <a:cs typeface="Georgia"/>
              </a:rPr>
              <a:t>1 </a:t>
            </a:r>
            <a:r>
              <a:rPr sz="3150" b="1">
                <a:solidFill>
                  <a:srgbClr val="1E4D40"/>
                </a:solidFill>
                <a:latin typeface="SimSun"/>
                <a:ea typeface="SimSun"/>
                <a:cs typeface="SimSun"/>
              </a:rPr>
              <a:t>人</a:t>
            </a:r>
          </a:p>
        </p:txBody>
      </p:sp>
      <p:sp>
        <p:nvSpPr>
          <p:cNvPr id="12" name="TextBox 12">
            <a:extLst xmlns:a="http://schemas.openxmlformats.org/drawingml/2006/main">
              <a:ext uri="{FF2B5EF4-FFF2-40B4-BE49-F238E27FC236}">
                <a16:creationId xmlns:a16="http://schemas.microsoft.com/office/drawing/2014/main" id="{EF92917B-F0BF-4672-B776-32B9F1C4C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07542" y="3245168"/>
            <a:ext cx="1649349" cy="2640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50">
                <a:solidFill>
                  <a:srgbClr val="5C6B64"/>
                </a:solidFill>
                <a:latin typeface="Microsoft YaHei"/>
                <a:ea typeface="Microsoft YaHei"/>
                <a:cs typeface="Microsoft YaHei"/>
              </a:rPr>
              <a:t>个人参赛</a:t>
            </a:r>
            <a:r>
              <a:rPr sz="1350">
                <a:solidFill>
                  <a:srgbClr val="5C6B64"/>
                </a:solidFill>
                <a:latin typeface="Arial"/>
                <a:ea typeface="Arial"/>
                <a:cs typeface="Arial"/>
              </a:rPr>
              <a:t> · </a:t>
            </a:r>
            <a:r>
              <a:rPr sz="1350">
                <a:solidFill>
                  <a:srgbClr val="5C6B64"/>
                </a:solidFill>
                <a:latin typeface="Microsoft YaHei"/>
                <a:ea typeface="Microsoft YaHei"/>
                <a:cs typeface="Microsoft YaHei"/>
              </a:rPr>
              <a:t>独立开发</a:t>
            </a:r>
          </a:p>
        </p:txBody>
      </p:sp>
      <p:sp>
        <p:nvSpPr>
          <p:cNvPr id="13" name="Line 13">
            <a:extLst xmlns:a="http://schemas.openxmlformats.org/drawingml/2006/main">
              <a:ext uri="{FF2B5EF4-FFF2-40B4-BE49-F238E27FC236}">
                <a16:creationId xmlns:a16="http://schemas.microsoft.com/office/drawing/2014/main" id="{AE39789D-6613-4EC3-B445-09DED85C4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14400" y="3714750"/>
            <a:ext cx="2438400" cy="9525"/>
          </a:xfrm>
          <a:custGeom xmlns:a="http://schemas.openxmlformats.org/drawingml/2006/main">
            <a:rect l="l" t="t" r="r" b="b"/>
            <a:pathLst>
              <a:path w="2438400" h="9525">
                <a:moveTo>
                  <a:pt x="0" y="0"/>
                </a:moveTo>
                <a:lnTo>
                  <a:pt x="24384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D8DED6"/>
            </a:solidFill>
          </a:ln>
        </p:spPr>
        <p:txBody xmlns:a="http://schemas.openxmlformats.org/drawingml/2006/main">
          <a:bodyPr/>
          <a:p/>
        </p:txBody>
      </p:sp>
      <p:sp>
        <p:nvSpPr>
          <p:cNvPr id="14" name="TextBox 14">
            <a:extLst xmlns:a="http://schemas.openxmlformats.org/drawingml/2006/main">
              <a:ext uri="{FF2B5EF4-FFF2-40B4-BE49-F238E27FC236}">
                <a16:creationId xmlns:a16="http://schemas.microsoft.com/office/drawing/2014/main" id="{719BC20C-5A10-4CD9-8C6D-3BC3C27C0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07542" y="3930968"/>
            <a:ext cx="2039569" cy="2640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50">
                <a:solidFill>
                  <a:srgbClr val="22302B"/>
                </a:solidFill>
                <a:latin typeface="Arial"/>
                <a:ea typeface="Arial"/>
                <a:cs typeface="Arial"/>
              </a:rPr>
              <a:t>AI+</a:t>
            </a:r>
            <a:r>
              <a:rPr sz="1350">
                <a:solidFill>
                  <a:srgbClr val="22302B"/>
                </a:solidFill>
                <a:latin typeface="Microsoft YaHei"/>
                <a:ea typeface="Microsoft YaHei"/>
                <a:cs typeface="Microsoft YaHei"/>
              </a:rPr>
              <a:t>民生赛道</a:t>
            </a:r>
            <a:r>
              <a:rPr sz="1350">
                <a:solidFill>
                  <a:srgbClr val="22302B"/>
                </a:solidFill>
                <a:latin typeface="Arial"/>
                <a:ea typeface="Arial"/>
                <a:cs typeface="Arial"/>
              </a:rPr>
              <a:t> · </a:t>
            </a:r>
            <a:r>
              <a:rPr sz="1350">
                <a:solidFill>
                  <a:srgbClr val="22302B"/>
                </a:solidFill>
                <a:latin typeface="Microsoft YaHei"/>
                <a:ea typeface="Microsoft YaHei"/>
                <a:cs typeface="Microsoft YaHei"/>
              </a:rPr>
              <a:t>个人参赛</a:t>
            </a:r>
          </a:p>
        </p:txBody>
      </p:sp>
      <p:sp>
        <p:nvSpPr>
          <p:cNvPr id="15" name="TextBox 15">
            <a:extLst xmlns:a="http://schemas.openxmlformats.org/drawingml/2006/main">
              <a:ext uri="{FF2B5EF4-FFF2-40B4-BE49-F238E27FC236}">
                <a16:creationId xmlns:a16="http://schemas.microsoft.com/office/drawing/2014/main" id="{AD604151-D05C-46B8-8D63-E141AAF20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07542" y="4350068"/>
            <a:ext cx="2012823" cy="2640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50">
                <a:solidFill>
                  <a:srgbClr val="5C6B64"/>
                </a:solidFill>
                <a:latin typeface="Arial"/>
                <a:ea typeface="Arial"/>
                <a:cs typeface="Arial"/>
              </a:rPr>
              <a:t>OneCase </a:t>
            </a:r>
            <a:r>
              <a:rPr sz="1350">
                <a:solidFill>
                  <a:srgbClr val="5C6B64"/>
                </a:solidFill>
                <a:latin typeface="Microsoft YaHei"/>
                <a:ea typeface="Microsoft YaHei"/>
                <a:cs typeface="Microsoft YaHei"/>
              </a:rPr>
              <a:t>由我独立开发，</a:t>
            </a:r>
          </a:p>
        </p:txBody>
      </p:sp>
      <p:sp>
        <p:nvSpPr>
          <p:cNvPr id="16" name="TextBox 16">
            <a:extLst xmlns:a="http://schemas.openxmlformats.org/drawingml/2006/main">
              <a:ext uri="{FF2B5EF4-FFF2-40B4-BE49-F238E27FC236}">
                <a16:creationId xmlns:a16="http://schemas.microsoft.com/office/drawing/2014/main" id="{C9313D91-3E1E-49A9-AFBC-D99EFF5CD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07542" y="4616768"/>
            <a:ext cx="2194560" cy="2640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50">
                <a:solidFill>
                  <a:srgbClr val="5C6B64"/>
                </a:solidFill>
                <a:latin typeface="Microsoft YaHei"/>
                <a:ea typeface="Microsoft YaHei"/>
                <a:cs typeface="Microsoft YaHei"/>
              </a:rPr>
              <a:t>从产品设计、功能实现</a:t>
            </a:r>
          </a:p>
        </p:txBody>
      </p:sp>
      <p:sp>
        <p:nvSpPr>
          <p:cNvPr id="17" name="TextBox 17">
            <a:extLst xmlns:a="http://schemas.openxmlformats.org/drawingml/2006/main">
              <a:ext uri="{FF2B5EF4-FFF2-40B4-BE49-F238E27FC236}">
                <a16:creationId xmlns:a16="http://schemas.microsoft.com/office/drawing/2014/main" id="{666F1DAA-936C-4C36-8912-56A7D679B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07542" y="4883468"/>
            <a:ext cx="1831086" cy="2640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50">
                <a:solidFill>
                  <a:srgbClr val="5C6B64"/>
                </a:solidFill>
                <a:latin typeface="Microsoft YaHei"/>
                <a:ea typeface="Microsoft YaHei"/>
                <a:cs typeface="Microsoft YaHei"/>
              </a:rPr>
              <a:t>到测试，都由我负责。</a:t>
            </a:r>
          </a:p>
        </p:txBody>
      </p:sp>
      <p:sp>
        <p:nvSpPr>
          <p:cNvPr id="19" name="Line 19">
            <a:extLst xmlns:a="http://schemas.openxmlformats.org/drawingml/2006/main">
              <a:ext uri="{FF2B5EF4-FFF2-40B4-BE49-F238E27FC236}">
                <a16:creationId xmlns:a16="http://schemas.microsoft.com/office/drawing/2014/main" id="{84B80F17-606E-4FCE-A528-88B5B88EE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476750" y="1905000"/>
            <a:ext cx="571500" cy="9525"/>
          </a:xfrm>
          <a:custGeom xmlns:a="http://schemas.openxmlformats.org/drawingml/2006/main">
            <a:rect l="l" t="t" r="r" b="b"/>
            <a:pathLst>
              <a:path w="571500" h="9525">
                <a:moveTo>
                  <a:pt x="0" y="0"/>
                </a:moveTo>
                <a:lnTo>
                  <a:pt x="5715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E4D40"/>
            </a:solidFill>
          </a:ln>
        </p:spPr>
        <p:txBody xmlns:a="http://schemas.openxmlformats.org/drawingml/2006/main">
          <a:bodyPr/>
          <a:p/>
        </p:txBody>
      </p:sp>
      <p:sp>
        <p:nvSpPr>
          <p:cNvPr id="20" name="TextBox 20">
            <a:extLst xmlns:a="http://schemas.openxmlformats.org/drawingml/2006/main">
              <a:ext uri="{FF2B5EF4-FFF2-40B4-BE49-F238E27FC236}">
                <a16:creationId xmlns:a16="http://schemas.microsoft.com/office/drawing/2014/main" id="{E494FBE0-985B-48BC-AAE7-39D11735A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464558" y="2236470"/>
            <a:ext cx="418673" cy="4693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D8DED6"/>
                </a:solidFill>
                <a:latin typeface="Georgia"/>
                <a:ea typeface="Georgia"/>
                <a:cs typeface="Georgia"/>
              </a:rPr>
              <a:t>01</a:t>
            </a:r>
          </a:p>
        </p:txBody>
      </p:sp>
      <p:sp>
        <p:nvSpPr>
          <p:cNvPr id="21" name="TextBox 21">
            <a:extLst xmlns:a="http://schemas.openxmlformats.org/drawingml/2006/main">
              <a:ext uri="{FF2B5EF4-FFF2-40B4-BE49-F238E27FC236}">
                <a16:creationId xmlns:a16="http://schemas.microsoft.com/office/drawing/2014/main" id="{F46625E2-2FC1-4310-BF14-47D1766EF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467606" y="2815590"/>
            <a:ext cx="1036015" cy="3520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22302B"/>
                </a:solidFill>
                <a:latin typeface="Microsoft YaHei"/>
                <a:ea typeface="Microsoft YaHei"/>
                <a:cs typeface="Microsoft YaHei"/>
              </a:rPr>
              <a:t>产品设计</a:t>
            </a:r>
          </a:p>
        </p:txBody>
      </p:sp>
      <p:sp>
        <p:nvSpPr>
          <p:cNvPr id="22" name="TextBox 22">
            <a:extLst xmlns:a="http://schemas.openxmlformats.org/drawingml/2006/main">
              <a:ext uri="{FF2B5EF4-FFF2-40B4-BE49-F238E27FC236}">
                <a16:creationId xmlns:a16="http://schemas.microsoft.com/office/drawing/2014/main" id="{F6E70D88-E488-4DB1-A21B-BC2003016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469892" y="3283268"/>
            <a:ext cx="2012823" cy="2640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50">
                <a:solidFill>
                  <a:srgbClr val="5C6B64"/>
                </a:solidFill>
                <a:latin typeface="Microsoft YaHei"/>
                <a:ea typeface="Microsoft YaHei"/>
                <a:cs typeface="Microsoft YaHei"/>
              </a:rPr>
              <a:t>社区事项整理的流程设计</a:t>
            </a:r>
          </a:p>
        </p:txBody>
      </p:sp>
      <p:sp>
        <p:nvSpPr>
          <p:cNvPr id="23" name="TextBox 23">
            <a:extLst xmlns:a="http://schemas.openxmlformats.org/drawingml/2006/main">
              <a:ext uri="{FF2B5EF4-FFF2-40B4-BE49-F238E27FC236}">
                <a16:creationId xmlns:a16="http://schemas.microsoft.com/office/drawing/2014/main" id="{3411DCC6-27B7-4634-838F-AAD179553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469892" y="3549968"/>
            <a:ext cx="1831086" cy="2640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50">
                <a:solidFill>
                  <a:srgbClr val="5C6B64"/>
                </a:solidFill>
                <a:latin typeface="Microsoft YaHei"/>
                <a:ea typeface="Microsoft YaHei"/>
                <a:cs typeface="Microsoft YaHei"/>
              </a:rPr>
              <a:t>以及状态变更规则、</a:t>
            </a:r>
          </a:p>
        </p:txBody>
      </p:sp>
      <p:sp>
        <p:nvSpPr>
          <p:cNvPr id="24" name="TextBox 24">
            <a:extLst xmlns:a="http://schemas.openxmlformats.org/drawingml/2006/main">
              <a:ext uri="{FF2B5EF4-FFF2-40B4-BE49-F238E27FC236}">
                <a16:creationId xmlns:a16="http://schemas.microsoft.com/office/drawing/2014/main" id="{067D3220-7774-4E6E-97C2-BCB639EFC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469892" y="3816668"/>
            <a:ext cx="1831086" cy="2640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50">
                <a:solidFill>
                  <a:srgbClr val="5C6B64"/>
                </a:solidFill>
                <a:latin typeface="Microsoft YaHei"/>
                <a:ea typeface="Microsoft YaHei"/>
                <a:cs typeface="Microsoft YaHei"/>
              </a:rPr>
              <a:t>人工确认和查重方式。</a:t>
            </a:r>
          </a:p>
        </p:txBody>
      </p:sp>
      <p:sp>
        <p:nvSpPr>
          <p:cNvPr id="26" name="Line 26">
            <a:extLst xmlns:a="http://schemas.openxmlformats.org/drawingml/2006/main">
              <a:ext uri="{FF2B5EF4-FFF2-40B4-BE49-F238E27FC236}">
                <a16:creationId xmlns:a16="http://schemas.microsoft.com/office/drawing/2014/main" id="{B8BCDD45-6693-4BDF-8813-4D1A91740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7239000" y="1905000"/>
            <a:ext cx="571500" cy="9525"/>
          </a:xfrm>
          <a:custGeom xmlns:a="http://schemas.openxmlformats.org/drawingml/2006/main">
            <a:rect l="l" t="t" r="r" b="b"/>
            <a:pathLst>
              <a:path w="571500" h="9525">
                <a:moveTo>
                  <a:pt x="0" y="0"/>
                </a:moveTo>
                <a:lnTo>
                  <a:pt x="5715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E4D40"/>
            </a:solidFill>
          </a:ln>
        </p:spPr>
        <p:txBody xmlns:a="http://schemas.openxmlformats.org/drawingml/2006/main">
          <a:bodyPr/>
          <a:p/>
        </p:txBody>
      </p:sp>
      <p:sp>
        <p:nvSpPr>
          <p:cNvPr id="27" name="TextBox 27">
            <a:extLst xmlns:a="http://schemas.openxmlformats.org/drawingml/2006/main">
              <a:ext uri="{FF2B5EF4-FFF2-40B4-BE49-F238E27FC236}">
                <a16:creationId xmlns:a16="http://schemas.microsoft.com/office/drawing/2014/main" id="{ADAD02D3-BD6A-4CCF-A5E2-C3F629786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7226808" y="2236470"/>
            <a:ext cx="418673" cy="4693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D8DED6"/>
                </a:solidFill>
                <a:latin typeface="Georgia"/>
                <a:ea typeface="Georgia"/>
                <a:cs typeface="Georgia"/>
              </a:rPr>
              <a:t>02</a:t>
            </a:r>
          </a:p>
        </p:txBody>
      </p:sp>
      <p:sp>
        <p:nvSpPr>
          <p:cNvPr id="28" name="TextBox 28">
            <a:extLst xmlns:a="http://schemas.openxmlformats.org/drawingml/2006/main">
              <a:ext uri="{FF2B5EF4-FFF2-40B4-BE49-F238E27FC236}">
                <a16:creationId xmlns:a16="http://schemas.microsoft.com/office/drawing/2014/main" id="{F70D8441-EB35-4F40-A335-67C2AFE6A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7229856" y="2815590"/>
            <a:ext cx="1036015" cy="3520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22302B"/>
                </a:solidFill>
                <a:latin typeface="Microsoft YaHei"/>
                <a:ea typeface="Microsoft YaHei"/>
                <a:cs typeface="Microsoft YaHei"/>
              </a:rPr>
              <a:t>功能开发</a:t>
            </a:r>
          </a:p>
        </p:txBody>
      </p:sp>
      <p:sp>
        <p:nvSpPr>
          <p:cNvPr id="29" name="TextBox 29">
            <a:extLst xmlns:a="http://schemas.openxmlformats.org/drawingml/2006/main">
              <a:ext uri="{FF2B5EF4-FFF2-40B4-BE49-F238E27FC236}">
                <a16:creationId xmlns:a16="http://schemas.microsoft.com/office/drawing/2014/main" id="{85913DE2-FB04-4722-ABB9-1B2AC006C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7232142" y="3283268"/>
            <a:ext cx="2130847" cy="2640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50">
                <a:solidFill>
                  <a:srgbClr val="5C6B64"/>
                </a:solidFill>
                <a:latin typeface="Arial"/>
                <a:ea typeface="Arial"/>
                <a:cs typeface="Arial"/>
              </a:rPr>
              <a:t>Web </a:t>
            </a:r>
            <a:r>
              <a:rPr sz="1350">
                <a:solidFill>
                  <a:srgbClr val="5C6B64"/>
                </a:solidFill>
                <a:latin typeface="Microsoft YaHei"/>
                <a:ea typeface="Microsoft YaHei"/>
                <a:cs typeface="Microsoft YaHei"/>
              </a:rPr>
              <a:t>工作台、</a:t>
            </a:r>
            <a:r>
              <a:rPr sz="1350">
                <a:solidFill>
                  <a:srgbClr val="5C6B64"/>
                </a:solidFill>
                <a:latin typeface="Arial"/>
                <a:ea typeface="Arial"/>
                <a:cs typeface="Arial"/>
              </a:rPr>
              <a:t>AI Provider</a:t>
            </a:r>
          </a:p>
        </p:txBody>
      </p:sp>
      <p:sp>
        <p:nvSpPr>
          <p:cNvPr id="30" name="TextBox 30">
            <a:extLst xmlns:a="http://schemas.openxmlformats.org/drawingml/2006/main">
              <a:ext uri="{FF2B5EF4-FFF2-40B4-BE49-F238E27FC236}">
                <a16:creationId xmlns:a16="http://schemas.microsoft.com/office/drawing/2014/main" id="{5FDAFCDE-94B1-4212-BB29-307AF75BC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7232142" y="3549968"/>
            <a:ext cx="2896856" cy="2640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50">
                <a:solidFill>
                  <a:srgbClr val="5C6B64"/>
                </a:solidFill>
                <a:latin typeface="Microsoft YaHei"/>
                <a:ea typeface="Microsoft YaHei"/>
                <a:cs typeface="Microsoft YaHei"/>
              </a:rPr>
              <a:t>适配（Mock / Qwen / OpenAI /</a:t>
            </a:r>
            <a:r>
              <a:rPr sz="1350">
                <a:solidFill>
                  <a:srgbClr val="5C6B64"/>
                </a:solidFill>
                <a:latin typeface="Arial"/>
                <a:ea typeface="Arial"/>
                <a:cs typeface="Arial"/>
              </a:rPr>
              <a:t/>
            </a:r>
            <a:r>
              <a:rPr sz="1350">
                <a:solidFill>
                  <a:srgbClr val="5C6B64"/>
                </a:solidFill>
                <a:latin typeface="Microsoft YaHei"/>
                <a:ea typeface="Microsoft YaHei"/>
                <a:cs typeface="Microsoft YaHei"/>
              </a:rPr>
              <a:t/>
            </a:r>
          </a:p>
        </p:txBody>
      </p:sp>
      <p:sp>
        <p:nvSpPr>
          <p:cNvPr id="31" name="TextBox 31">
            <a:extLst xmlns:a="http://schemas.openxmlformats.org/drawingml/2006/main">
              <a:ext uri="{FF2B5EF4-FFF2-40B4-BE49-F238E27FC236}">
                <a16:creationId xmlns:a16="http://schemas.microsoft.com/office/drawing/2014/main" id="{34890C45-144C-408F-9C08-2F1AF5D53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7232142" y="3816668"/>
            <a:ext cx="2468880" cy="2640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50">
                <a:solidFill>
                  <a:srgbClr val="5C6B64"/>
                </a:solidFill>
                <a:latin typeface="Microsoft YaHei"/>
                <a:ea typeface="Microsoft YaHei"/>
                <a:cs typeface="Microsoft YaHei"/>
              </a:rPr>
              <a:t>StepFun）、数据层与 API。</a:t>
            </a:r>
            <a:r>
              <a:rPr sz="1350">
                <a:solidFill>
                  <a:srgbClr val="5C6B64"/>
                </a:solidFill>
                <a:latin typeface="Arial"/>
                <a:ea typeface="Arial"/>
                <a:cs typeface="Arial"/>
              </a:rPr>
              <a:t/>
            </a:r>
            <a:r>
              <a:rPr sz="1350">
                <a:solidFill>
                  <a:srgbClr val="5C6B64"/>
                </a:solidFill>
                <a:latin typeface="Microsoft YaHei"/>
                <a:ea typeface="Microsoft YaHei"/>
                <a:cs typeface="Microsoft YaHei"/>
              </a:rPr>
              <a:t/>
            </a:r>
          </a:p>
        </p:txBody>
      </p:sp>
      <p:sp>
        <p:nvSpPr>
          <p:cNvPr id="33" name="Line 33">
            <a:extLst xmlns:a="http://schemas.openxmlformats.org/drawingml/2006/main">
              <a:ext uri="{FF2B5EF4-FFF2-40B4-BE49-F238E27FC236}">
                <a16:creationId xmlns:a16="http://schemas.microsoft.com/office/drawing/2014/main" id="{9B145461-10F6-49EE-99B8-8D81D672F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001250" y="1905000"/>
            <a:ext cx="571500" cy="9525"/>
          </a:xfrm>
          <a:custGeom xmlns:a="http://schemas.openxmlformats.org/drawingml/2006/main">
            <a:rect l="l" t="t" r="r" b="b"/>
            <a:pathLst>
              <a:path w="571500" h="9525">
                <a:moveTo>
                  <a:pt x="0" y="0"/>
                </a:moveTo>
                <a:lnTo>
                  <a:pt x="5715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E4D40"/>
            </a:solidFill>
          </a:ln>
        </p:spPr>
      </p:sp>
      <p:sp>
        <p:nvSpPr>
          <p:cNvPr id="34" name="TextBox 34">
            <a:extLst xmlns:a="http://schemas.openxmlformats.org/drawingml/2006/main">
              <a:ext uri="{FF2B5EF4-FFF2-40B4-BE49-F238E27FC236}">
                <a16:creationId xmlns:a16="http://schemas.microsoft.com/office/drawing/2014/main" id="{7F85C5EF-A07F-49C0-8A94-73103296B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989058" y="2236470"/>
            <a:ext cx="418673" cy="4693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D8DED6"/>
                </a:solidFill>
                <a:latin typeface="Georgia"/>
                <a:ea typeface="Georgia"/>
                <a:cs typeface="Georgia"/>
              </a:rPr>
              <a:t>03</a:t>
            </a:r>
          </a:p>
        </p:txBody>
      </p:sp>
      <p:sp>
        <p:nvSpPr>
          <p:cNvPr id="35" name="TextBox 35">
            <a:extLst xmlns:a="http://schemas.openxmlformats.org/drawingml/2006/main">
              <a:ext uri="{FF2B5EF4-FFF2-40B4-BE49-F238E27FC236}">
                <a16:creationId xmlns:a16="http://schemas.microsoft.com/office/drawing/2014/main" id="{3EA222DB-D553-4B15-9B07-DFE4CF5FF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992106" y="2815590"/>
            <a:ext cx="1290447" cy="3520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22302B"/>
                </a:solidFill>
                <a:latin typeface="Microsoft YaHei"/>
                <a:ea typeface="Microsoft YaHei"/>
                <a:cs typeface="Microsoft YaHei"/>
              </a:rPr>
              <a:t>测试与文档</a:t>
            </a:r>
          </a:p>
        </p:txBody>
      </p:sp>
      <p:sp>
        <p:nvSpPr>
          <p:cNvPr id="36" name="TextBox 36">
            <a:extLst xmlns:a="http://schemas.openxmlformats.org/drawingml/2006/main">
              <a:ext uri="{FF2B5EF4-FFF2-40B4-BE49-F238E27FC236}">
                <a16:creationId xmlns:a16="http://schemas.microsoft.com/office/drawing/2014/main" id="{B9C35262-6162-4CF8-A972-52F7C9300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994392" y="3283268"/>
            <a:ext cx="1831086" cy="2640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50">
                <a:solidFill>
                  <a:srgbClr val="5C6B64"/>
                </a:solidFill>
                <a:latin typeface="Microsoft YaHei"/>
                <a:ea typeface="Microsoft YaHei"/>
                <a:cs typeface="Microsoft YaHei"/>
              </a:rPr>
              <a:t>单元测试、业务不变量</a:t>
            </a:r>
          </a:p>
        </p:txBody>
      </p:sp>
      <p:sp>
        <p:nvSpPr>
          <p:cNvPr id="37" name="TextBox 37">
            <a:extLst xmlns:a="http://schemas.openxmlformats.org/drawingml/2006/main">
              <a:ext uri="{FF2B5EF4-FFF2-40B4-BE49-F238E27FC236}">
                <a16:creationId xmlns:a16="http://schemas.microsoft.com/office/drawing/2014/main" id="{22D3C843-D5DA-47EE-8819-BF3AF9A20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994392" y="3549968"/>
            <a:ext cx="1831086" cy="2640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50">
                <a:solidFill>
                  <a:srgbClr val="5C6B64"/>
                </a:solidFill>
                <a:latin typeface="Microsoft YaHei"/>
                <a:ea typeface="Microsoft YaHei"/>
                <a:cs typeface="Microsoft YaHei"/>
              </a:rPr>
              <a:t>测试、端到端流程测试</a:t>
            </a:r>
          </a:p>
        </p:txBody>
      </p:sp>
      <p:sp>
        <p:nvSpPr>
          <p:cNvPr id="38" name="TextBox 38">
            <a:extLst xmlns:a="http://schemas.openxmlformats.org/drawingml/2006/main">
              <a:ext uri="{FF2B5EF4-FFF2-40B4-BE49-F238E27FC236}">
                <a16:creationId xmlns:a16="http://schemas.microsoft.com/office/drawing/2014/main" id="{435C5216-F1F2-48DD-BEB0-5A1B23EFF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994392" y="3816668"/>
            <a:ext cx="1104138" cy="2640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50">
                <a:solidFill>
                  <a:srgbClr val="5C6B64"/>
                </a:solidFill>
                <a:latin typeface="Microsoft YaHei"/>
                <a:ea typeface="Microsoft YaHei"/>
                <a:cs typeface="Microsoft YaHei"/>
              </a:rPr>
              <a:t>与产品文档。</a:t>
            </a:r>
          </a:p>
        </p:txBody>
      </p:sp>
      <p:sp>
        <p:nvSpPr>
          <p:cNvPr id="40" name="Line 40">
            <a:extLst xmlns:a="http://schemas.openxmlformats.org/drawingml/2006/main">
              <a:ext uri="{FF2B5EF4-FFF2-40B4-BE49-F238E27FC236}">
                <a16:creationId xmlns:a16="http://schemas.microsoft.com/office/drawing/2014/main" id="{E4574122-E191-4079-99AB-18E591765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781800" y="1714500"/>
            <a:ext cx="9525" cy="2476500"/>
          </a:xfrm>
          <a:custGeom xmlns:a="http://schemas.openxmlformats.org/drawingml/2006/main">
            <a:rect l="l" t="t" r="r" b="b"/>
            <a:pathLst>
              <a:path w="9525" h="2476500">
                <a:moveTo>
                  <a:pt x="0" y="0"/>
                </a:moveTo>
                <a:lnTo>
                  <a:pt x="0" y="247650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D8DED6"/>
            </a:solidFill>
          </a:ln>
        </p:spPr>
      </p:sp>
      <p:sp>
        <p:nvSpPr>
          <p:cNvPr id="41" name="Line 41">
            <a:extLst xmlns:a="http://schemas.openxmlformats.org/drawingml/2006/main">
              <a:ext uri="{FF2B5EF4-FFF2-40B4-BE49-F238E27FC236}">
                <a16:creationId xmlns:a16="http://schemas.microsoft.com/office/drawing/2014/main" id="{FB7B2BBA-3187-4C65-9AFF-6FB258C42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544050" y="1714500"/>
            <a:ext cx="9525" cy="2476500"/>
          </a:xfrm>
          <a:custGeom xmlns:a="http://schemas.openxmlformats.org/drawingml/2006/main">
            <a:rect l="l" t="t" r="r" b="b"/>
            <a:pathLst>
              <a:path w="9525" h="2476500">
                <a:moveTo>
                  <a:pt x="0" y="0"/>
                </a:moveTo>
                <a:lnTo>
                  <a:pt x="0" y="247650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D8DED6"/>
            </a:solidFill>
          </a:ln>
        </p:spPr>
      </p:sp>
      <p:sp>
        <p:nvSpPr>
          <p:cNvPr id="42" name="Line 42">
            <a:extLst xmlns:a="http://schemas.openxmlformats.org/drawingml/2006/main">
              <a:ext uri="{FF2B5EF4-FFF2-40B4-BE49-F238E27FC236}">
                <a16:creationId xmlns:a16="http://schemas.microsoft.com/office/drawing/2014/main" id="{51856030-5556-49AB-9D7D-25DA90FE1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476750" y="4476750"/>
            <a:ext cx="7105650" cy="9525"/>
          </a:xfrm>
          <a:custGeom xmlns:a="http://schemas.openxmlformats.org/drawingml/2006/main">
            <a:rect l="l" t="t" r="r" b="b"/>
            <a:pathLst>
              <a:path w="7105650" h="9525">
                <a:moveTo>
                  <a:pt x="0" y="0"/>
                </a:moveTo>
                <a:lnTo>
                  <a:pt x="71056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E4E8E1"/>
            </a:solidFill>
          </a:ln>
        </p:spPr>
      </p:sp>
      <p:sp>
        <p:nvSpPr>
          <p:cNvPr id="43" name="TextBox 43">
            <a:extLst xmlns:a="http://schemas.openxmlformats.org/drawingml/2006/main">
              <a:ext uri="{FF2B5EF4-FFF2-40B4-BE49-F238E27FC236}">
                <a16:creationId xmlns:a16="http://schemas.microsoft.com/office/drawing/2014/main" id="{13DDF2F5-ABEB-43F7-9AAB-0CF3967DC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466082" y="4650105"/>
            <a:ext cx="5995416" cy="41071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00">
                <a:solidFill>
                  <a:srgbClr val="1E4D40"/>
                </a:solidFill>
                <a:latin typeface="SimSun"/>
                <a:ea typeface="SimSun"/>
                <a:cs typeface="SimSun"/>
              </a:rPr>
              <a:t>先把反馈整理、确认和跟踪做完。</a:t>
            </a:r>
          </a:p>
        </p:txBody>
      </p:sp>
      <p:sp>
        <p:nvSpPr>
          <p:cNvPr id="44" name="TextBox 44">
            <a:extLst xmlns:a="http://schemas.openxmlformats.org/drawingml/2006/main">
              <a:ext uri="{FF2B5EF4-FFF2-40B4-BE49-F238E27FC236}">
                <a16:creationId xmlns:a16="http://schemas.microsoft.com/office/drawing/2014/main" id="{83943D74-00BC-4432-A37A-F1A0841FD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469892" y="5150168"/>
            <a:ext cx="7664844" cy="2640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50">
                <a:solidFill>
                  <a:srgbClr val="5C6B64"/>
                </a:solidFill>
                <a:latin typeface="Microsoft YaHei"/>
                <a:ea typeface="Microsoft YaHei"/>
                <a:cs typeface="Microsoft YaHei"/>
              </a:rPr>
              <a:t>我还缺少社区业务经验，希望和一线工作人员一起核对流程、安排试用。</a:t>
            </a:r>
          </a:p>
        </p:txBody>
      </p:sp>
      <p:sp>
        <p:nvSpPr>
          <p:cNvPr id="46" name="TextBox 46">
            <a:extLst xmlns:a="http://schemas.openxmlformats.org/drawingml/2006/main">
              <a:ext uri="{FF2B5EF4-FFF2-40B4-BE49-F238E27FC236}">
                <a16:creationId xmlns:a16="http://schemas.microsoft.com/office/drawing/2014/main" id="{9CDDF6C6-2647-4082-AC4A-24F7D9864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3504" y="6404610"/>
            <a:ext cx="1522432" cy="2346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>
                <a:solidFill>
                  <a:srgbClr val="8A968F"/>
                </a:solidFill>
                <a:latin typeface="Arial"/>
                <a:ea typeface="Arial"/>
                <a:cs typeface="Arial"/>
              </a:rPr>
              <a:t>OneCase · </a:t>
            </a:r>
            <a:r>
              <a:rPr sz="1200">
                <a:solidFill>
                  <a:srgbClr val="8A968F"/>
                </a:solidFill>
                <a:latin typeface="Microsoft YaHei"/>
                <a:ea typeface="Microsoft YaHei"/>
                <a:cs typeface="Microsoft YaHei"/>
              </a:rPr>
              <a:t>初赛路演</a:t>
            </a:r>
          </a:p>
        </p:txBody>
      </p:sp>
      <p:sp>
        <p:nvSpPr>
          <p:cNvPr id="47" name="TextBox 47">
            <a:extLst xmlns:a="http://schemas.openxmlformats.org/drawingml/2006/main">
              <a:ext uri="{FF2B5EF4-FFF2-40B4-BE49-F238E27FC236}">
                <a16:creationId xmlns:a16="http://schemas.microsoft.com/office/drawing/2014/main" id="{C07258BE-D093-4327-99EA-B6C1E1B08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035132" y="6404610"/>
            <a:ext cx="553364" cy="2346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200">
                <a:solidFill>
                  <a:srgbClr val="8A968F"/>
                </a:solidFill>
                <a:latin typeface="Arial"/>
                <a:ea typeface="Arial"/>
                <a:cs typeface="Arial"/>
              </a:rPr>
              <a:t>03 / 14</a:t>
            </a:r>
          </a:p>
        </p:txBody>
      </p:sp>
    </p:spTree>
    <p:extLst>
      <p:ext uri="{BB962C8B-B14F-4D97-AF65-F5344CB8AC3E}">
        <p14:creationId xmlns:p14="http://schemas.microsoft.com/office/powerpoint/2010/main" val="350019819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2">
            <a:extLst xmlns:a="http://schemas.openxmlformats.org/drawingml/2006/main">
              <a:ext uri="{FF2B5EF4-FFF2-40B4-BE49-F238E27FC236}">
                <a16:creationId xmlns:a16="http://schemas.microsoft.com/office/drawing/2014/main" id="{84F2B62C-3FAF-4F3B-862A-DCEFCFF43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7"/>
          </a:solidFill>
          <a:ln xmlns:a="http://schemas.openxmlformats.org/drawingml/2006/main">
            <a:noFill/>
          </a:ln>
        </p:spPr>
      </p:sp>
      <p:sp>
        <p:nvSpPr>
          <p:cNvPr id="3" name="TextBox 3">
            <a:extLst xmlns:a="http://schemas.openxmlformats.org/drawingml/2006/main">
              <a:ext uri="{FF2B5EF4-FFF2-40B4-BE49-F238E27FC236}">
                <a16:creationId xmlns:a16="http://schemas.microsoft.com/office/drawing/2014/main" id="{AF76F6FD-8E18-4579-BF7D-B0C047A63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94360"/>
            <a:ext cx="1758079" cy="2346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 spc="300">
                <a:solidFill>
                  <a:srgbClr val="D97B29"/>
                </a:solidFill>
                <a:latin typeface="Microsoft YaHei"/>
                <a:ea typeface="Microsoft YaHei"/>
                <a:cs typeface="Microsoft YaHei"/>
              </a:rPr>
              <a:t>流程</a:t>
            </a:r>
            <a:r>
              <a:rPr sz="1200" b="1" spc="300">
                <a:solidFill>
                  <a:srgbClr val="D97B29"/>
                </a:solidFill>
                <a:latin typeface="Arial"/>
                <a:ea typeface="Arial"/>
                <a:cs typeface="Arial"/>
              </a:rPr>
              <a:t> · </a:t>
            </a:r>
            <a:r>
              <a:rPr sz="1200" b="1" spc="300">
                <a:solidFill>
                  <a:srgbClr val="D97B29"/>
                </a:solidFill>
                <a:latin typeface="Microsoft YaHei"/>
                <a:ea typeface="Microsoft YaHei"/>
                <a:cs typeface="Microsoft YaHei"/>
              </a:rPr>
              <a:t>人工确认</a:t>
            </a:r>
          </a:p>
        </p:txBody>
      </p:sp>
      <p:sp>
        <p:nvSpPr>
          <p:cNvPr id="4" name="TextBox 4">
            <a:extLst xmlns:a="http://schemas.openxmlformats.org/drawingml/2006/main">
              <a:ext uri="{FF2B5EF4-FFF2-40B4-BE49-F238E27FC236}">
                <a16:creationId xmlns:a16="http://schemas.microsoft.com/office/drawing/2014/main" id="{7141B198-73B9-43A1-B31E-D203CA811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90550" y="2021205"/>
            <a:ext cx="5726331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5100" b="1">
                <a:solidFill>
                  <a:srgbClr val="1E4D40"/>
                </a:solidFill>
                <a:latin typeface="Georgia"/>
                <a:ea typeface="Georgia"/>
                <a:cs typeface="Georgia"/>
              </a:rPr>
              <a:t>AI </a:t>
            </a:r>
            <a:r>
              <a:rPr sz="5100" b="1">
                <a:solidFill>
                  <a:srgbClr val="1E4D40"/>
                </a:solidFill>
                <a:latin typeface="SimSun"/>
                <a:ea typeface="SimSun"/>
                <a:cs typeface="SimSun"/>
              </a:rPr>
              <a:t>先整理，</a:t>
            </a:r>
          </a:p>
        </p:txBody>
      </p:sp>
      <p:sp>
        <p:nvSpPr>
          <p:cNvPr id="5" name="TextBox 5">
            <a:extLst xmlns:a="http://schemas.openxmlformats.org/drawingml/2006/main">
              <a:ext uri="{FF2B5EF4-FFF2-40B4-BE49-F238E27FC236}">
                <a16:creationId xmlns:a16="http://schemas.microsoft.com/office/drawing/2014/main" id="{F8F5B784-8914-4557-8012-08284BD02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90550" y="2973705"/>
            <a:ext cx="4608271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5100" b="1">
                <a:solidFill>
                  <a:srgbClr val="D97B29"/>
                </a:solidFill>
                <a:latin typeface="SimSun"/>
                <a:ea typeface="SimSun"/>
                <a:cs typeface="SimSun"/>
              </a:rPr>
              <a:t>人检查后确认。</a:t>
            </a:r>
          </a:p>
        </p:txBody>
      </p:sp>
      <p:sp>
        <p:nvSpPr>
          <p:cNvPr id="6" name="Line 6">
            <a:extLst xmlns:a="http://schemas.openxmlformats.org/drawingml/2006/main">
              <a:ext uri="{FF2B5EF4-FFF2-40B4-BE49-F238E27FC236}">
                <a16:creationId xmlns:a16="http://schemas.microsoft.com/office/drawing/2014/main" id="{1367C0A4-BF8A-4B73-A1C2-08F2D143F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9600" y="4000500"/>
            <a:ext cx="3200400" cy="9525"/>
          </a:xfrm>
          <a:custGeom xmlns:a="http://schemas.openxmlformats.org/drawingml/2006/main">
            <a:rect l="l" t="t" r="r" b="b"/>
            <a:pathLst>
              <a:path w="3200400" h="9525">
                <a:moveTo>
                  <a:pt x="0" y="0"/>
                </a:moveTo>
                <a:lnTo>
                  <a:pt x="32004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D8DED6"/>
            </a:solidFill>
          </a:ln>
        </p:spPr>
      </p:sp>
      <p:sp>
        <p:nvSpPr>
          <p:cNvPr id="7" name="TextBox 7">
            <a:extLst xmlns:a="http://schemas.openxmlformats.org/drawingml/2006/main">
              <a:ext uri="{FF2B5EF4-FFF2-40B4-BE49-F238E27FC236}">
                <a16:creationId xmlns:a16="http://schemas.microsoft.com/office/drawing/2014/main" id="{5EF58CA8-CEFB-4E55-80A3-A95F13688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0456" y="4282440"/>
            <a:ext cx="7312000" cy="3520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>
                <a:solidFill>
                  <a:srgbClr val="5C6B64"/>
                </a:solidFill>
                <a:latin typeface="Arial"/>
                <a:ea typeface="Arial"/>
                <a:cs typeface="Arial"/>
              </a:rPr>
              <a:t>AI </a:t>
            </a:r>
            <a:r>
              <a:rPr sz="1800">
                <a:solidFill>
                  <a:srgbClr val="5C6B64"/>
                </a:solidFill>
                <a:latin typeface="Microsoft YaHei"/>
                <a:ea typeface="Microsoft YaHei"/>
                <a:cs typeface="Microsoft YaHei"/>
              </a:rPr>
              <a:t>分析完成后，仍要由工作人员检查，再决定新建或关联。</a:t>
            </a:r>
          </a:p>
        </p:txBody>
      </p:sp>
      <p:sp>
        <p:nvSpPr>
          <p:cNvPr id="8" name="TextBox 8">
            <a:extLst xmlns:a="http://schemas.openxmlformats.org/drawingml/2006/main">
              <a:ext uri="{FF2B5EF4-FFF2-40B4-BE49-F238E27FC236}">
                <a16:creationId xmlns:a16="http://schemas.microsoft.com/office/drawing/2014/main" id="{CCDB9F07-77CC-4CC8-814D-EF9D6F44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2742" y="4712018"/>
            <a:ext cx="5227168" cy="2640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50">
                <a:solidFill>
                  <a:srgbClr val="8A968F"/>
                </a:solidFill>
                <a:latin typeface="Microsoft YaHei"/>
                <a:ea typeface="Microsoft YaHei"/>
                <a:cs typeface="Microsoft YaHei"/>
              </a:rPr>
              <a:t>原始反馈、</a:t>
            </a:r>
            <a:r>
              <a:rPr sz="1350">
                <a:solidFill>
                  <a:srgbClr val="8A968F"/>
                </a:solidFill>
                <a:latin typeface="Arial"/>
                <a:ea typeface="Arial"/>
                <a:cs typeface="Arial"/>
              </a:rPr>
              <a:t>AI </a:t>
            </a:r>
            <a:r>
              <a:rPr sz="1350">
                <a:solidFill>
                  <a:srgbClr val="8A968F"/>
                </a:solidFill>
                <a:latin typeface="Microsoft YaHei"/>
                <a:ea typeface="Microsoft YaHei"/>
                <a:cs typeface="Microsoft YaHei"/>
              </a:rPr>
              <a:t>草稿和正式事项分开保存，方便回看来源。</a:t>
            </a:r>
          </a:p>
        </p:txBody>
      </p:sp>
      <p:sp>
        <p:nvSpPr>
          <p:cNvPr id="10" name="TextBox 10">
            <a:extLst xmlns:a="http://schemas.openxmlformats.org/drawingml/2006/main">
              <a:ext uri="{FF2B5EF4-FFF2-40B4-BE49-F238E27FC236}">
                <a16:creationId xmlns:a16="http://schemas.microsoft.com/office/drawing/2014/main" id="{BB8832D3-18A7-4EDF-B652-9809160AE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3504" y="5509260"/>
            <a:ext cx="781545" cy="2346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 spc="225">
                <a:solidFill>
                  <a:srgbClr val="5C6B64"/>
                </a:solidFill>
                <a:latin typeface="Microsoft YaHei"/>
                <a:ea typeface="Microsoft YaHei"/>
                <a:cs typeface="Microsoft YaHei"/>
              </a:rPr>
              <a:t>处理流程</a:t>
            </a:r>
          </a:p>
        </p:txBody>
      </p:sp>
      <p:sp>
        <p:nvSpPr>
          <p:cNvPr id="11" name="Line 11">
            <a:extLst xmlns:a="http://schemas.openxmlformats.org/drawingml/2006/main">
              <a:ext uri="{FF2B5EF4-FFF2-40B4-BE49-F238E27FC236}">
                <a16:creationId xmlns:a16="http://schemas.microsoft.com/office/drawing/2014/main" id="{F1807FA8-4DC3-4277-A0FC-6E70F1601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9600" y="5810250"/>
            <a:ext cx="10972800" cy="9525"/>
          </a:xfrm>
          <a:custGeom xmlns:a="http://schemas.openxmlformats.org/drawingml/2006/main"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D8DED6"/>
            </a:solidFill>
          </a:ln>
        </p:spPr>
      </p:sp>
      <p:sp>
        <p:nvSpPr>
          <p:cNvPr id="12" name="TextBox 12">
            <a:extLst xmlns:a="http://schemas.openxmlformats.org/drawingml/2006/main">
              <a:ext uri="{FF2B5EF4-FFF2-40B4-BE49-F238E27FC236}">
                <a16:creationId xmlns:a16="http://schemas.microsoft.com/office/drawing/2014/main" id="{3106E745-378D-4371-9032-A19DEDEB6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2742" y="6064568"/>
            <a:ext cx="1104138" cy="2640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50">
                <a:solidFill>
                  <a:srgbClr val="5C6B64"/>
                </a:solidFill>
                <a:latin typeface="Microsoft YaHei"/>
                <a:ea typeface="Microsoft YaHei"/>
                <a:cs typeface="Microsoft YaHei"/>
              </a:rPr>
              <a:t>居民文字反馈</a:t>
            </a:r>
          </a:p>
        </p:txBody>
      </p:sp>
      <p:sp>
        <p:nvSpPr>
          <p:cNvPr id="13" name="Line 13">
            <a:extLst xmlns:a="http://schemas.openxmlformats.org/drawingml/2006/main">
              <a:ext uri="{FF2B5EF4-FFF2-40B4-BE49-F238E27FC236}">
                <a16:creationId xmlns:a16="http://schemas.microsoft.com/office/drawing/2014/main" id="{51000887-90BF-4D6A-9D14-0E6FB6D38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000250" y="6153150"/>
            <a:ext cx="381000" cy="9525"/>
          </a:xfrm>
          <a:custGeom xmlns:a="http://schemas.openxmlformats.org/drawingml/2006/main">
            <a:rect l="l" t="t" r="r" b="b"/>
            <a:pathLst>
              <a:path w="381000" h="9525">
                <a:moveTo>
                  <a:pt x="0" y="0"/>
                </a:moveTo>
                <a:lnTo>
                  <a:pt x="3810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5E8C7B"/>
            </a:solidFill>
          </a:ln>
        </p:spPr>
      </p:sp>
      <p:sp>
        <p:nvSpPr>
          <p:cNvPr id="14" name="TextBox 14">
            <a:extLst xmlns:a="http://schemas.openxmlformats.org/drawingml/2006/main">
              <a:ext uri="{FF2B5EF4-FFF2-40B4-BE49-F238E27FC236}">
                <a16:creationId xmlns:a16="http://schemas.microsoft.com/office/drawing/2014/main" id="{36A187CA-A1E2-40EC-9B0F-81A8E524C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507742" y="6064568"/>
            <a:ext cx="1002640" cy="2640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50">
                <a:solidFill>
                  <a:srgbClr val="5C6B64"/>
                </a:solidFill>
                <a:latin typeface="Arial"/>
                <a:ea typeface="Arial"/>
                <a:cs typeface="Arial"/>
              </a:rPr>
              <a:t>AI </a:t>
            </a:r>
            <a:r>
              <a:rPr sz="1350">
                <a:solidFill>
                  <a:srgbClr val="5C6B64"/>
                </a:solidFill>
                <a:latin typeface="Microsoft YaHei"/>
                <a:ea typeface="Microsoft YaHei"/>
                <a:cs typeface="Microsoft YaHei"/>
              </a:rPr>
              <a:t>事项草稿</a:t>
            </a:r>
          </a:p>
        </p:txBody>
      </p:sp>
      <p:sp>
        <p:nvSpPr>
          <p:cNvPr id="15" name="Line 15">
            <a:extLst xmlns:a="http://schemas.openxmlformats.org/drawingml/2006/main">
              <a:ext uri="{FF2B5EF4-FFF2-40B4-BE49-F238E27FC236}">
                <a16:creationId xmlns:a16="http://schemas.microsoft.com/office/drawing/2014/main" id="{5E82F5BD-D991-4835-8779-2C639FB16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905250" y="6153150"/>
            <a:ext cx="381000" cy="9525"/>
          </a:xfrm>
          <a:custGeom xmlns:a="http://schemas.openxmlformats.org/drawingml/2006/main">
            <a:rect l="l" t="t" r="r" b="b"/>
            <a:pathLst>
              <a:path w="381000" h="9525">
                <a:moveTo>
                  <a:pt x="0" y="0"/>
                </a:moveTo>
                <a:lnTo>
                  <a:pt x="3810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5E8C7B"/>
            </a:solidFill>
          </a:ln>
        </p:spPr>
      </p:sp>
      <p:sp>
        <p:nvSpPr>
          <p:cNvPr id="16" name="TextBox 16">
            <a:extLst xmlns:a="http://schemas.openxmlformats.org/drawingml/2006/main">
              <a:ext uri="{FF2B5EF4-FFF2-40B4-BE49-F238E27FC236}">
                <a16:creationId xmlns:a16="http://schemas.microsoft.com/office/drawing/2014/main" id="{718992C9-EEF5-4980-B323-831E4E266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412742" y="6064568"/>
            <a:ext cx="777011" cy="2640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50" b="1">
                <a:solidFill>
                  <a:srgbClr val="1E4D40"/>
                </a:solidFill>
                <a:latin typeface="Microsoft YaHei"/>
                <a:ea typeface="Microsoft YaHei"/>
                <a:cs typeface="Microsoft YaHei"/>
              </a:rPr>
              <a:t>人工检查</a:t>
            </a:r>
          </a:p>
        </p:txBody>
      </p:sp>
      <p:sp>
        <p:nvSpPr>
          <p:cNvPr id="17" name="Line 17">
            <a:extLst xmlns:a="http://schemas.openxmlformats.org/drawingml/2006/main">
              <a:ext uri="{FF2B5EF4-FFF2-40B4-BE49-F238E27FC236}">
                <a16:creationId xmlns:a16="http://schemas.microsoft.com/office/drawing/2014/main" id="{0A3837B7-2AEB-4D72-97E2-3647E719A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619750" y="6153150"/>
            <a:ext cx="381000" cy="9525"/>
          </a:xfrm>
          <a:custGeom xmlns:a="http://schemas.openxmlformats.org/drawingml/2006/main">
            <a:rect l="l" t="t" r="r" b="b"/>
            <a:pathLst>
              <a:path w="381000" h="9525">
                <a:moveTo>
                  <a:pt x="0" y="0"/>
                </a:moveTo>
                <a:lnTo>
                  <a:pt x="3810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5E8C7B"/>
            </a:solidFill>
          </a:ln>
        </p:spPr>
      </p:sp>
      <p:sp>
        <p:nvSpPr>
          <p:cNvPr id="18" name="TextBox 18">
            <a:extLst xmlns:a="http://schemas.openxmlformats.org/drawingml/2006/main">
              <a:ext uri="{FF2B5EF4-FFF2-40B4-BE49-F238E27FC236}">
                <a16:creationId xmlns:a16="http://schemas.microsoft.com/office/drawing/2014/main" id="{858E9F53-55C9-4FF8-98D0-3CBF6DEBC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127242" y="6064568"/>
            <a:ext cx="967835" cy="2640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50" b="1">
                <a:solidFill>
                  <a:srgbClr val="1E4D40"/>
                </a:solidFill>
                <a:latin typeface="Microsoft YaHei"/>
                <a:ea typeface="Microsoft YaHei"/>
                <a:cs typeface="Microsoft YaHei"/>
              </a:rPr>
              <a:t>新建或关联</a:t>
            </a:r>
          </a:p>
        </p:txBody>
      </p:sp>
      <p:sp>
        <p:nvSpPr>
          <p:cNvPr id="19" name="Line 19">
            <a:extLst xmlns:a="http://schemas.openxmlformats.org/drawingml/2006/main">
              <a:ext uri="{FF2B5EF4-FFF2-40B4-BE49-F238E27FC236}">
                <a16:creationId xmlns:a16="http://schemas.microsoft.com/office/drawing/2014/main" id="{6B1097EA-F0AA-403B-965E-FF4B61FDA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7486650" y="6153150"/>
            <a:ext cx="381000" cy="9525"/>
          </a:xfrm>
          <a:custGeom xmlns:a="http://schemas.openxmlformats.org/drawingml/2006/main">
            <a:rect l="l" t="t" r="r" b="b"/>
            <a:pathLst>
              <a:path w="381000" h="9525">
                <a:moveTo>
                  <a:pt x="0" y="0"/>
                </a:moveTo>
                <a:lnTo>
                  <a:pt x="3810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5E8C7B"/>
            </a:solidFill>
          </a:ln>
        </p:spPr>
      </p:sp>
      <p:sp>
        <p:nvSpPr>
          <p:cNvPr id="20" name="TextBox 20">
            <a:extLst xmlns:a="http://schemas.openxmlformats.org/drawingml/2006/main">
              <a:ext uri="{FF2B5EF4-FFF2-40B4-BE49-F238E27FC236}">
                <a16:creationId xmlns:a16="http://schemas.microsoft.com/office/drawing/2014/main" id="{3F7AD209-583C-4B16-91D2-F390713B2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7994142" y="6064568"/>
            <a:ext cx="740664" cy="2640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50">
                <a:solidFill>
                  <a:srgbClr val="5C6B64"/>
                </a:solidFill>
                <a:latin typeface="Microsoft YaHei"/>
                <a:ea typeface="Microsoft YaHei"/>
                <a:cs typeface="Microsoft YaHei"/>
              </a:rPr>
              <a:t>持续跟踪</a:t>
            </a:r>
          </a:p>
        </p:txBody>
      </p:sp>
      <p:sp>
        <p:nvSpPr>
          <p:cNvPr id="22" name="TextBox 22">
            <a:extLst xmlns:a="http://schemas.openxmlformats.org/drawingml/2006/main">
              <a:ext uri="{FF2B5EF4-FFF2-40B4-BE49-F238E27FC236}">
                <a16:creationId xmlns:a16="http://schemas.microsoft.com/office/drawing/2014/main" id="{3E0D6E5D-CB80-4F36-90A8-499AF0611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3504" y="6537960"/>
            <a:ext cx="1522432" cy="2346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>
                <a:solidFill>
                  <a:srgbClr val="8A968F"/>
                </a:solidFill>
                <a:latin typeface="Arial"/>
                <a:ea typeface="Arial"/>
                <a:cs typeface="Arial"/>
              </a:rPr>
              <a:t>OneCase · </a:t>
            </a:r>
            <a:r>
              <a:rPr sz="1200">
                <a:solidFill>
                  <a:srgbClr val="8A968F"/>
                </a:solidFill>
                <a:latin typeface="Microsoft YaHei"/>
                <a:ea typeface="Microsoft YaHei"/>
                <a:cs typeface="Microsoft YaHei"/>
              </a:rPr>
              <a:t>初赛路演</a:t>
            </a:r>
          </a:p>
        </p:txBody>
      </p:sp>
      <p:sp>
        <p:nvSpPr>
          <p:cNvPr id="23" name="TextBox 23">
            <a:extLst xmlns:a="http://schemas.openxmlformats.org/drawingml/2006/main">
              <a:ext uri="{FF2B5EF4-FFF2-40B4-BE49-F238E27FC236}">
                <a16:creationId xmlns:a16="http://schemas.microsoft.com/office/drawing/2014/main" id="{18B349B4-8B8A-417B-BE74-52BBA16A7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035132" y="6537960"/>
            <a:ext cx="553364" cy="2346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200">
                <a:solidFill>
                  <a:srgbClr val="8A968F"/>
                </a:solidFill>
                <a:latin typeface="Arial"/>
                <a:ea typeface="Arial"/>
                <a:cs typeface="Arial"/>
              </a:rPr>
              <a:t>04 / 14</a:t>
            </a:r>
          </a:p>
        </p:txBody>
      </p:sp>
    </p:spTree>
    <p:extLst>
      <p:ext uri="{BB962C8B-B14F-4D97-AF65-F5344CB8AC3E}">
        <p14:creationId xmlns:p14="http://schemas.microsoft.com/office/powerpoint/2010/main" val="111415259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2">
            <a:extLst xmlns:a="http://schemas.openxmlformats.org/drawingml/2006/main">
              <a:ext uri="{FF2B5EF4-FFF2-40B4-BE49-F238E27FC236}">
                <a16:creationId xmlns:a16="http://schemas.microsoft.com/office/drawing/2014/main" id="{D1CDFA54-3858-43BB-A333-96FA33CBD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7"/>
          </a:solidFill>
          <a:ln xmlns:a="http://schemas.openxmlformats.org/drawingml/2006/main">
            <a:noFill/>
          </a:ln>
        </p:spPr>
      </p:sp>
      <p:sp>
        <p:nvSpPr>
          <p:cNvPr id="3" name="TextBox 3">
            <a:extLst xmlns:a="http://schemas.openxmlformats.org/drawingml/2006/main">
              <a:ext uri="{FF2B5EF4-FFF2-40B4-BE49-F238E27FC236}">
                <a16:creationId xmlns:a16="http://schemas.microsoft.com/office/drawing/2014/main" id="{513E4A4F-34E4-46FF-ABF7-6C9717022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3504" y="594360"/>
            <a:ext cx="1758079" cy="2346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 spc="300">
                <a:solidFill>
                  <a:srgbClr val="D97B29"/>
                </a:solidFill>
                <a:latin typeface="Microsoft YaHei"/>
                <a:ea typeface="Microsoft YaHei"/>
                <a:cs typeface="Microsoft YaHei"/>
              </a:rPr>
              <a:t>机制</a:t>
            </a:r>
            <a:r>
              <a:rPr sz="1200" b="1" spc="300">
                <a:solidFill>
                  <a:srgbClr val="D97B29"/>
                </a:solidFill>
                <a:latin typeface="Arial"/>
                <a:ea typeface="Arial"/>
                <a:cs typeface="Arial"/>
              </a:rPr>
              <a:t> · </a:t>
            </a:r>
            <a:r>
              <a:rPr sz="1200" b="1" spc="300">
                <a:solidFill>
                  <a:srgbClr val="D97B29"/>
                </a:solidFill>
                <a:latin typeface="Microsoft YaHei"/>
                <a:ea typeface="Microsoft YaHei"/>
                <a:cs typeface="Microsoft YaHei"/>
              </a:rPr>
              <a:t>拆分与关联</a:t>
            </a:r>
          </a:p>
        </p:txBody>
      </p:sp>
      <p:sp>
        <p:nvSpPr>
          <p:cNvPr id="4" name="TextBox 4">
            <a:extLst xmlns:a="http://schemas.openxmlformats.org/drawingml/2006/main">
              <a:ext uri="{FF2B5EF4-FFF2-40B4-BE49-F238E27FC236}">
                <a16:creationId xmlns:a16="http://schemas.microsoft.com/office/drawing/2014/main" id="{9D0FC069-4B88-4386-931D-BAD6AC475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93598" y="783908"/>
            <a:ext cx="4266133" cy="6160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150" b="1">
                <a:solidFill>
                  <a:srgbClr val="1E4D40"/>
                </a:solidFill>
                <a:latin typeface="SimSun"/>
                <a:ea typeface="SimSun"/>
                <a:cs typeface="SimSun"/>
              </a:rPr>
              <a:t>问题拆开，来源保留</a:t>
            </a:r>
          </a:p>
        </p:txBody>
      </p:sp>
      <p:sp>
        <p:nvSpPr>
          <p:cNvPr id="5" name="Line 5">
            <a:extLst xmlns:a="http://schemas.openxmlformats.org/drawingml/2006/main">
              <a:ext uri="{FF2B5EF4-FFF2-40B4-BE49-F238E27FC236}">
                <a16:creationId xmlns:a16="http://schemas.microsoft.com/office/drawing/2014/main" id="{AC8176AB-DB11-4466-914C-2CB138B01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9600" y="1352550"/>
            <a:ext cx="10972800" cy="9525"/>
          </a:xfrm>
          <a:custGeom xmlns:a="http://schemas.openxmlformats.org/drawingml/2006/main"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D8DED6"/>
            </a:solidFill>
          </a:ln>
        </p:spPr>
      </p:sp>
      <p:sp>
        <p:nvSpPr>
          <p:cNvPr id="7" name="Freeform 7">
            <a:extLst xmlns:a="http://schemas.openxmlformats.org/drawingml/2006/main">
              <a:ext uri="{FF2B5EF4-FFF2-40B4-BE49-F238E27FC236}">
                <a16:creationId xmlns:a16="http://schemas.microsoft.com/office/drawing/2014/main" id="{A40DB0C7-1CAC-4CBE-B414-DDE149196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42938" y="1771650"/>
            <a:ext cx="200026" cy="55563"/>
          </a:xfrm>
          <a:custGeom xmlns:a="http://schemas.openxmlformats.org/drawingml/2006/main">
            <a:rect l="l" t="t" r="r" b="b"/>
            <a:pathLst>
              <a:path w="200026" h="55563">
                <a:moveTo>
                  <a:pt x="200026" y="55563"/>
                </a:moveTo>
                <a:lnTo>
                  <a:pt x="140051" y="55563"/>
                </a:lnTo>
                <a:cubicBezTo>
                  <a:pt x="121920" y="55561"/>
                  <a:pt x="104931" y="46714"/>
                  <a:pt x="94534" y="31860"/>
                </a:cubicBezTo>
                <a:lnTo>
                  <a:pt x="88822" y="23703"/>
                </a:lnTo>
                <a:cubicBezTo>
                  <a:pt x="78426" y="8849"/>
                  <a:pt x="61436" y="1"/>
                  <a:pt x="43306" y="0"/>
                </a:cubicBez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E4D40"/>
            </a:solidFill>
          </a:ln>
        </p:spPr>
      </p:sp>
      <p:sp>
        <p:nvSpPr>
          <p:cNvPr id="8" name="Freeform 8">
            <a:extLst xmlns:a="http://schemas.openxmlformats.org/drawingml/2006/main">
              <a:ext uri="{FF2B5EF4-FFF2-40B4-BE49-F238E27FC236}">
                <a16:creationId xmlns:a16="http://schemas.microsoft.com/office/drawing/2014/main" id="{A19E15EF-6662-454F-99CF-1A34A6EC0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42938" y="1716087"/>
            <a:ext cx="200026" cy="55563"/>
          </a:xfrm>
          <a:custGeom xmlns:a="http://schemas.openxmlformats.org/drawingml/2006/main">
            <a:rect l="l" t="t" r="r" b="b"/>
            <a:pathLst>
              <a:path w="200026" h="55563">
                <a:moveTo>
                  <a:pt x="200026" y="1"/>
                </a:moveTo>
                <a:lnTo>
                  <a:pt x="140073" y="1"/>
                </a:lnTo>
                <a:cubicBezTo>
                  <a:pt x="121931" y="0"/>
                  <a:pt x="104930" y="8857"/>
                  <a:pt x="94534" y="23726"/>
                </a:cubicBezTo>
                <a:lnTo>
                  <a:pt x="88867" y="31838"/>
                </a:lnTo>
                <a:cubicBezTo>
                  <a:pt x="78473" y="46704"/>
                  <a:pt x="61478" y="55561"/>
                  <a:pt x="43339" y="55563"/>
                </a:cubicBezTo>
                <a:lnTo>
                  <a:pt x="0" y="55563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E4D40"/>
            </a:solidFill>
          </a:ln>
        </p:spPr>
      </p:sp>
      <p:sp>
        <p:nvSpPr>
          <p:cNvPr id="9" name="Freeform 9">
            <a:extLst xmlns:a="http://schemas.openxmlformats.org/drawingml/2006/main">
              <a:ext uri="{FF2B5EF4-FFF2-40B4-BE49-F238E27FC236}">
                <a16:creationId xmlns:a16="http://schemas.microsoft.com/office/drawing/2014/main" id="{C7B5F36B-BBE6-4FB9-99C9-0F9F21F25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09626" y="1682750"/>
            <a:ext cx="33338" cy="66675"/>
          </a:xfrm>
          <a:custGeom xmlns:a="http://schemas.openxmlformats.org/drawingml/2006/main">
            <a:rect l="l" t="t" r="r" b="b"/>
            <a:pathLst>
              <a:path w="33338" h="66675">
                <a:moveTo>
                  <a:pt x="0" y="66675"/>
                </a:moveTo>
                <a:lnTo>
                  <a:pt x="33338" y="3333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E4D40"/>
            </a:solidFill>
          </a:ln>
        </p:spPr>
      </p:sp>
      <p:sp>
        <p:nvSpPr>
          <p:cNvPr id="10" name="Freeform 10">
            <a:extLst xmlns:a="http://schemas.openxmlformats.org/drawingml/2006/main">
              <a:ext uri="{FF2B5EF4-FFF2-40B4-BE49-F238E27FC236}">
                <a16:creationId xmlns:a16="http://schemas.microsoft.com/office/drawing/2014/main" id="{30AABF18-6E2C-42F5-A111-1150CBEE7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09626" y="1793875"/>
            <a:ext cx="33338" cy="66675"/>
          </a:xfrm>
          <a:custGeom xmlns:a="http://schemas.openxmlformats.org/drawingml/2006/main">
            <a:rect l="l" t="t" r="r" b="b"/>
            <a:pathLst>
              <a:path w="33338" h="66675">
                <a:moveTo>
                  <a:pt x="0" y="66675"/>
                </a:moveTo>
                <a:lnTo>
                  <a:pt x="33338" y="3333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E4D40"/>
            </a:solidFill>
          </a:ln>
        </p:spPr>
      </p:sp>
      <p:sp>
        <p:nvSpPr>
          <p:cNvPr id="12" name="TextBox 12">
            <a:extLst xmlns:a="http://schemas.openxmlformats.org/drawingml/2006/main">
              <a:ext uri="{FF2B5EF4-FFF2-40B4-BE49-F238E27FC236}">
                <a16:creationId xmlns:a16="http://schemas.microsoft.com/office/drawing/2014/main" id="{FD1E2A57-FB7D-43C3-8006-2DEF1860A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83742" y="1702118"/>
            <a:ext cx="2742497" cy="2640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50" b="1">
                <a:solidFill>
                  <a:srgbClr val="22302B"/>
                </a:solidFill>
                <a:latin typeface="Microsoft YaHei"/>
                <a:ea typeface="Microsoft YaHei"/>
                <a:cs typeface="Microsoft YaHei"/>
              </a:rPr>
              <a:t>拆开</a:t>
            </a:r>
            <a:r>
              <a:rPr sz="1350" b="1">
                <a:solidFill>
                  <a:srgbClr val="22302B"/>
                </a:solidFill>
                <a:latin typeface="Arial"/>
                <a:ea typeface="Arial"/>
                <a:cs typeface="Arial"/>
              </a:rPr>
              <a:t> · </a:t>
            </a:r>
            <a:r>
              <a:rPr sz="1350" b="1">
                <a:solidFill>
                  <a:srgbClr val="22302B"/>
                </a:solidFill>
                <a:latin typeface="Microsoft YaHei"/>
                <a:ea typeface="Microsoft YaHei"/>
                <a:cs typeface="Microsoft YaHei"/>
              </a:rPr>
              <a:t>一条反馈</a:t>
            </a:r>
            <a:r>
              <a:rPr sz="1350" b="1">
                <a:solidFill>
                  <a:srgbClr val="22302B"/>
                </a:solidFill>
                <a:latin typeface="Arial"/>
                <a:ea typeface="Arial"/>
                <a:cs typeface="Arial"/>
              </a:rPr>
              <a:t> → </a:t>
            </a:r>
            <a:r>
              <a:rPr sz="1350" b="1">
                <a:solidFill>
                  <a:srgbClr val="22302B"/>
                </a:solidFill>
                <a:latin typeface="Microsoft YaHei"/>
                <a:ea typeface="Microsoft YaHei"/>
                <a:cs typeface="Microsoft YaHei"/>
              </a:rPr>
              <a:t>多个事项草稿</a:t>
            </a:r>
          </a:p>
        </p:txBody>
      </p:sp>
      <p:sp>
        <p:nvSpPr>
          <p:cNvPr id="13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73572A65-F051-4C3A-9696-CF288EE28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400300" y="2114550"/>
            <a:ext cx="16192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2ED"/>
          </a:solidFill>
          <a:ln xmlns:a="http://schemas.openxmlformats.org/drawingml/2006/main">
            <a:noFill/>
          </a:ln>
        </p:spPr>
      </p:sp>
      <p:sp>
        <p:nvSpPr>
          <p:cNvPr id="14" name="TextBox 14">
            <a:extLst xmlns:a="http://schemas.openxmlformats.org/drawingml/2006/main">
              <a:ext uri="{FF2B5EF4-FFF2-40B4-BE49-F238E27FC236}">
                <a16:creationId xmlns:a16="http://schemas.microsoft.com/office/drawing/2014/main" id="{38BBF0F1-9E74-4900-9DEF-84E81A9BA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684907" y="2314575"/>
            <a:ext cx="1050036" cy="2933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500">
                <a:solidFill>
                  <a:srgbClr val="22302B"/>
                </a:solidFill>
                <a:latin typeface="Microsoft YaHei"/>
                <a:ea typeface="Microsoft YaHei"/>
                <a:cs typeface="Microsoft YaHei"/>
              </a:rPr>
              <a:t>居民反馈</a:t>
            </a:r>
            <a:r>
              <a:rPr sz="1500">
                <a:solidFill>
                  <a:srgbClr val="22302B"/>
                </a:solidFill>
                <a:latin typeface="Arial"/>
                <a:ea typeface="Arial"/>
                <a:cs typeface="Arial"/>
              </a:rPr>
              <a:t> A</a:t>
            </a:r>
          </a:p>
        </p:txBody>
      </p:sp>
      <p:sp>
        <p:nvSpPr>
          <p:cNvPr id="15" name="Line 15">
            <a:extLst xmlns:a="http://schemas.openxmlformats.org/drawingml/2006/main">
              <a:ext uri="{FF2B5EF4-FFF2-40B4-BE49-F238E27FC236}">
                <a16:creationId xmlns:a16="http://schemas.microsoft.com/office/drawing/2014/main" id="{55F74493-F3AC-4A32-9CE3-542DCB610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0">
            <a:off x="1905000" y="2686050"/>
            <a:ext cx="1047750" cy="12763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5E8C7B"/>
            </a:solidFill>
            <a:tailEnd type="triangle" w="lg" len="lg"/>
          </a:ln>
        </p:spPr>
      </p:sp>
      <p:sp>
        <p:nvSpPr>
          <p:cNvPr id="16" name="Line 16">
            <a:extLst xmlns:a="http://schemas.openxmlformats.org/drawingml/2006/main">
              <a:ext uri="{FF2B5EF4-FFF2-40B4-BE49-F238E27FC236}">
                <a16:creationId xmlns:a16="http://schemas.microsoft.com/office/drawing/2014/main" id="{3EF72944-C883-4AB9-8415-1CD0D1543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467100" y="2686050"/>
            <a:ext cx="1047750" cy="12763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5E8C7B"/>
            </a:solidFill>
            <a:tailEnd type="triangle" w="lg" len="lg"/>
          </a:ln>
        </p:spPr>
      </p:sp>
      <p:sp>
        <p:nvSpPr>
          <p:cNvPr id="17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67845FF5-1046-46F8-9104-1CFB38914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23925" y="4038600"/>
            <a:ext cx="18097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4D40"/>
          </a:solidFill>
          <a:ln xmlns:a="http://schemas.openxmlformats.org/drawingml/2006/main">
            <a:noFill/>
          </a:ln>
        </p:spPr>
      </p:sp>
      <p:sp>
        <p:nvSpPr>
          <p:cNvPr id="18" name="TextBox 18">
            <a:extLst xmlns:a="http://schemas.openxmlformats.org/drawingml/2006/main">
              <a:ext uri="{FF2B5EF4-FFF2-40B4-BE49-F238E27FC236}">
                <a16:creationId xmlns:a16="http://schemas.microsoft.com/office/drawing/2014/main" id="{1EDF2B78-6AEF-4F5A-A64A-FC64EBDB2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276731" y="4254818"/>
            <a:ext cx="1104138" cy="2640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350">
                <a:solidFill>
                  <a:srgbClr val="FAFAF7"/>
                </a:solidFill>
                <a:latin typeface="Microsoft YaHei"/>
                <a:ea typeface="Microsoft YaHei"/>
                <a:cs typeface="Microsoft YaHei"/>
              </a:rPr>
              <a:t>草稿</a:t>
            </a:r>
            <a:r>
              <a:rPr sz="1350">
                <a:solidFill>
                  <a:srgbClr val="FAFAF7"/>
                </a:solidFill>
                <a:latin typeface="Arial"/>
                <a:ea typeface="Arial"/>
                <a:cs typeface="Arial"/>
              </a:rPr>
              <a:t> 1 · </a:t>
            </a:r>
            <a:r>
              <a:rPr sz="1350">
                <a:solidFill>
                  <a:srgbClr val="FAFAF7"/>
                </a:solidFill>
                <a:latin typeface="Microsoft YaHei"/>
                <a:ea typeface="Microsoft YaHei"/>
                <a:cs typeface="Microsoft YaHei"/>
              </a:rPr>
              <a:t>照明</a:t>
            </a:r>
          </a:p>
        </p:txBody>
      </p:sp>
      <p:sp>
        <p:nvSpPr>
          <p:cNvPr id="19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B4F378E7-4116-49C9-BAF8-B93CC646C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686175" y="4038600"/>
            <a:ext cx="18097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4D40"/>
          </a:solidFill>
          <a:ln xmlns:a="http://schemas.openxmlformats.org/drawingml/2006/main">
            <a:noFill/>
          </a:ln>
        </p:spPr>
      </p:sp>
      <p:sp>
        <p:nvSpPr>
          <p:cNvPr id="20" name="TextBox 20">
            <a:extLst xmlns:a="http://schemas.openxmlformats.org/drawingml/2006/main">
              <a:ext uri="{FF2B5EF4-FFF2-40B4-BE49-F238E27FC236}">
                <a16:creationId xmlns:a16="http://schemas.microsoft.com/office/drawing/2014/main" id="{45980666-8C0A-4130-968E-BADAB6D11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038981" y="4254818"/>
            <a:ext cx="1104138" cy="2640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350">
                <a:solidFill>
                  <a:srgbClr val="FAFAF7"/>
                </a:solidFill>
                <a:latin typeface="Microsoft YaHei"/>
                <a:ea typeface="Microsoft YaHei"/>
                <a:cs typeface="Microsoft YaHei"/>
              </a:rPr>
              <a:t>草稿</a:t>
            </a:r>
            <a:r>
              <a:rPr sz="1350">
                <a:solidFill>
                  <a:srgbClr val="FAFAF7"/>
                </a:solidFill>
                <a:latin typeface="Arial"/>
                <a:ea typeface="Arial"/>
                <a:cs typeface="Arial"/>
              </a:rPr>
              <a:t> 2 · </a:t>
            </a:r>
            <a:r>
              <a:rPr sz="1350">
                <a:solidFill>
                  <a:srgbClr val="FAFAF7"/>
                </a:solidFill>
                <a:latin typeface="Microsoft YaHei"/>
                <a:ea typeface="Microsoft YaHei"/>
                <a:cs typeface="Microsoft YaHei"/>
              </a:rPr>
              <a:t>清运</a:t>
            </a:r>
          </a:p>
        </p:txBody>
      </p:sp>
      <p:sp>
        <p:nvSpPr>
          <p:cNvPr id="22" name="Freeform 22">
            <a:extLst xmlns:a="http://schemas.openxmlformats.org/drawingml/2006/main">
              <a:ext uri="{FF2B5EF4-FFF2-40B4-BE49-F238E27FC236}">
                <a16:creationId xmlns:a16="http://schemas.microsoft.com/office/drawing/2014/main" id="{B5DB0753-1E49-4976-8C28-9010F530A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805613" y="1738313"/>
            <a:ext cx="66675" cy="66675"/>
          </a:xfrm>
          <a:custGeom xmlns:a="http://schemas.openxmlformats.org/drawingml/2006/main">
            <a:rect l="l" t="t" r="r" b="b"/>
            <a:pathLst>
              <a:path w="66675" h="66675">
                <a:moveTo>
                  <a:pt x="0" y="66675"/>
                </a:moveTo>
                <a:lnTo>
                  <a:pt x="666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E4D40"/>
            </a:solidFill>
          </a:ln>
        </p:spPr>
      </p:sp>
      <p:sp>
        <p:nvSpPr>
          <p:cNvPr id="23" name="Freeform 23">
            <a:extLst xmlns:a="http://schemas.openxmlformats.org/drawingml/2006/main">
              <a:ext uri="{FF2B5EF4-FFF2-40B4-BE49-F238E27FC236}">
                <a16:creationId xmlns:a16="http://schemas.microsoft.com/office/drawing/2014/main" id="{A73F6B12-1BB0-449A-B65C-4905A86E5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827838" y="1677321"/>
            <a:ext cx="105426" cy="105442"/>
          </a:xfrm>
          <a:custGeom xmlns:a="http://schemas.openxmlformats.org/drawingml/2006/main">
            <a:rect l="l" t="t" r="r" b="b"/>
            <a:pathLst>
              <a:path w="105426" h="105442">
                <a:moveTo>
                  <a:pt x="0" y="27655"/>
                </a:moveTo>
                <a:lnTo>
                  <a:pt x="5145" y="21698"/>
                </a:lnTo>
                <a:cubicBezTo>
                  <a:pt x="26847" y="0"/>
                  <a:pt x="62029" y="2"/>
                  <a:pt x="83727" y="21704"/>
                </a:cubicBezTo>
                <a:cubicBezTo>
                  <a:pt x="105426" y="43405"/>
                  <a:pt x="105423" y="78588"/>
                  <a:pt x="83722" y="100286"/>
                </a:cubicBezTo>
                <a:lnTo>
                  <a:pt x="77788" y="105442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E4D40"/>
            </a:solidFill>
          </a:ln>
        </p:spPr>
      </p:sp>
      <p:sp>
        <p:nvSpPr>
          <p:cNvPr id="24" name="Freeform 24">
            <a:extLst xmlns:a="http://schemas.openxmlformats.org/drawingml/2006/main">
              <a:ext uri="{FF2B5EF4-FFF2-40B4-BE49-F238E27FC236}">
                <a16:creationId xmlns:a16="http://schemas.microsoft.com/office/drawing/2014/main" id="{6B3844DB-9872-4FB0-AF1F-28719233A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750049" y="1760538"/>
            <a:ext cx="100014" cy="105419"/>
          </a:xfrm>
          <a:custGeom xmlns:a="http://schemas.openxmlformats.org/drawingml/2006/main">
            <a:rect l="l" t="t" r="r" b="b"/>
            <a:pathLst>
              <a:path w="100014" h="105419">
                <a:moveTo>
                  <a:pt x="100014" y="77788"/>
                </a:moveTo>
                <a:lnTo>
                  <a:pt x="95603" y="83722"/>
                </a:lnTo>
                <a:cubicBezTo>
                  <a:pt x="73661" y="105419"/>
                  <a:pt x="38345" y="105419"/>
                  <a:pt x="16404" y="83722"/>
                </a:cubicBezTo>
                <a:cubicBezTo>
                  <a:pt x="5907" y="73343"/>
                  <a:pt x="0" y="59195"/>
                  <a:pt x="0" y="44433"/>
                </a:cubicBezTo>
                <a:cubicBezTo>
                  <a:pt x="0" y="29672"/>
                  <a:pt x="5907" y="15524"/>
                  <a:pt x="16404" y="5145"/>
                </a:cubicBezTo>
                <a:lnTo>
                  <a:pt x="22227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E4D40"/>
            </a:solidFill>
          </a:ln>
        </p:spPr>
      </p:sp>
      <p:sp>
        <p:nvSpPr>
          <p:cNvPr id="26" name="TextBox 26">
            <a:extLst xmlns:a="http://schemas.openxmlformats.org/drawingml/2006/main">
              <a:ext uri="{FF2B5EF4-FFF2-40B4-BE49-F238E27FC236}">
                <a16:creationId xmlns:a16="http://schemas.microsoft.com/office/drawing/2014/main" id="{181C7BF9-9BEC-4B89-962C-D42DE1D49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7079742" y="1702118"/>
            <a:ext cx="2360849" cy="2640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50" b="1">
                <a:solidFill>
                  <a:srgbClr val="22302B"/>
                </a:solidFill>
                <a:latin typeface="Microsoft YaHei"/>
                <a:ea typeface="Microsoft YaHei"/>
                <a:cs typeface="Microsoft YaHei"/>
              </a:rPr>
              <a:t>关联</a:t>
            </a:r>
            <a:r>
              <a:rPr sz="1350" b="1">
                <a:solidFill>
                  <a:srgbClr val="22302B"/>
                </a:solidFill>
                <a:latin typeface="Arial"/>
                <a:ea typeface="Arial"/>
                <a:cs typeface="Arial"/>
              </a:rPr>
              <a:t> · </a:t>
            </a:r>
            <a:r>
              <a:rPr sz="1350" b="1">
                <a:solidFill>
                  <a:srgbClr val="22302B"/>
                </a:solidFill>
                <a:latin typeface="Microsoft YaHei"/>
                <a:ea typeface="Microsoft YaHei"/>
                <a:cs typeface="Microsoft YaHei"/>
              </a:rPr>
              <a:t>多条反馈</a:t>
            </a:r>
            <a:r>
              <a:rPr sz="1350" b="1">
                <a:solidFill>
                  <a:srgbClr val="22302B"/>
                </a:solidFill>
                <a:latin typeface="Arial"/>
                <a:ea typeface="Arial"/>
                <a:cs typeface="Arial"/>
              </a:rPr>
              <a:t> → </a:t>
            </a:r>
            <a:r>
              <a:rPr sz="1350" b="1">
                <a:solidFill>
                  <a:srgbClr val="22302B"/>
                </a:solidFill>
                <a:latin typeface="Microsoft YaHei"/>
                <a:ea typeface="Microsoft YaHei"/>
                <a:cs typeface="Microsoft YaHei"/>
              </a:rPr>
              <a:t>同一事项</a:t>
            </a:r>
          </a:p>
        </p:txBody>
      </p:sp>
      <p:sp>
        <p:nvSpPr>
          <p:cNvPr id="27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73BF1027-F253-47B0-B2C3-3DB2696F1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781800" y="2114550"/>
            <a:ext cx="16192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2ED"/>
          </a:solidFill>
          <a:ln xmlns:a="http://schemas.openxmlformats.org/drawingml/2006/main">
            <a:noFill/>
          </a:ln>
        </p:spPr>
      </p:sp>
      <p:sp>
        <p:nvSpPr>
          <p:cNvPr id="28" name="TextBox 28">
            <a:extLst xmlns:a="http://schemas.openxmlformats.org/drawingml/2006/main">
              <a:ext uri="{FF2B5EF4-FFF2-40B4-BE49-F238E27FC236}">
                <a16:creationId xmlns:a16="http://schemas.microsoft.com/office/drawing/2014/main" id="{38BCB595-AD35-4C81-87ED-610312941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7279767" y="2314575"/>
            <a:ext cx="623316" cy="2933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500">
                <a:solidFill>
                  <a:srgbClr val="22302B"/>
                </a:solidFill>
                <a:latin typeface="Microsoft YaHei"/>
                <a:ea typeface="Microsoft YaHei"/>
                <a:cs typeface="Microsoft YaHei"/>
              </a:rPr>
              <a:t>反馈</a:t>
            </a:r>
            <a:r>
              <a:rPr sz="1500">
                <a:solidFill>
                  <a:srgbClr val="22302B"/>
                </a:solidFill>
                <a:latin typeface="Arial"/>
                <a:ea typeface="Arial"/>
                <a:cs typeface="Arial"/>
              </a:rPr>
              <a:t> A</a:t>
            </a:r>
          </a:p>
        </p:txBody>
      </p:sp>
      <p:sp>
        <p:nvSpPr>
          <p:cNvPr id="29" name="Rectangle 29">
            <a:extLst xmlns:a="http://schemas.openxmlformats.org/drawingml/2006/main">
              <a:ext uri="{FF2B5EF4-FFF2-40B4-BE49-F238E27FC236}">
                <a16:creationId xmlns:a16="http://schemas.microsoft.com/office/drawing/2014/main" id="{CA3DB636-CFDB-445E-8F92-57FFFF8F5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505950" y="2114550"/>
            <a:ext cx="16192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2ED"/>
          </a:solidFill>
          <a:ln xmlns:a="http://schemas.openxmlformats.org/drawingml/2006/main">
            <a:noFill/>
          </a:ln>
        </p:spPr>
      </p:sp>
      <p:sp>
        <p:nvSpPr>
          <p:cNvPr id="30" name="TextBox 30">
            <a:extLst xmlns:a="http://schemas.openxmlformats.org/drawingml/2006/main">
              <a:ext uri="{FF2B5EF4-FFF2-40B4-BE49-F238E27FC236}">
                <a16:creationId xmlns:a16="http://schemas.microsoft.com/office/drawing/2014/main" id="{328CBE93-FF36-4B94-B624-CFAEE04BC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003917" y="2314575"/>
            <a:ext cx="623316" cy="2933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500">
                <a:solidFill>
                  <a:srgbClr val="22302B"/>
                </a:solidFill>
                <a:latin typeface="Microsoft YaHei"/>
                <a:ea typeface="Microsoft YaHei"/>
                <a:cs typeface="Microsoft YaHei"/>
              </a:rPr>
              <a:t>反馈</a:t>
            </a:r>
            <a:r>
              <a:rPr sz="1500">
                <a:solidFill>
                  <a:srgbClr val="22302B"/>
                </a:solidFill>
                <a:latin typeface="Arial"/>
                <a:ea typeface="Arial"/>
                <a:cs typeface="Arial"/>
              </a:rPr>
              <a:t> B</a:t>
            </a:r>
          </a:p>
        </p:txBody>
      </p:sp>
      <p:sp>
        <p:nvSpPr>
          <p:cNvPr id="31" name="Line 31">
            <a:extLst xmlns:a="http://schemas.openxmlformats.org/drawingml/2006/main">
              <a:ext uri="{FF2B5EF4-FFF2-40B4-BE49-F238E27FC236}">
                <a16:creationId xmlns:a16="http://schemas.microsoft.com/office/drawing/2014/main" id="{0EBDC628-C033-4AE7-81A3-6CE593810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7905750" y="2686050"/>
            <a:ext cx="857250" cy="12763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5E8C7B"/>
            </a:solidFill>
            <a:tailEnd type="triangle" w="lg" len="lg"/>
          </a:ln>
        </p:spPr>
      </p:sp>
      <p:sp>
        <p:nvSpPr>
          <p:cNvPr id="32" name="Line 32">
            <a:extLst xmlns:a="http://schemas.openxmlformats.org/drawingml/2006/main">
              <a:ext uri="{FF2B5EF4-FFF2-40B4-BE49-F238E27FC236}">
                <a16:creationId xmlns:a16="http://schemas.microsoft.com/office/drawing/2014/main" id="{197448DB-3F62-4DD6-AADE-48147607B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0">
            <a:off x="9144000" y="2686050"/>
            <a:ext cx="857250" cy="12763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5E8C7B"/>
            </a:solidFill>
            <a:tailEnd type="triangle" w="lg" len="lg"/>
          </a:ln>
        </p:spPr>
      </p:sp>
      <p:sp>
        <p:nvSpPr>
          <p:cNvPr id="33" name="TextBox 33">
            <a:extLst xmlns:a="http://schemas.openxmlformats.org/drawingml/2006/main">
              <a:ext uri="{FF2B5EF4-FFF2-40B4-BE49-F238E27FC236}">
                <a16:creationId xmlns:a16="http://schemas.microsoft.com/office/drawing/2014/main" id="{82181828-E81F-4254-B47B-AE1D4C92B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636737" y="3223260"/>
            <a:ext cx="690677" cy="2346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200" b="1">
                <a:solidFill>
                  <a:srgbClr val="D97B29"/>
                </a:solidFill>
                <a:latin typeface="Microsoft YaHei"/>
                <a:ea typeface="Microsoft YaHei"/>
                <a:cs typeface="Microsoft YaHei"/>
              </a:rPr>
              <a:t>人工确认</a:t>
            </a:r>
          </a:p>
        </p:txBody>
      </p:sp>
      <p:sp>
        <p:nvSpPr>
          <p:cNvPr id="34" name="Rectangle 34">
            <a:extLst xmlns:a="http://schemas.openxmlformats.org/drawingml/2006/main">
              <a:ext uri="{FF2B5EF4-FFF2-40B4-BE49-F238E27FC236}">
                <a16:creationId xmlns:a16="http://schemas.microsoft.com/office/drawing/2014/main" id="{D6A5E006-6A07-431E-B09B-44A7AAED1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029575" y="4038600"/>
            <a:ext cx="1905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4D40"/>
          </a:solidFill>
          <a:ln xmlns:a="http://schemas.openxmlformats.org/drawingml/2006/main">
            <a:noFill/>
          </a:ln>
        </p:spPr>
      </p:sp>
      <p:sp>
        <p:nvSpPr>
          <p:cNvPr id="35" name="TextBox 35">
            <a:extLst xmlns:a="http://schemas.openxmlformats.org/drawingml/2006/main">
              <a:ext uri="{FF2B5EF4-FFF2-40B4-BE49-F238E27FC236}">
                <a16:creationId xmlns:a16="http://schemas.microsoft.com/office/drawing/2014/main" id="{C5B566B6-1E2F-4EA7-B3F8-B509FD790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325507" y="4254818"/>
            <a:ext cx="1313136" cy="2640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350">
                <a:solidFill>
                  <a:srgbClr val="FAFAF7"/>
                </a:solidFill>
                <a:latin typeface="Microsoft YaHei"/>
                <a:ea typeface="Microsoft YaHei"/>
                <a:cs typeface="Microsoft YaHei"/>
              </a:rPr>
              <a:t>同一事项</a:t>
            </a:r>
            <a:r>
              <a:rPr sz="1350">
                <a:solidFill>
                  <a:srgbClr val="FAFAF7"/>
                </a:solidFill>
                <a:latin typeface="Arial"/>
                <a:ea typeface="Arial"/>
                <a:cs typeface="Arial"/>
              </a:rPr>
              <a:t> + </a:t>
            </a:r>
            <a:r>
              <a:rPr sz="1350">
                <a:solidFill>
                  <a:srgbClr val="FAFAF7"/>
                </a:solidFill>
                <a:latin typeface="Microsoft YaHei"/>
                <a:ea typeface="Microsoft YaHei"/>
                <a:cs typeface="Microsoft YaHei"/>
              </a:rPr>
              <a:t>来源</a:t>
            </a:r>
          </a:p>
        </p:txBody>
      </p:sp>
      <p:sp>
        <p:nvSpPr>
          <p:cNvPr id="37" name="Line 37">
            <a:extLst xmlns:a="http://schemas.openxmlformats.org/drawingml/2006/main">
              <a:ext uri="{FF2B5EF4-FFF2-40B4-BE49-F238E27FC236}">
                <a16:creationId xmlns:a16="http://schemas.microsoft.com/office/drawing/2014/main" id="{E43741AC-E76B-4A29-A998-763A80BCC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96000" y="1638300"/>
            <a:ext cx="9525" cy="3124200"/>
          </a:xfrm>
          <a:custGeom xmlns:a="http://schemas.openxmlformats.org/drawingml/2006/main">
            <a:rect l="l" t="t" r="r" b="b"/>
            <a:pathLst>
              <a:path w="9525" h="3124200">
                <a:moveTo>
                  <a:pt x="0" y="0"/>
                </a:moveTo>
                <a:lnTo>
                  <a:pt x="0" y="312420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D8DED6"/>
            </a:solidFill>
          </a:ln>
        </p:spPr>
      </p:sp>
      <p:sp>
        <p:nvSpPr>
          <p:cNvPr id="39" name="Line 39">
            <a:extLst xmlns:a="http://schemas.openxmlformats.org/drawingml/2006/main">
              <a:ext uri="{FF2B5EF4-FFF2-40B4-BE49-F238E27FC236}">
                <a16:creationId xmlns:a16="http://schemas.microsoft.com/office/drawing/2014/main" id="{BF332781-B3DE-4B83-A07C-51B926781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9600" y="5200650"/>
            <a:ext cx="10972800" cy="9525"/>
          </a:xfrm>
          <a:custGeom xmlns:a="http://schemas.openxmlformats.org/drawingml/2006/main"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D8DED6"/>
            </a:solidFill>
          </a:ln>
        </p:spPr>
      </p:sp>
      <p:sp>
        <p:nvSpPr>
          <p:cNvPr id="40" name="TextBox 40">
            <a:extLst xmlns:a="http://schemas.openxmlformats.org/drawingml/2006/main">
              <a:ext uri="{FF2B5EF4-FFF2-40B4-BE49-F238E27FC236}">
                <a16:creationId xmlns:a16="http://schemas.microsoft.com/office/drawing/2014/main" id="{F5994826-8ADE-4779-BB99-909834266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3504" y="5433060"/>
            <a:ext cx="751256" cy="2346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 spc="150">
                <a:solidFill>
                  <a:srgbClr val="1E4D40"/>
                </a:solidFill>
                <a:latin typeface="Microsoft YaHei"/>
                <a:ea typeface="Microsoft YaHei"/>
                <a:cs typeface="Microsoft YaHei"/>
              </a:rPr>
              <a:t>候选依据</a:t>
            </a:r>
          </a:p>
        </p:txBody>
      </p:sp>
      <p:sp>
        <p:nvSpPr>
          <p:cNvPr id="41" name="Rectangle 41">
            <a:extLst xmlns:a="http://schemas.openxmlformats.org/drawingml/2006/main">
              <a:ext uri="{FF2B5EF4-FFF2-40B4-BE49-F238E27FC236}">
                <a16:creationId xmlns:a16="http://schemas.microsoft.com/office/drawing/2014/main" id="{720F788F-E85A-4E6F-B757-A448E2BC2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9600" y="5734050"/>
            <a:ext cx="914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2ED"/>
          </a:solidFill>
          <a:ln xmlns:a="http://schemas.openxmlformats.org/drawingml/2006/main">
            <a:noFill/>
          </a:ln>
        </p:spPr>
      </p:sp>
      <p:sp>
        <p:nvSpPr>
          <p:cNvPr id="42" name="TextBox 42">
            <a:extLst xmlns:a="http://schemas.openxmlformats.org/drawingml/2006/main">
              <a:ext uri="{FF2B5EF4-FFF2-40B4-BE49-F238E27FC236}">
                <a16:creationId xmlns:a16="http://schemas.microsoft.com/office/drawing/2014/main" id="{792A5384-DBD2-4EF8-BEA7-6FA1ECAE7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737616" y="5823585"/>
            <a:ext cx="658368" cy="2346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200">
                <a:solidFill>
                  <a:srgbClr val="22302B"/>
                </a:solidFill>
                <a:latin typeface="Microsoft YaHei"/>
                <a:ea typeface="Microsoft YaHei"/>
                <a:cs typeface="Microsoft YaHei"/>
              </a:rPr>
              <a:t>标题词汇</a:t>
            </a:r>
          </a:p>
        </p:txBody>
      </p:sp>
      <p:sp>
        <p:nvSpPr>
          <p:cNvPr id="43" name="Rectangle 43">
            <a:extLst xmlns:a="http://schemas.openxmlformats.org/drawingml/2006/main">
              <a:ext uri="{FF2B5EF4-FFF2-40B4-BE49-F238E27FC236}">
                <a16:creationId xmlns:a16="http://schemas.microsoft.com/office/drawing/2014/main" id="{AA56AD5F-6930-4760-8432-B34B042EF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638300" y="5734050"/>
            <a:ext cx="6096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2ED"/>
          </a:solidFill>
          <a:ln xmlns:a="http://schemas.openxmlformats.org/drawingml/2006/main">
            <a:noFill/>
          </a:ln>
        </p:spPr>
      </p:sp>
      <p:sp>
        <p:nvSpPr>
          <p:cNvPr id="44" name="TextBox 44">
            <a:extLst xmlns:a="http://schemas.openxmlformats.org/drawingml/2006/main">
              <a:ext uri="{FF2B5EF4-FFF2-40B4-BE49-F238E27FC236}">
                <a16:creationId xmlns:a16="http://schemas.microsoft.com/office/drawing/2014/main" id="{549A5F3D-B330-4017-9FFF-35214F1CE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775460" y="5823585"/>
            <a:ext cx="335280" cy="2346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200">
                <a:solidFill>
                  <a:srgbClr val="22302B"/>
                </a:solidFill>
                <a:latin typeface="Microsoft YaHei"/>
                <a:ea typeface="Microsoft YaHei"/>
                <a:cs typeface="Microsoft YaHei"/>
              </a:rPr>
              <a:t>地点</a:t>
            </a:r>
          </a:p>
        </p:txBody>
      </p:sp>
      <p:sp>
        <p:nvSpPr>
          <p:cNvPr id="45" name="Rectangle 45">
            <a:extLst xmlns:a="http://schemas.openxmlformats.org/drawingml/2006/main">
              <a:ext uri="{FF2B5EF4-FFF2-40B4-BE49-F238E27FC236}">
                <a16:creationId xmlns:a16="http://schemas.microsoft.com/office/drawing/2014/main" id="{26C6E869-F3A4-4770-B86E-830B7AB12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362200" y="5734050"/>
            <a:ext cx="6096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2ED"/>
          </a:solidFill>
          <a:ln xmlns:a="http://schemas.openxmlformats.org/drawingml/2006/main">
            <a:noFill/>
          </a:ln>
        </p:spPr>
      </p:sp>
      <p:sp>
        <p:nvSpPr>
          <p:cNvPr id="46" name="TextBox 46">
            <a:extLst xmlns:a="http://schemas.openxmlformats.org/drawingml/2006/main">
              <a:ext uri="{FF2B5EF4-FFF2-40B4-BE49-F238E27FC236}">
                <a16:creationId xmlns:a16="http://schemas.microsoft.com/office/drawing/2014/main" id="{0B87CE16-7F8B-4769-B83F-E46086411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499360" y="5823585"/>
            <a:ext cx="335280" cy="2346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200">
                <a:solidFill>
                  <a:srgbClr val="22302B"/>
                </a:solidFill>
                <a:latin typeface="Microsoft YaHei"/>
                <a:ea typeface="Microsoft YaHei"/>
                <a:cs typeface="Microsoft YaHei"/>
              </a:rPr>
              <a:t>类别</a:t>
            </a:r>
          </a:p>
        </p:txBody>
      </p:sp>
      <p:sp>
        <p:nvSpPr>
          <p:cNvPr id="47" name="Rectangle 47">
            <a:extLst xmlns:a="http://schemas.openxmlformats.org/drawingml/2006/main">
              <a:ext uri="{FF2B5EF4-FFF2-40B4-BE49-F238E27FC236}">
                <a16:creationId xmlns:a16="http://schemas.microsoft.com/office/drawing/2014/main" id="{8AD68D9B-01B9-4756-9CE5-0F6F00F1C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086100" y="5734050"/>
            <a:ext cx="6096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2ED"/>
          </a:solidFill>
          <a:ln xmlns:a="http://schemas.openxmlformats.org/drawingml/2006/main">
            <a:noFill/>
          </a:ln>
        </p:spPr>
      </p:sp>
      <p:sp>
        <p:nvSpPr>
          <p:cNvPr id="48" name="TextBox 48">
            <a:extLst xmlns:a="http://schemas.openxmlformats.org/drawingml/2006/main">
              <a:ext uri="{FF2B5EF4-FFF2-40B4-BE49-F238E27FC236}">
                <a16:creationId xmlns:a16="http://schemas.microsoft.com/office/drawing/2014/main" id="{DE3AD40B-46B8-4EEE-BB98-7AFC5CF65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223260" y="5823585"/>
            <a:ext cx="335280" cy="2346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200">
                <a:solidFill>
                  <a:srgbClr val="22302B"/>
                </a:solidFill>
                <a:latin typeface="Microsoft YaHei"/>
                <a:ea typeface="Microsoft YaHei"/>
                <a:cs typeface="Microsoft YaHei"/>
              </a:rPr>
              <a:t>时间</a:t>
            </a:r>
          </a:p>
        </p:txBody>
      </p:sp>
      <p:sp>
        <p:nvSpPr>
          <p:cNvPr id="49" name="TextBox 49">
            <a:extLst xmlns:a="http://schemas.openxmlformats.org/drawingml/2006/main">
              <a:ext uri="{FF2B5EF4-FFF2-40B4-BE49-F238E27FC236}">
                <a16:creationId xmlns:a16="http://schemas.microsoft.com/office/drawing/2014/main" id="{81C7FD1A-3EC8-4301-BA02-A6DA6987E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184142" y="5721668"/>
            <a:ext cx="3484893" cy="2640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50">
                <a:solidFill>
                  <a:srgbClr val="5C6B64"/>
                </a:solidFill>
                <a:latin typeface="Microsoft YaHei"/>
                <a:ea typeface="Microsoft YaHei"/>
                <a:cs typeface="Microsoft YaHei"/>
              </a:rPr>
              <a:t>候选会列出匹配依据，地点不同时会提醒。</a:t>
            </a:r>
          </a:p>
        </p:txBody>
      </p:sp>
      <p:sp>
        <p:nvSpPr>
          <p:cNvPr id="50" name="TextBox 50">
            <a:extLst xmlns:a="http://schemas.openxmlformats.org/drawingml/2006/main">
              <a:ext uri="{FF2B5EF4-FFF2-40B4-BE49-F238E27FC236}">
                <a16:creationId xmlns:a16="http://schemas.microsoft.com/office/drawing/2014/main" id="{5927E6C2-4068-4FFE-8C65-986516899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184142" y="5988368"/>
            <a:ext cx="2739771" cy="2640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50">
                <a:solidFill>
                  <a:srgbClr val="5C6B64"/>
                </a:solidFill>
                <a:latin typeface="Microsoft YaHei"/>
                <a:ea typeface="Microsoft YaHei"/>
                <a:cs typeface="Microsoft YaHei"/>
              </a:rPr>
              <a:t>由工作人员核对，系统不自动合并。</a:t>
            </a:r>
          </a:p>
        </p:txBody>
      </p:sp>
      <p:sp>
        <p:nvSpPr>
          <p:cNvPr id="52" name="TextBox 52">
            <a:extLst xmlns:a="http://schemas.openxmlformats.org/drawingml/2006/main">
              <a:ext uri="{FF2B5EF4-FFF2-40B4-BE49-F238E27FC236}">
                <a16:creationId xmlns:a16="http://schemas.microsoft.com/office/drawing/2014/main" id="{99EE0E92-3C9E-4236-BE83-53A5441CA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3504" y="6537960"/>
            <a:ext cx="1522432" cy="2346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>
                <a:solidFill>
                  <a:srgbClr val="8A968F"/>
                </a:solidFill>
                <a:latin typeface="Arial"/>
                <a:ea typeface="Arial"/>
                <a:cs typeface="Arial"/>
              </a:rPr>
              <a:t>OneCase · </a:t>
            </a:r>
            <a:r>
              <a:rPr sz="1200">
                <a:solidFill>
                  <a:srgbClr val="8A968F"/>
                </a:solidFill>
                <a:latin typeface="Microsoft YaHei"/>
                <a:ea typeface="Microsoft YaHei"/>
                <a:cs typeface="Microsoft YaHei"/>
              </a:rPr>
              <a:t>初赛路演</a:t>
            </a:r>
          </a:p>
        </p:txBody>
      </p:sp>
      <p:sp>
        <p:nvSpPr>
          <p:cNvPr id="53" name="TextBox 53">
            <a:extLst xmlns:a="http://schemas.openxmlformats.org/drawingml/2006/main">
              <a:ext uri="{FF2B5EF4-FFF2-40B4-BE49-F238E27FC236}">
                <a16:creationId xmlns:a16="http://schemas.microsoft.com/office/drawing/2014/main" id="{649211B6-D12B-492A-B251-FD69C2725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035132" y="6537960"/>
            <a:ext cx="553364" cy="2346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200">
                <a:solidFill>
                  <a:srgbClr val="8A968F"/>
                </a:solidFill>
                <a:latin typeface="Arial"/>
                <a:ea typeface="Arial"/>
                <a:cs typeface="Arial"/>
              </a:rPr>
              <a:t>05 / 14</a:t>
            </a:r>
          </a:p>
        </p:txBody>
      </p:sp>
    </p:spTree>
    <p:extLst>
      <p:ext uri="{BB962C8B-B14F-4D97-AF65-F5344CB8AC3E}">
        <p14:creationId xmlns:p14="http://schemas.microsoft.com/office/powerpoint/2010/main" val="642167656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2">
            <a:extLst xmlns:a="http://schemas.openxmlformats.org/drawingml/2006/main">
              <a:ext uri="{FF2B5EF4-FFF2-40B4-BE49-F238E27FC236}">
                <a16:creationId xmlns:a16="http://schemas.microsoft.com/office/drawing/2014/main" id="{8F16E743-A8CC-4D81-87F4-ED89B6F98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7"/>
          </a:solidFill>
          <a:ln xmlns:a="http://schemas.openxmlformats.org/drawingml/2006/main">
            <a:noFill/>
          </a:ln>
        </p:spPr>
      </p:sp>
      <p:sp>
        <p:nvSpPr>
          <p:cNvPr id="3" name="TextBox 3">
            <a:extLst xmlns:a="http://schemas.openxmlformats.org/drawingml/2006/main">
              <a:ext uri="{FF2B5EF4-FFF2-40B4-BE49-F238E27FC236}">
                <a16:creationId xmlns:a16="http://schemas.microsoft.com/office/drawing/2014/main" id="{3F8A53FD-A414-487D-9CFA-D9A2C2D4F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3504" y="594360"/>
            <a:ext cx="1548072" cy="2346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 spc="300">
                <a:solidFill>
                  <a:srgbClr val="D97B29"/>
                </a:solidFill>
                <a:latin typeface="Microsoft YaHei"/>
                <a:ea typeface="Microsoft YaHei"/>
                <a:cs typeface="Microsoft YaHei"/>
              </a:rPr>
              <a:t>演示</a:t>
            </a:r>
            <a:r>
              <a:rPr sz="1200" b="1" spc="300">
                <a:solidFill>
                  <a:srgbClr val="D97B29"/>
                </a:solidFill>
                <a:latin typeface="Arial"/>
                <a:ea typeface="Arial"/>
                <a:cs typeface="Arial"/>
              </a:rPr>
              <a:t> · </a:t>
            </a:r>
            <a:r>
              <a:rPr sz="1200" b="1" spc="300">
                <a:solidFill>
                  <a:srgbClr val="D97B29"/>
                </a:solidFill>
                <a:latin typeface="Microsoft YaHei"/>
                <a:ea typeface="Microsoft YaHei"/>
                <a:cs typeface="Microsoft YaHei"/>
              </a:rPr>
              <a:t>操作步骤</a:t>
            </a:r>
          </a:p>
        </p:txBody>
      </p:sp>
      <p:sp>
        <p:nvSpPr>
          <p:cNvPr id="4" name="TextBox 4">
            <a:extLst xmlns:a="http://schemas.openxmlformats.org/drawingml/2006/main">
              <a:ext uri="{FF2B5EF4-FFF2-40B4-BE49-F238E27FC236}">
                <a16:creationId xmlns:a16="http://schemas.microsoft.com/office/drawing/2014/main" id="{5A7C2FD9-B2BE-4C10-B336-8BB3EF9A9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93598" y="783908"/>
            <a:ext cx="6147968" cy="6160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150" b="1">
                <a:solidFill>
                  <a:srgbClr val="1E4D40"/>
                </a:solidFill>
                <a:latin typeface="SimSun"/>
                <a:ea typeface="SimSun"/>
                <a:cs typeface="SimSun"/>
              </a:rPr>
              <a:t>现场演示：关联一件，新建一件</a:t>
            </a:r>
          </a:p>
        </p:txBody>
      </p:sp>
      <p:sp>
        <p:nvSpPr>
          <p:cNvPr id="5" name="Line 5">
            <a:extLst xmlns:a="http://schemas.openxmlformats.org/drawingml/2006/main">
              <a:ext uri="{FF2B5EF4-FFF2-40B4-BE49-F238E27FC236}">
                <a16:creationId xmlns:a16="http://schemas.microsoft.com/office/drawing/2014/main" id="{70717C52-C659-42E4-9E24-1BFAEE59A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9600" y="1352550"/>
            <a:ext cx="10972800" cy="9525"/>
          </a:xfrm>
          <a:custGeom xmlns:a="http://schemas.openxmlformats.org/drawingml/2006/main"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D8DED6"/>
            </a:solidFill>
          </a:ln>
        </p:spPr>
      </p:sp>
      <p:sp>
        <p:nvSpPr>
          <p:cNvPr id="7" name="Line 7">
            <a:extLst xmlns:a="http://schemas.openxmlformats.org/drawingml/2006/main">
              <a:ext uri="{FF2B5EF4-FFF2-40B4-BE49-F238E27FC236}">
                <a16:creationId xmlns:a16="http://schemas.microsoft.com/office/drawing/2014/main" id="{A286F985-0856-479F-9008-E89B0CB4C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143250" y="2114550"/>
            <a:ext cx="285750" cy="1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5E8C7B"/>
            </a:solidFill>
            <a:tailEnd type="triangle" w="lg" len="lg"/>
          </a:ln>
        </p:spPr>
      </p:sp>
      <p:sp>
        <p:nvSpPr>
          <p:cNvPr id="8" name="Line 8">
            <a:extLst xmlns:a="http://schemas.openxmlformats.org/drawingml/2006/main">
              <a:ext uri="{FF2B5EF4-FFF2-40B4-BE49-F238E27FC236}">
                <a16:creationId xmlns:a16="http://schemas.microsoft.com/office/drawing/2014/main" id="{ADB2BFF4-91D8-40B2-ADDF-C64D86AB2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934075" y="2114550"/>
            <a:ext cx="285750" cy="1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5E8C7B"/>
            </a:solidFill>
            <a:tailEnd type="triangle" w="lg" len="lg"/>
          </a:ln>
        </p:spPr>
      </p:sp>
      <p:sp>
        <p:nvSpPr>
          <p:cNvPr id="9" name="Line 9">
            <a:extLst xmlns:a="http://schemas.openxmlformats.org/drawingml/2006/main">
              <a:ext uri="{FF2B5EF4-FFF2-40B4-BE49-F238E27FC236}">
                <a16:creationId xmlns:a16="http://schemas.microsoft.com/office/drawing/2014/main" id="{143A3E44-5B29-4667-86D9-BA970F56F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724900" y="2114550"/>
            <a:ext cx="285750" cy="1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5E8C7B"/>
            </a:solidFill>
            <a:tailEnd type="triangle" w="lg" len="lg"/>
          </a:ln>
        </p:spPr>
      </p:sp>
      <p:sp>
        <p:nvSpPr>
          <p:cNvPr id="11" name="TextBox 11">
            <a:extLst xmlns:a="http://schemas.openxmlformats.org/drawingml/2006/main">
              <a:ext uri="{FF2B5EF4-FFF2-40B4-BE49-F238E27FC236}">
                <a16:creationId xmlns:a16="http://schemas.microsoft.com/office/drawing/2014/main" id="{343D3E52-7D29-4B4B-8BB7-34E6B072C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91312" y="1878330"/>
            <a:ext cx="628010" cy="704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600" b="1">
                <a:solidFill>
                  <a:srgbClr val="5E8C7B"/>
                </a:solidFill>
                <a:latin typeface="Georgia"/>
                <a:ea typeface="Georgia"/>
                <a:cs typeface="Georgia"/>
              </a:rPr>
              <a:t>01</a:t>
            </a:r>
          </a:p>
        </p:txBody>
      </p:sp>
      <p:sp>
        <p:nvSpPr>
          <p:cNvPr id="12" name="Line 12">
            <a:extLst xmlns:a="http://schemas.openxmlformats.org/drawingml/2006/main">
              <a:ext uri="{FF2B5EF4-FFF2-40B4-BE49-F238E27FC236}">
                <a16:creationId xmlns:a16="http://schemas.microsoft.com/office/drawing/2014/main" id="{8CC97B2F-3ED8-45A8-99A8-38F4F034D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9600" y="2533650"/>
            <a:ext cx="571500" cy="9525"/>
          </a:xfrm>
          <a:custGeom xmlns:a="http://schemas.openxmlformats.org/drawingml/2006/main">
            <a:rect l="l" t="t" r="r" b="b"/>
            <a:pathLst>
              <a:path w="571500" h="9525">
                <a:moveTo>
                  <a:pt x="0" y="0"/>
                </a:moveTo>
                <a:lnTo>
                  <a:pt x="5715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E4D40"/>
            </a:solidFill>
          </a:ln>
        </p:spPr>
      </p:sp>
      <p:sp>
        <p:nvSpPr>
          <p:cNvPr id="13" name="TextBox 13">
            <a:extLst xmlns:a="http://schemas.openxmlformats.org/drawingml/2006/main">
              <a:ext uri="{FF2B5EF4-FFF2-40B4-BE49-F238E27FC236}">
                <a16:creationId xmlns:a16="http://schemas.microsoft.com/office/drawing/2014/main" id="{FDA1C5CF-0AAC-4FE3-AB26-142A3E761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0456" y="2815590"/>
            <a:ext cx="1544879" cy="3520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22302B"/>
                </a:solidFill>
                <a:latin typeface="Microsoft YaHei"/>
                <a:ea typeface="Microsoft YaHei"/>
                <a:cs typeface="Microsoft YaHei"/>
              </a:rPr>
              <a:t>粘贴一段反馈</a:t>
            </a:r>
          </a:p>
        </p:txBody>
      </p:sp>
      <p:sp>
        <p:nvSpPr>
          <p:cNvPr id="14" name="TextBox 14">
            <a:extLst xmlns:a="http://schemas.openxmlformats.org/drawingml/2006/main">
              <a:ext uri="{FF2B5EF4-FFF2-40B4-BE49-F238E27FC236}">
                <a16:creationId xmlns:a16="http://schemas.microsoft.com/office/drawing/2014/main" id="{C5E17B9C-1825-4A70-B2E1-71790BF9D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2742" y="3283268"/>
            <a:ext cx="1649349" cy="2640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50">
                <a:solidFill>
                  <a:srgbClr val="5C6B64"/>
                </a:solidFill>
                <a:latin typeface="Microsoft YaHei"/>
                <a:ea typeface="Microsoft YaHei"/>
                <a:cs typeface="Microsoft YaHei"/>
              </a:rPr>
              <a:t>同时包含照明与清运</a:t>
            </a:r>
          </a:p>
        </p:txBody>
      </p:sp>
      <p:sp>
        <p:nvSpPr>
          <p:cNvPr id="15" name="TextBox 15">
            <a:extLst xmlns:a="http://schemas.openxmlformats.org/drawingml/2006/main">
              <a:ext uri="{FF2B5EF4-FFF2-40B4-BE49-F238E27FC236}">
                <a16:creationId xmlns:a16="http://schemas.microsoft.com/office/drawing/2014/main" id="{8B267E1D-F39F-4A62-8655-21559D68B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2742" y="3549968"/>
            <a:ext cx="1831086" cy="2640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50">
                <a:solidFill>
                  <a:srgbClr val="5C6B64"/>
                </a:solidFill>
                <a:latin typeface="Microsoft YaHei"/>
                <a:ea typeface="Microsoft YaHei"/>
                <a:cs typeface="Microsoft YaHei"/>
              </a:rPr>
              <a:t>两个问题的一段原文。</a:t>
            </a:r>
          </a:p>
        </p:txBody>
      </p:sp>
      <p:sp>
        <p:nvSpPr>
          <p:cNvPr id="17" name="TextBox 17">
            <a:extLst xmlns:a="http://schemas.openxmlformats.org/drawingml/2006/main">
              <a:ext uri="{FF2B5EF4-FFF2-40B4-BE49-F238E27FC236}">
                <a16:creationId xmlns:a16="http://schemas.microsoft.com/office/drawing/2014/main" id="{5F2D6B08-5168-40B0-902F-B71237C8B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382137" y="1878330"/>
            <a:ext cx="628010" cy="704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600" b="1">
                <a:solidFill>
                  <a:srgbClr val="5E8C7B"/>
                </a:solidFill>
                <a:latin typeface="Georgia"/>
                <a:ea typeface="Georgia"/>
                <a:cs typeface="Georgia"/>
              </a:rPr>
              <a:t>02</a:t>
            </a:r>
          </a:p>
        </p:txBody>
      </p:sp>
      <p:sp>
        <p:nvSpPr>
          <p:cNvPr id="18" name="Line 18">
            <a:extLst xmlns:a="http://schemas.openxmlformats.org/drawingml/2006/main">
              <a:ext uri="{FF2B5EF4-FFF2-40B4-BE49-F238E27FC236}">
                <a16:creationId xmlns:a16="http://schemas.microsoft.com/office/drawing/2014/main" id="{01DDA14D-B666-4B04-B8F1-4A24E80AB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400425" y="2533650"/>
            <a:ext cx="571500" cy="9525"/>
          </a:xfrm>
          <a:custGeom xmlns:a="http://schemas.openxmlformats.org/drawingml/2006/main">
            <a:rect l="l" t="t" r="r" b="b"/>
            <a:pathLst>
              <a:path w="571500" h="9525">
                <a:moveTo>
                  <a:pt x="0" y="0"/>
                </a:moveTo>
                <a:lnTo>
                  <a:pt x="5715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E4D40"/>
            </a:solidFill>
          </a:ln>
        </p:spPr>
      </p:sp>
      <p:sp>
        <p:nvSpPr>
          <p:cNvPr id="19" name="TextBox 19">
            <a:extLst xmlns:a="http://schemas.openxmlformats.org/drawingml/2006/main">
              <a:ext uri="{FF2B5EF4-FFF2-40B4-BE49-F238E27FC236}">
                <a16:creationId xmlns:a16="http://schemas.microsoft.com/office/drawing/2014/main" id="{F086BBD6-404F-42E8-9D10-CB74BDF71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391281" y="2815590"/>
            <a:ext cx="1799311" cy="3520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22302B"/>
                </a:solidFill>
                <a:latin typeface="Microsoft YaHei"/>
                <a:ea typeface="Microsoft YaHei"/>
                <a:cs typeface="Microsoft YaHei"/>
              </a:rPr>
              <a:t>检查草稿与候选</a:t>
            </a:r>
          </a:p>
        </p:txBody>
      </p:sp>
      <p:sp>
        <p:nvSpPr>
          <p:cNvPr id="20" name="TextBox 20">
            <a:extLst xmlns:a="http://schemas.openxmlformats.org/drawingml/2006/main">
              <a:ext uri="{FF2B5EF4-FFF2-40B4-BE49-F238E27FC236}">
                <a16:creationId xmlns:a16="http://schemas.microsoft.com/office/drawing/2014/main" id="{5FE1A0F9-6E3D-4050-9F96-8FDAE16DB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393567" y="3283268"/>
            <a:ext cx="1649349" cy="2640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50">
                <a:solidFill>
                  <a:srgbClr val="5C6B64"/>
                </a:solidFill>
                <a:latin typeface="Microsoft YaHei"/>
                <a:ea typeface="Microsoft YaHei"/>
                <a:cs typeface="Microsoft YaHei"/>
              </a:rPr>
              <a:t>两个草稿，各带相似</a:t>
            </a:r>
          </a:p>
        </p:txBody>
      </p:sp>
      <p:sp>
        <p:nvSpPr>
          <p:cNvPr id="21" name="TextBox 21">
            <a:extLst xmlns:a="http://schemas.openxmlformats.org/drawingml/2006/main">
              <a:ext uri="{FF2B5EF4-FFF2-40B4-BE49-F238E27FC236}">
                <a16:creationId xmlns:a16="http://schemas.microsoft.com/office/drawing/2014/main" id="{2F8953B6-396C-4892-BE49-4B391688B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393567" y="3549968"/>
            <a:ext cx="1467612" cy="2640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50">
                <a:solidFill>
                  <a:srgbClr val="5C6B64"/>
                </a:solidFill>
                <a:latin typeface="Microsoft YaHei"/>
                <a:ea typeface="Microsoft YaHei"/>
                <a:cs typeface="Microsoft YaHei"/>
              </a:rPr>
              <a:t>事项候选与依据。</a:t>
            </a:r>
          </a:p>
        </p:txBody>
      </p:sp>
      <p:sp>
        <p:nvSpPr>
          <p:cNvPr id="23" name="TextBox 23">
            <a:extLst xmlns:a="http://schemas.openxmlformats.org/drawingml/2006/main">
              <a:ext uri="{FF2B5EF4-FFF2-40B4-BE49-F238E27FC236}">
                <a16:creationId xmlns:a16="http://schemas.microsoft.com/office/drawing/2014/main" id="{DBFE55B7-4B1A-40D4-87F1-F6B62352C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172962" y="1878330"/>
            <a:ext cx="628010" cy="704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600" b="1">
                <a:solidFill>
                  <a:srgbClr val="D97B29"/>
                </a:solidFill>
                <a:latin typeface="Georgia"/>
                <a:ea typeface="Georgia"/>
                <a:cs typeface="Georgia"/>
              </a:rPr>
              <a:t>03</a:t>
            </a:r>
          </a:p>
        </p:txBody>
      </p:sp>
      <p:sp>
        <p:nvSpPr>
          <p:cNvPr id="24" name="Line 24">
            <a:extLst xmlns:a="http://schemas.openxmlformats.org/drawingml/2006/main">
              <a:ext uri="{FF2B5EF4-FFF2-40B4-BE49-F238E27FC236}">
                <a16:creationId xmlns:a16="http://schemas.microsoft.com/office/drawing/2014/main" id="{6E929B3A-6CA1-4657-80D1-2DE15FDD3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191250" y="2533650"/>
            <a:ext cx="571500" cy="9525"/>
          </a:xfrm>
          <a:custGeom xmlns:a="http://schemas.openxmlformats.org/drawingml/2006/main">
            <a:rect l="l" t="t" r="r" b="b"/>
            <a:pathLst>
              <a:path w="571500" h="9525">
                <a:moveTo>
                  <a:pt x="0" y="0"/>
                </a:moveTo>
                <a:lnTo>
                  <a:pt x="5715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D97B29"/>
            </a:solidFill>
          </a:ln>
        </p:spPr>
      </p:sp>
      <p:sp>
        <p:nvSpPr>
          <p:cNvPr id="25" name="TextBox 25">
            <a:extLst xmlns:a="http://schemas.openxmlformats.org/drawingml/2006/main">
              <a:ext uri="{FF2B5EF4-FFF2-40B4-BE49-F238E27FC236}">
                <a16:creationId xmlns:a16="http://schemas.microsoft.com/office/drawing/2014/main" id="{5143D038-F34B-4D16-94EE-4FC5F3764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182106" y="2815590"/>
            <a:ext cx="1544879" cy="3520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22302B"/>
                </a:solidFill>
                <a:latin typeface="Microsoft YaHei"/>
                <a:ea typeface="Microsoft YaHei"/>
                <a:cs typeface="Microsoft YaHei"/>
              </a:rPr>
              <a:t>关联或新建</a:t>
            </a:r>
          </a:p>
        </p:txBody>
      </p:sp>
      <p:sp>
        <p:nvSpPr>
          <p:cNvPr id="26" name="TextBox 26">
            <a:extLst xmlns:a="http://schemas.openxmlformats.org/drawingml/2006/main">
              <a:ext uri="{FF2B5EF4-FFF2-40B4-BE49-F238E27FC236}">
                <a16:creationId xmlns:a16="http://schemas.microsoft.com/office/drawing/2014/main" id="{B6ABD9EB-5B51-4E1A-90B6-CFB673DE0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184392" y="3283268"/>
            <a:ext cx="1649349" cy="2640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50">
                <a:solidFill>
                  <a:srgbClr val="5C6B64"/>
                </a:solidFill>
                <a:latin typeface="Microsoft YaHei"/>
                <a:ea typeface="Microsoft YaHei"/>
                <a:cs typeface="Microsoft YaHei"/>
              </a:rPr>
              <a:t>照明关联已有事项；</a:t>
            </a:r>
          </a:p>
        </p:txBody>
      </p:sp>
      <p:sp>
        <p:nvSpPr>
          <p:cNvPr id="27" name="TextBox 27">
            <a:extLst xmlns:a="http://schemas.openxmlformats.org/drawingml/2006/main">
              <a:ext uri="{FF2B5EF4-FFF2-40B4-BE49-F238E27FC236}">
                <a16:creationId xmlns:a16="http://schemas.microsoft.com/office/drawing/2014/main" id="{40DAB03E-35E6-4B97-9649-22AAFB1A1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184392" y="3549968"/>
            <a:ext cx="1649349" cy="2640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50">
                <a:solidFill>
                  <a:srgbClr val="5C6B64"/>
                </a:solidFill>
                <a:latin typeface="Microsoft YaHei"/>
                <a:ea typeface="Microsoft YaHei"/>
                <a:cs typeface="Microsoft YaHei"/>
              </a:rPr>
              <a:t>清运问题新建事项。</a:t>
            </a:r>
          </a:p>
        </p:txBody>
      </p:sp>
      <p:sp>
        <p:nvSpPr>
          <p:cNvPr id="29" name="TextBox 29">
            <a:extLst xmlns:a="http://schemas.openxmlformats.org/drawingml/2006/main">
              <a:ext uri="{FF2B5EF4-FFF2-40B4-BE49-F238E27FC236}">
                <a16:creationId xmlns:a16="http://schemas.microsoft.com/office/drawing/2014/main" id="{D6E3EF69-F9A8-40F3-8A8C-3A65FE8B8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963787" y="1878330"/>
            <a:ext cx="628010" cy="704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600" b="1">
                <a:solidFill>
                  <a:srgbClr val="5E8C7B"/>
                </a:solidFill>
                <a:latin typeface="Georgia"/>
                <a:ea typeface="Georgia"/>
                <a:cs typeface="Georgia"/>
              </a:rPr>
              <a:t>04</a:t>
            </a:r>
          </a:p>
        </p:txBody>
      </p:sp>
      <p:sp>
        <p:nvSpPr>
          <p:cNvPr id="30" name="Line 30">
            <a:extLst xmlns:a="http://schemas.openxmlformats.org/drawingml/2006/main">
              <a:ext uri="{FF2B5EF4-FFF2-40B4-BE49-F238E27FC236}">
                <a16:creationId xmlns:a16="http://schemas.microsoft.com/office/drawing/2014/main" id="{BE246798-C715-4E3B-B177-DED04E89E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982075" y="2533650"/>
            <a:ext cx="571500" cy="9525"/>
          </a:xfrm>
          <a:custGeom xmlns:a="http://schemas.openxmlformats.org/drawingml/2006/main">
            <a:rect l="l" t="t" r="r" b="b"/>
            <a:pathLst>
              <a:path w="571500" h="9525">
                <a:moveTo>
                  <a:pt x="0" y="0"/>
                </a:moveTo>
                <a:lnTo>
                  <a:pt x="5715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E4D40"/>
            </a:solidFill>
          </a:ln>
        </p:spPr>
      </p:sp>
      <p:sp>
        <p:nvSpPr>
          <p:cNvPr id="31" name="TextBox 31">
            <a:extLst xmlns:a="http://schemas.openxmlformats.org/drawingml/2006/main">
              <a:ext uri="{FF2B5EF4-FFF2-40B4-BE49-F238E27FC236}">
                <a16:creationId xmlns:a16="http://schemas.microsoft.com/office/drawing/2014/main" id="{16588C8B-3280-4FF1-A94F-DA8AECD31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972931" y="2815590"/>
            <a:ext cx="1544879" cy="3520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22302B"/>
                </a:solidFill>
                <a:latin typeface="Microsoft YaHei"/>
                <a:ea typeface="Microsoft YaHei"/>
                <a:cs typeface="Microsoft YaHei"/>
              </a:rPr>
              <a:t>查看处理结果</a:t>
            </a:r>
          </a:p>
        </p:txBody>
      </p:sp>
      <p:sp>
        <p:nvSpPr>
          <p:cNvPr id="32" name="TextBox 32">
            <a:extLst xmlns:a="http://schemas.openxmlformats.org/drawingml/2006/main">
              <a:ext uri="{FF2B5EF4-FFF2-40B4-BE49-F238E27FC236}">
                <a16:creationId xmlns:a16="http://schemas.microsoft.com/office/drawing/2014/main" id="{94CC5268-040F-4590-8B2E-5BFCC0E8C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975217" y="3283268"/>
            <a:ext cx="1467612" cy="2640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50">
                <a:solidFill>
                  <a:srgbClr val="5C6B64"/>
                </a:solidFill>
                <a:latin typeface="Microsoft YaHei"/>
                <a:ea typeface="Microsoft YaHei"/>
                <a:cs typeface="Microsoft YaHei"/>
              </a:rPr>
              <a:t>来源、处理记录与</a:t>
            </a:r>
          </a:p>
        </p:txBody>
      </p:sp>
      <p:sp>
        <p:nvSpPr>
          <p:cNvPr id="33" name="TextBox 33">
            <a:extLst xmlns:a="http://schemas.openxmlformats.org/drawingml/2006/main">
              <a:ext uri="{FF2B5EF4-FFF2-40B4-BE49-F238E27FC236}">
                <a16:creationId xmlns:a16="http://schemas.microsoft.com/office/drawing/2014/main" id="{1CD0F408-32D9-4768-B9FA-71C41D33B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975217" y="3549968"/>
            <a:ext cx="1285875" cy="2640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50">
                <a:solidFill>
                  <a:srgbClr val="5C6B64"/>
                </a:solidFill>
                <a:latin typeface="Microsoft YaHei"/>
                <a:ea typeface="Microsoft YaHei"/>
                <a:cs typeface="Microsoft YaHei"/>
              </a:rPr>
              <a:t>首页统计变化。</a:t>
            </a:r>
          </a:p>
        </p:txBody>
      </p:sp>
      <p:sp>
        <p:nvSpPr>
          <p:cNvPr id="35" name="Rectangle 35">
            <a:extLst xmlns:a="http://schemas.openxmlformats.org/drawingml/2006/main">
              <a:ext uri="{FF2B5EF4-FFF2-40B4-BE49-F238E27FC236}">
                <a16:creationId xmlns:a16="http://schemas.microsoft.com/office/drawing/2014/main" id="{2390271C-EB60-41B1-9E9A-25945125D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9600" y="4476750"/>
            <a:ext cx="109728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2ED"/>
          </a:solidFill>
          <a:ln xmlns:a="http://schemas.openxmlformats.org/drawingml/2006/main">
            <a:noFill/>
          </a:ln>
        </p:spPr>
      </p:sp>
      <p:sp>
        <p:nvSpPr>
          <p:cNvPr id="36" name="TextBox 36">
            <a:extLst xmlns:a="http://schemas.openxmlformats.org/drawingml/2006/main">
              <a:ext uri="{FF2B5EF4-FFF2-40B4-BE49-F238E27FC236}">
                <a16:creationId xmlns:a16="http://schemas.microsoft.com/office/drawing/2014/main" id="{38E083E0-3AE9-48B0-9694-804DBF22B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45642" y="4845368"/>
            <a:ext cx="837590" cy="2640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50" b="1" spc="150">
                <a:solidFill>
                  <a:srgbClr val="1E4D40"/>
                </a:solidFill>
                <a:latin typeface="Microsoft YaHei"/>
                <a:ea typeface="Microsoft YaHei"/>
                <a:cs typeface="Microsoft YaHei"/>
              </a:rPr>
              <a:t>演示说明</a:t>
            </a:r>
          </a:p>
        </p:txBody>
      </p:sp>
      <p:sp>
        <p:nvSpPr>
          <p:cNvPr id="37" name="TextBox 37">
            <a:extLst xmlns:a="http://schemas.openxmlformats.org/drawingml/2006/main">
              <a:ext uri="{FF2B5EF4-FFF2-40B4-BE49-F238E27FC236}">
                <a16:creationId xmlns:a16="http://schemas.microsoft.com/office/drawing/2014/main" id="{70BFFE0D-0BF0-447B-A3B2-4280B69AB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45642" y="5207318"/>
            <a:ext cx="7947993" cy="2640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50">
                <a:solidFill>
                  <a:srgbClr val="22302B"/>
                </a:solidFill>
                <a:latin typeface="Microsoft YaHei"/>
                <a:ea typeface="Microsoft YaHei"/>
                <a:cs typeface="Microsoft YaHei"/>
              </a:rPr>
              <a:t>演示使用合成数据，现场说明使用真实模型还是</a:t>
            </a:r>
            <a:r>
              <a:rPr sz="1350">
                <a:solidFill>
                  <a:srgbClr val="22302B"/>
                </a:solidFill>
                <a:latin typeface="Arial"/>
                <a:ea typeface="Arial"/>
                <a:cs typeface="Arial"/>
              </a:rPr>
              <a:t> Mock</a:t>
            </a:r>
            <a:r>
              <a:rPr sz="1350">
                <a:solidFill>
                  <a:srgbClr val="22302B"/>
                </a:solidFill>
                <a:latin typeface="Microsoft YaHei"/>
                <a:ea typeface="Microsoft YaHei"/>
                <a:cs typeface="Microsoft YaHei"/>
              </a:rPr>
              <a:t>。</a:t>
            </a:r>
            <a:r>
              <a:rPr sz="1350">
                <a:solidFill>
                  <a:srgbClr val="22302B"/>
                </a:solidFill>
                <a:latin typeface="Arial"/>
                <a:ea typeface="Arial"/>
                <a:cs typeface="Arial"/>
              </a:rPr>
              <a:t>Mock </a:t>
            </a:r>
            <a:r>
              <a:rPr sz="1350">
                <a:solidFill>
                  <a:srgbClr val="22302B"/>
                </a:solidFill>
                <a:latin typeface="Microsoft YaHei"/>
                <a:ea typeface="Microsoft YaHei"/>
                <a:cs typeface="Microsoft YaHei"/>
              </a:rPr>
              <a:t>只检查操作流程，不代表模型效果。</a:t>
            </a:r>
          </a:p>
        </p:txBody>
      </p:sp>
      <p:sp>
        <p:nvSpPr>
          <p:cNvPr id="39" name="TextBox 39">
            <a:extLst xmlns:a="http://schemas.openxmlformats.org/drawingml/2006/main">
              <a:ext uri="{FF2B5EF4-FFF2-40B4-BE49-F238E27FC236}">
                <a16:creationId xmlns:a16="http://schemas.microsoft.com/office/drawing/2014/main" id="{1E00F110-D104-439A-A6C3-561564F43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3504" y="6404610"/>
            <a:ext cx="1522432" cy="2346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>
                <a:solidFill>
                  <a:srgbClr val="8A968F"/>
                </a:solidFill>
                <a:latin typeface="Arial"/>
                <a:ea typeface="Arial"/>
                <a:cs typeface="Arial"/>
              </a:rPr>
              <a:t>OneCase · </a:t>
            </a:r>
            <a:r>
              <a:rPr sz="1200">
                <a:solidFill>
                  <a:srgbClr val="8A968F"/>
                </a:solidFill>
                <a:latin typeface="Microsoft YaHei"/>
                <a:ea typeface="Microsoft YaHei"/>
                <a:cs typeface="Microsoft YaHei"/>
              </a:rPr>
              <a:t>初赛路演</a:t>
            </a:r>
          </a:p>
        </p:txBody>
      </p:sp>
      <p:sp>
        <p:nvSpPr>
          <p:cNvPr id="40" name="TextBox 40">
            <a:extLst xmlns:a="http://schemas.openxmlformats.org/drawingml/2006/main">
              <a:ext uri="{FF2B5EF4-FFF2-40B4-BE49-F238E27FC236}">
                <a16:creationId xmlns:a16="http://schemas.microsoft.com/office/drawing/2014/main" id="{E8EA853F-EE04-4FFC-9A3E-AEF60D4D2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035132" y="6404610"/>
            <a:ext cx="553364" cy="2346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200">
                <a:solidFill>
                  <a:srgbClr val="8A968F"/>
                </a:solidFill>
                <a:latin typeface="Arial"/>
                <a:ea typeface="Arial"/>
                <a:cs typeface="Arial"/>
              </a:rPr>
              <a:t>06 / 14</a:t>
            </a:r>
          </a:p>
        </p:txBody>
      </p:sp>
    </p:spTree>
    <p:extLst>
      <p:ext uri="{BB962C8B-B14F-4D97-AF65-F5344CB8AC3E}">
        <p14:creationId xmlns:p14="http://schemas.microsoft.com/office/powerpoint/2010/main" val="27318082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2">
            <a:extLst xmlns:a="http://schemas.openxmlformats.org/drawingml/2006/main">
              <a:ext uri="{FF2B5EF4-FFF2-40B4-BE49-F238E27FC236}">
                <a16:creationId xmlns:a16="http://schemas.microsoft.com/office/drawing/2014/main" id="{7D2B559B-895B-42A9-B535-7746E79ED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7"/>
          </a:solidFill>
          <a:ln xmlns:a="http://schemas.openxmlformats.org/drawingml/2006/main">
            <a:noFill/>
          </a:ln>
        </p:spPr>
      </p:sp>
      <p:sp>
        <p:nvSpPr>
          <p:cNvPr id="3" name="TextBox 3">
            <a:extLst xmlns:a="http://schemas.openxmlformats.org/drawingml/2006/main">
              <a:ext uri="{FF2B5EF4-FFF2-40B4-BE49-F238E27FC236}">
                <a16:creationId xmlns:a16="http://schemas.microsoft.com/office/drawing/2014/main" id="{9F74EB97-95DD-4F56-A3C2-38B0D9CFB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3504" y="594360"/>
            <a:ext cx="2598108" cy="2346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 spc="300">
                <a:solidFill>
                  <a:srgbClr val="D97B29"/>
                </a:solidFill>
                <a:latin typeface="Microsoft YaHei"/>
                <a:ea typeface="Microsoft YaHei"/>
                <a:cs typeface="Microsoft YaHei"/>
              </a:rPr>
              <a:t>容错</a:t>
            </a:r>
            <a:r>
              <a:rPr sz="1200" b="1" spc="300">
                <a:solidFill>
                  <a:srgbClr val="D97B29"/>
                </a:solidFill>
                <a:latin typeface="Arial"/>
                <a:ea typeface="Arial"/>
                <a:cs typeface="Arial"/>
              </a:rPr>
              <a:t> · </a:t>
            </a:r>
            <a:r>
              <a:rPr sz="1200" b="1" spc="300">
                <a:solidFill>
                  <a:srgbClr val="D97B29"/>
                </a:solidFill>
                <a:latin typeface="Microsoft YaHei"/>
                <a:ea typeface="Microsoft YaHei"/>
                <a:cs typeface="Microsoft YaHei"/>
              </a:rPr>
              <a:t>修改、重试与手动处理</a:t>
            </a:r>
          </a:p>
        </p:txBody>
      </p:sp>
      <p:sp>
        <p:nvSpPr>
          <p:cNvPr id="4" name="TextBox 4">
            <a:extLst xmlns:a="http://schemas.openxmlformats.org/drawingml/2006/main">
              <a:ext uri="{FF2B5EF4-FFF2-40B4-BE49-F238E27FC236}">
                <a16:creationId xmlns:a16="http://schemas.microsoft.com/office/drawing/2014/main" id="{8B17C9C3-C14F-4975-8FD7-D090EB590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93598" y="783908"/>
            <a:ext cx="6147968" cy="6160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150" b="1">
                <a:solidFill>
                  <a:srgbClr val="1E4D40"/>
                </a:solidFill>
                <a:latin typeface="SimSun"/>
                <a:ea typeface="SimSun"/>
                <a:cs typeface="SimSun"/>
              </a:rPr>
              <a:t>草稿能修改，分析失败可重试</a:t>
            </a:r>
          </a:p>
        </p:txBody>
      </p:sp>
      <p:sp>
        <p:nvSpPr>
          <p:cNvPr id="5" name="Line 5">
            <a:extLst xmlns:a="http://schemas.openxmlformats.org/drawingml/2006/main">
              <a:ext uri="{FF2B5EF4-FFF2-40B4-BE49-F238E27FC236}">
                <a16:creationId xmlns:a16="http://schemas.microsoft.com/office/drawing/2014/main" id="{68DE1660-8691-4E9C-A325-B9119F538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9600" y="1352550"/>
            <a:ext cx="10972800" cy="9525"/>
          </a:xfrm>
          <a:custGeom xmlns:a="http://schemas.openxmlformats.org/drawingml/2006/main"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D8DED6"/>
            </a:solidFill>
          </a:ln>
        </p:spPr>
      </p:sp>
      <p:sp>
        <p:nvSpPr>
          <p:cNvPr id="7" name="Line 7">
            <a:extLst xmlns:a="http://schemas.openxmlformats.org/drawingml/2006/main">
              <a:ext uri="{FF2B5EF4-FFF2-40B4-BE49-F238E27FC236}">
                <a16:creationId xmlns:a16="http://schemas.microsoft.com/office/drawing/2014/main" id="{8E0CCF08-2EEA-4181-AE6E-E9F936224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96000" y="1714500"/>
            <a:ext cx="9525" cy="4191000"/>
          </a:xfrm>
          <a:custGeom xmlns:a="http://schemas.openxmlformats.org/drawingml/2006/main">
            <a:rect l="l" t="t" r="r" b="b"/>
            <a:pathLst>
              <a:path w="9525" h="4191000">
                <a:moveTo>
                  <a:pt x="0" y="0"/>
                </a:moveTo>
                <a:lnTo>
                  <a:pt x="0" y="419100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D8DED6"/>
            </a:solidFill>
          </a:ln>
        </p:spPr>
      </p:sp>
      <p:sp>
        <p:nvSpPr>
          <p:cNvPr id="8" name="Line 8">
            <a:extLst xmlns:a="http://schemas.openxmlformats.org/drawingml/2006/main">
              <a:ext uri="{FF2B5EF4-FFF2-40B4-BE49-F238E27FC236}">
                <a16:creationId xmlns:a16="http://schemas.microsoft.com/office/drawing/2014/main" id="{3C327997-DFFE-44DC-89FB-E92B4BE06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9600" y="3810000"/>
            <a:ext cx="10972800" cy="9525"/>
          </a:xfrm>
          <a:custGeom xmlns:a="http://schemas.openxmlformats.org/drawingml/2006/main"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D8DED6"/>
            </a:solidFill>
          </a:ln>
        </p:spPr>
      </p:sp>
      <p:sp>
        <p:nvSpPr>
          <p:cNvPr id="10" name="Freeform 10">
            <a:extLst xmlns:a="http://schemas.openxmlformats.org/drawingml/2006/main">
              <a:ext uri="{FF2B5EF4-FFF2-40B4-BE49-F238E27FC236}">
                <a16:creationId xmlns:a16="http://schemas.microsoft.com/office/drawing/2014/main" id="{C899D921-6821-4965-94E2-783154F93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60400" y="1846522"/>
            <a:ext cx="198178" cy="198178"/>
          </a:xfrm>
          <a:custGeom xmlns:a="http://schemas.openxmlformats.org/drawingml/2006/main">
            <a:rect l="l" t="t" r="r" b="b"/>
            <a:pathLst>
              <a:path w="198178" h="198178">
                <a:moveTo>
                  <a:pt x="0" y="198178"/>
                </a:moveTo>
                <a:lnTo>
                  <a:pt x="50800" y="198178"/>
                </a:lnTo>
                <a:lnTo>
                  <a:pt x="184150" y="64828"/>
                </a:lnTo>
                <a:cubicBezTo>
                  <a:pt x="198178" y="50800"/>
                  <a:pt x="198178" y="28056"/>
                  <a:pt x="184150" y="14028"/>
                </a:cubicBezTo>
                <a:cubicBezTo>
                  <a:pt x="170122" y="0"/>
                  <a:pt x="147378" y="0"/>
                  <a:pt x="133350" y="14028"/>
                </a:cubicBezTo>
                <a:lnTo>
                  <a:pt x="0" y="147378"/>
                </a:lnTo>
                <a:lnTo>
                  <a:pt x="0" y="198178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E4D40"/>
            </a:solidFill>
          </a:ln>
        </p:spPr>
      </p:sp>
      <p:sp>
        <p:nvSpPr>
          <p:cNvPr id="11" name="Freeform 11">
            <a:extLst xmlns:a="http://schemas.openxmlformats.org/drawingml/2006/main">
              <a:ext uri="{FF2B5EF4-FFF2-40B4-BE49-F238E27FC236}">
                <a16:creationId xmlns:a16="http://schemas.microsoft.com/office/drawing/2014/main" id="{78181969-4CB4-4D5A-8637-E950DD1E1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781050" y="1873250"/>
            <a:ext cx="50800" cy="50800"/>
          </a:xfrm>
          <a:custGeom xmlns:a="http://schemas.openxmlformats.org/drawingml/2006/main">
            <a:rect l="l" t="t" r="r" b="b"/>
            <a:pathLst>
              <a:path w="50800" h="50800">
                <a:moveTo>
                  <a:pt x="0" y="0"/>
                </a:moveTo>
                <a:lnTo>
                  <a:pt x="50800" y="508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E4D40"/>
            </a:solidFill>
          </a:ln>
        </p:spPr>
      </p:sp>
      <p:sp>
        <p:nvSpPr>
          <p:cNvPr id="13" name="TextBox 13">
            <a:extLst xmlns:a="http://schemas.openxmlformats.org/drawingml/2006/main">
              <a:ext uri="{FF2B5EF4-FFF2-40B4-BE49-F238E27FC236}">
                <a16:creationId xmlns:a16="http://schemas.microsoft.com/office/drawing/2014/main" id="{6DCD235D-2454-4142-ADCB-D79C9219D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57656" y="1844040"/>
            <a:ext cx="1290447" cy="3520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22302B"/>
                </a:solidFill>
                <a:latin typeface="Microsoft YaHei"/>
                <a:ea typeface="Microsoft YaHei"/>
                <a:cs typeface="Microsoft YaHei"/>
              </a:rPr>
              <a:t>草稿可修改</a:t>
            </a:r>
          </a:p>
        </p:txBody>
      </p:sp>
      <p:sp>
        <p:nvSpPr>
          <p:cNvPr id="14" name="TextBox 14">
            <a:extLst xmlns:a="http://schemas.openxmlformats.org/drawingml/2006/main">
              <a:ext uri="{FF2B5EF4-FFF2-40B4-BE49-F238E27FC236}">
                <a16:creationId xmlns:a16="http://schemas.microsoft.com/office/drawing/2014/main" id="{C40EA1BD-4D7B-4D03-BA72-3AD36FC26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2742" y="2387918"/>
            <a:ext cx="4011930" cy="2640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50">
                <a:solidFill>
                  <a:srgbClr val="5C6B64"/>
                </a:solidFill>
                <a:latin typeface="Microsoft YaHei"/>
                <a:ea typeface="Microsoft YaHei"/>
                <a:cs typeface="Microsoft YaHei"/>
              </a:rPr>
              <a:t>新建事项采用人工确认后的标题、地点、优先级，</a:t>
            </a:r>
          </a:p>
        </p:txBody>
      </p:sp>
      <p:sp>
        <p:nvSpPr>
          <p:cNvPr id="15" name="TextBox 15">
            <a:extLst xmlns:a="http://schemas.openxmlformats.org/drawingml/2006/main">
              <a:ext uri="{FF2B5EF4-FFF2-40B4-BE49-F238E27FC236}">
                <a16:creationId xmlns:a16="http://schemas.microsoft.com/office/drawing/2014/main" id="{DA4C408E-94A9-412B-A305-9C5C1DEB3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2742" y="2673668"/>
            <a:ext cx="1467612" cy="2640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50">
                <a:solidFill>
                  <a:srgbClr val="5C6B64"/>
                </a:solidFill>
                <a:latin typeface="Microsoft YaHei"/>
                <a:ea typeface="Microsoft YaHei"/>
                <a:cs typeface="Microsoft YaHei"/>
              </a:rPr>
              <a:t>并留下修改记录。</a:t>
            </a:r>
          </a:p>
        </p:txBody>
      </p:sp>
      <p:sp>
        <p:nvSpPr>
          <p:cNvPr id="16" name="TextBox 16">
            <a:extLst xmlns:a="http://schemas.openxmlformats.org/drawingml/2006/main">
              <a:ext uri="{FF2B5EF4-FFF2-40B4-BE49-F238E27FC236}">
                <a16:creationId xmlns:a16="http://schemas.microsoft.com/office/drawing/2014/main" id="{510A6CC2-2AB0-4E81-A485-C0D90A374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98932" y="3202305"/>
            <a:ext cx="366339" cy="41071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00" b="1">
                <a:solidFill>
                  <a:srgbClr val="D8DED6"/>
                </a:solidFill>
                <a:latin typeface="Georgia"/>
                <a:ea typeface="Georgia"/>
                <a:cs typeface="Georgia"/>
              </a:rPr>
              <a:t>01</a:t>
            </a:r>
          </a:p>
        </p:txBody>
      </p:sp>
      <p:sp>
        <p:nvSpPr>
          <p:cNvPr id="18" name="Freeform 18">
            <a:extLst xmlns:a="http://schemas.openxmlformats.org/drawingml/2006/main">
              <a:ext uri="{FF2B5EF4-FFF2-40B4-BE49-F238E27FC236}">
                <a16:creationId xmlns:a16="http://schemas.microsoft.com/office/drawing/2014/main" id="{229D0F3C-2945-4D23-9B6B-63CE4EA5A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769100" y="1841500"/>
            <a:ext cx="152400" cy="203199"/>
          </a:xfrm>
          <a:custGeom xmlns:a="http://schemas.openxmlformats.org/drawingml/2006/main">
            <a:rect l="l" t="t" r="r" b="b"/>
            <a:pathLst>
              <a:path w="152400" h="203199">
                <a:moveTo>
                  <a:pt x="58610" y="203199"/>
                </a:moveTo>
                <a:lnTo>
                  <a:pt x="25400" y="203199"/>
                </a:lnTo>
                <a:cubicBezTo>
                  <a:pt x="11372" y="203199"/>
                  <a:pt x="0" y="191828"/>
                  <a:pt x="0" y="177800"/>
                </a:cubicBezTo>
                <a:lnTo>
                  <a:pt x="0" y="25400"/>
                </a:lnTo>
                <a:cubicBezTo>
                  <a:pt x="0" y="11372"/>
                  <a:pt x="11372" y="0"/>
                  <a:pt x="25400" y="0"/>
                </a:cubicBezTo>
                <a:lnTo>
                  <a:pt x="127000" y="0"/>
                </a:lnTo>
                <a:cubicBezTo>
                  <a:pt x="141028" y="0"/>
                  <a:pt x="152400" y="11372"/>
                  <a:pt x="152400" y="25400"/>
                </a:cubicBezTo>
                <a:lnTo>
                  <a:pt x="152400" y="1270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E4D40"/>
            </a:solidFill>
          </a:ln>
        </p:spPr>
      </p:sp>
      <p:sp>
        <p:nvSpPr>
          <p:cNvPr id="19" name="Freeform 19">
            <a:extLst xmlns:a="http://schemas.openxmlformats.org/drawingml/2006/main">
              <a:ext uri="{FF2B5EF4-FFF2-40B4-BE49-F238E27FC236}">
                <a16:creationId xmlns:a16="http://schemas.microsoft.com/office/drawing/2014/main" id="{6EF5DA5D-D115-4336-B4E4-C44A8DD0D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883400" y="2006599"/>
            <a:ext cx="76200" cy="50800"/>
          </a:xfrm>
          <a:custGeom xmlns:a="http://schemas.openxmlformats.org/drawingml/2006/main">
            <a:rect l="l" t="t" r="r" b="b"/>
            <a:pathLst>
              <a:path w="76200" h="50800">
                <a:moveTo>
                  <a:pt x="0" y="25400"/>
                </a:moveTo>
                <a:lnTo>
                  <a:pt x="25400" y="50800"/>
                </a:lnTo>
                <a:lnTo>
                  <a:pt x="762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E4D40"/>
            </a:solidFill>
          </a:ln>
        </p:spPr>
      </p:sp>
      <p:sp>
        <p:nvSpPr>
          <p:cNvPr id="20" name="Freeform 20">
            <a:extLst xmlns:a="http://schemas.openxmlformats.org/drawingml/2006/main">
              <a:ext uri="{FF2B5EF4-FFF2-40B4-BE49-F238E27FC236}">
                <a16:creationId xmlns:a16="http://schemas.microsoft.com/office/drawing/2014/main" id="{CE973192-5FF6-4F5C-B57D-7A6756D0D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819900" y="1892300"/>
            <a:ext cx="50800" cy="9525"/>
          </a:xfrm>
          <a:custGeom xmlns:a="http://schemas.openxmlformats.org/drawingml/2006/main">
            <a:rect l="l" t="t" r="r" b="b"/>
            <a:pathLst>
              <a:path w="50800" h="9525">
                <a:moveTo>
                  <a:pt x="0" y="0"/>
                </a:moveTo>
                <a:lnTo>
                  <a:pt x="508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E4D40"/>
            </a:solidFill>
          </a:ln>
        </p:spPr>
      </p:sp>
      <p:sp>
        <p:nvSpPr>
          <p:cNvPr id="21" name="Freeform 21">
            <a:extLst xmlns:a="http://schemas.openxmlformats.org/drawingml/2006/main">
              <a:ext uri="{FF2B5EF4-FFF2-40B4-BE49-F238E27FC236}">
                <a16:creationId xmlns:a16="http://schemas.microsoft.com/office/drawing/2014/main" id="{EC2A48CC-2FC5-45B2-97E6-68A0AECD6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819900" y="1943100"/>
            <a:ext cx="25400" cy="9525"/>
          </a:xfrm>
          <a:custGeom xmlns:a="http://schemas.openxmlformats.org/drawingml/2006/main">
            <a:rect l="l" t="t" r="r" b="b"/>
            <a:pathLst>
              <a:path w="25400" h="9525">
                <a:moveTo>
                  <a:pt x="0" y="0"/>
                </a:moveTo>
                <a:lnTo>
                  <a:pt x="254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E4D40"/>
            </a:solidFill>
          </a:ln>
        </p:spPr>
      </p:sp>
      <p:sp>
        <p:nvSpPr>
          <p:cNvPr id="23" name="TextBox 23">
            <a:extLst xmlns:a="http://schemas.openxmlformats.org/drawingml/2006/main">
              <a:ext uri="{FF2B5EF4-FFF2-40B4-BE49-F238E27FC236}">
                <a16:creationId xmlns:a16="http://schemas.microsoft.com/office/drawing/2014/main" id="{1F1FDD1E-B2DB-4E3B-9C12-BA5481053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7153656" y="1844040"/>
            <a:ext cx="1036015" cy="3520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22302B"/>
                </a:solidFill>
                <a:latin typeface="Microsoft YaHei"/>
                <a:ea typeface="Microsoft YaHei"/>
                <a:cs typeface="Microsoft YaHei"/>
              </a:rPr>
              <a:t>批量确认</a:t>
            </a:r>
          </a:p>
        </p:txBody>
      </p:sp>
      <p:sp>
        <p:nvSpPr>
          <p:cNvPr id="24" name="TextBox 24">
            <a:extLst xmlns:a="http://schemas.openxmlformats.org/drawingml/2006/main">
              <a:ext uri="{FF2B5EF4-FFF2-40B4-BE49-F238E27FC236}">
                <a16:creationId xmlns:a16="http://schemas.microsoft.com/office/drawing/2014/main" id="{A21797C6-263D-406E-B7CC-D409D8C28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698742" y="2387918"/>
            <a:ext cx="3103245" cy="2640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50">
                <a:solidFill>
                  <a:srgbClr val="5C6B64"/>
                </a:solidFill>
                <a:latin typeface="Microsoft YaHei"/>
                <a:ea typeface="Microsoft YaHei"/>
                <a:cs typeface="Microsoft YaHei"/>
              </a:rPr>
              <a:t>新建、关联和处理记录一起保存；</a:t>
            </a:r>
          </a:p>
        </p:txBody>
      </p:sp>
      <p:sp>
        <p:nvSpPr>
          <p:cNvPr id="25" name="TextBox 25">
            <a:extLst xmlns:a="http://schemas.openxmlformats.org/drawingml/2006/main">
              <a:ext uri="{FF2B5EF4-FFF2-40B4-BE49-F238E27FC236}">
                <a16:creationId xmlns:a16="http://schemas.microsoft.com/office/drawing/2014/main" id="{C4C8571E-E21B-415B-9795-32044269D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698742" y="2673668"/>
            <a:ext cx="2012823" cy="2640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50">
                <a:solidFill>
                  <a:srgbClr val="5C6B64"/>
                </a:solidFill>
                <a:latin typeface="Microsoft YaHei"/>
                <a:ea typeface="Microsoft YaHei"/>
                <a:cs typeface="Microsoft YaHei"/>
              </a:rPr>
              <a:t>草稿未处理完就不提交。</a:t>
            </a:r>
          </a:p>
        </p:txBody>
      </p:sp>
      <p:sp>
        <p:nvSpPr>
          <p:cNvPr id="26" name="TextBox 26">
            <a:extLst xmlns:a="http://schemas.openxmlformats.org/drawingml/2006/main">
              <a:ext uri="{FF2B5EF4-FFF2-40B4-BE49-F238E27FC236}">
                <a16:creationId xmlns:a16="http://schemas.microsoft.com/office/drawing/2014/main" id="{B5F6F779-E638-4FDC-9876-4A1AA34AD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694932" y="3202305"/>
            <a:ext cx="366339" cy="41071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00" b="1">
                <a:solidFill>
                  <a:srgbClr val="D8DED6"/>
                </a:solidFill>
                <a:latin typeface="Georgia"/>
                <a:ea typeface="Georgia"/>
                <a:cs typeface="Georgia"/>
              </a:rPr>
              <a:t>02</a:t>
            </a:r>
          </a:p>
        </p:txBody>
      </p:sp>
      <p:sp>
        <p:nvSpPr>
          <p:cNvPr id="28" name="Freeform 28">
            <a:extLst xmlns:a="http://schemas.openxmlformats.org/drawingml/2006/main">
              <a:ext uri="{FF2B5EF4-FFF2-40B4-BE49-F238E27FC236}">
                <a16:creationId xmlns:a16="http://schemas.microsoft.com/office/drawing/2014/main" id="{1BC30539-98BD-4510-9530-DB336F87F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47700" y="4114800"/>
            <a:ext cx="228599" cy="228599"/>
          </a:xfrm>
          <a:custGeom xmlns:a="http://schemas.openxmlformats.org/drawingml/2006/main">
            <a:rect l="l" t="t" r="r" b="b"/>
            <a:pathLst>
              <a:path w="228599" h="228599">
                <a:moveTo>
                  <a:pt x="0" y="114300"/>
                </a:moveTo>
                <a:cubicBezTo>
                  <a:pt x="0" y="177426"/>
                  <a:pt x="51174" y="228599"/>
                  <a:pt x="114300" y="228599"/>
                </a:cubicBezTo>
                <a:cubicBezTo>
                  <a:pt x="177426" y="228599"/>
                  <a:pt x="228599" y="177426"/>
                  <a:pt x="228599" y="114300"/>
                </a:cubicBezTo>
                <a:cubicBezTo>
                  <a:pt x="228599" y="51174"/>
                  <a:pt x="177426" y="0"/>
                  <a:pt x="114300" y="0"/>
                </a:cubicBezTo>
                <a:cubicBezTo>
                  <a:pt x="51174" y="0"/>
                  <a:pt x="0" y="51174"/>
                  <a:pt x="0" y="114300"/>
                </a:cubicBez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E4D40"/>
            </a:solidFill>
          </a:ln>
        </p:spPr>
      </p:sp>
      <p:sp>
        <p:nvSpPr>
          <p:cNvPr id="29" name="Freeform 29">
            <a:extLst xmlns:a="http://schemas.openxmlformats.org/drawingml/2006/main">
              <a:ext uri="{FF2B5EF4-FFF2-40B4-BE49-F238E27FC236}">
                <a16:creationId xmlns:a16="http://schemas.microsoft.com/office/drawing/2014/main" id="{D77C732A-DF63-4FA9-98DC-AC7D334C6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723900" y="4203700"/>
            <a:ext cx="76200" cy="50800"/>
          </a:xfrm>
          <a:custGeom xmlns:a="http://schemas.openxmlformats.org/drawingml/2006/main">
            <a:rect l="l" t="t" r="r" b="b"/>
            <a:pathLst>
              <a:path w="76200" h="50800">
                <a:moveTo>
                  <a:pt x="0" y="25400"/>
                </a:moveTo>
                <a:lnTo>
                  <a:pt x="25400" y="50800"/>
                </a:lnTo>
                <a:lnTo>
                  <a:pt x="762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E4D40"/>
            </a:solidFill>
          </a:ln>
        </p:spPr>
      </p:sp>
      <p:sp>
        <p:nvSpPr>
          <p:cNvPr id="31" name="TextBox 31">
            <a:extLst xmlns:a="http://schemas.openxmlformats.org/drawingml/2006/main">
              <a:ext uri="{FF2B5EF4-FFF2-40B4-BE49-F238E27FC236}">
                <a16:creationId xmlns:a16="http://schemas.microsoft.com/office/drawing/2014/main" id="{E4F066F1-D939-4493-95F5-9137BA1FD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57656" y="4130040"/>
            <a:ext cx="781583" cy="3520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22302B"/>
                </a:solidFill>
                <a:latin typeface="Microsoft YaHei"/>
                <a:ea typeface="Microsoft YaHei"/>
                <a:cs typeface="Microsoft YaHei"/>
              </a:rPr>
              <a:t>防重复</a:t>
            </a:r>
          </a:p>
        </p:txBody>
      </p:sp>
      <p:sp>
        <p:nvSpPr>
          <p:cNvPr id="32" name="TextBox 32">
            <a:extLst xmlns:a="http://schemas.openxmlformats.org/drawingml/2006/main">
              <a:ext uri="{FF2B5EF4-FFF2-40B4-BE49-F238E27FC236}">
                <a16:creationId xmlns:a16="http://schemas.microsoft.com/office/drawing/2014/main" id="{74F7FA99-E458-4FD7-B74A-EA5BFF51C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2742" y="4673918"/>
            <a:ext cx="2376297" cy="2640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50">
                <a:solidFill>
                  <a:srgbClr val="5C6B64"/>
                </a:solidFill>
                <a:latin typeface="Microsoft YaHei"/>
                <a:ea typeface="Microsoft YaHei"/>
                <a:cs typeface="Microsoft YaHei"/>
              </a:rPr>
              <a:t>已确认的反馈拒绝重复确认；</a:t>
            </a:r>
          </a:p>
        </p:txBody>
      </p:sp>
      <p:sp>
        <p:nvSpPr>
          <p:cNvPr id="33" name="TextBox 33">
            <a:extLst xmlns:a="http://schemas.openxmlformats.org/drawingml/2006/main">
              <a:ext uri="{FF2B5EF4-FFF2-40B4-BE49-F238E27FC236}">
                <a16:creationId xmlns:a16="http://schemas.microsoft.com/office/drawing/2014/main" id="{4A1229F0-5333-406F-98F9-302E72A19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2742" y="4959668"/>
            <a:ext cx="2012823" cy="2640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50">
                <a:solidFill>
                  <a:srgbClr val="5C6B64"/>
                </a:solidFill>
                <a:latin typeface="Microsoft YaHei"/>
                <a:ea typeface="Microsoft YaHei"/>
                <a:cs typeface="Microsoft YaHei"/>
              </a:rPr>
              <a:t>状态只能按规定顺序变更。</a:t>
            </a:r>
          </a:p>
        </p:txBody>
      </p:sp>
      <p:sp>
        <p:nvSpPr>
          <p:cNvPr id="34" name="TextBox 34">
            <a:extLst xmlns:a="http://schemas.openxmlformats.org/drawingml/2006/main">
              <a:ext uri="{FF2B5EF4-FFF2-40B4-BE49-F238E27FC236}">
                <a16:creationId xmlns:a16="http://schemas.microsoft.com/office/drawing/2014/main" id="{ECCF0E7C-FE38-4F80-B8C3-EA9C36526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98932" y="5469255"/>
            <a:ext cx="366339" cy="41071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00" b="1">
                <a:solidFill>
                  <a:srgbClr val="D8DED6"/>
                </a:solidFill>
                <a:latin typeface="Georgia"/>
                <a:ea typeface="Georgia"/>
                <a:cs typeface="Georgia"/>
              </a:rPr>
              <a:t>03</a:t>
            </a:r>
          </a:p>
        </p:txBody>
      </p:sp>
      <p:sp>
        <p:nvSpPr>
          <p:cNvPr id="36" name="Freeform 36">
            <a:extLst xmlns:a="http://schemas.openxmlformats.org/drawingml/2006/main">
              <a:ext uri="{FF2B5EF4-FFF2-40B4-BE49-F238E27FC236}">
                <a16:creationId xmlns:a16="http://schemas.microsoft.com/office/drawing/2014/main" id="{00FE628C-12F4-457B-81B7-6FFB34820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756400" y="4122600"/>
            <a:ext cx="203199" cy="93800"/>
          </a:xfrm>
          <a:custGeom xmlns:a="http://schemas.openxmlformats.org/drawingml/2006/main">
            <a:rect l="l" t="t" r="r" b="b"/>
            <a:pathLst>
              <a:path w="203199" h="93800">
                <a:moveTo>
                  <a:pt x="203199" y="93800"/>
                </a:moveTo>
                <a:cubicBezTo>
                  <a:pt x="196815" y="47858"/>
                  <a:pt x="160475" y="11871"/>
                  <a:pt x="114473" y="5936"/>
                </a:cubicBezTo>
                <a:cubicBezTo>
                  <a:pt x="68472" y="0"/>
                  <a:pt x="24187" y="25584"/>
                  <a:pt x="6350" y="68400"/>
                </a:cubicBezTo>
                <a:moveTo>
                  <a:pt x="0" y="17600"/>
                </a:moveTo>
                <a:lnTo>
                  <a:pt x="0" y="68400"/>
                </a:lnTo>
                <a:lnTo>
                  <a:pt x="50800" y="684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E4D40"/>
            </a:solidFill>
          </a:ln>
        </p:spPr>
      </p:sp>
      <p:sp>
        <p:nvSpPr>
          <p:cNvPr id="37" name="Freeform 37">
            <a:extLst xmlns:a="http://schemas.openxmlformats.org/drawingml/2006/main">
              <a:ext uri="{FF2B5EF4-FFF2-40B4-BE49-F238E27FC236}">
                <a16:creationId xmlns:a16="http://schemas.microsoft.com/office/drawing/2014/main" id="{18C73448-A985-4C04-8B23-205F6E086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756400" y="4241800"/>
            <a:ext cx="203199" cy="93800"/>
          </a:xfrm>
          <a:custGeom xmlns:a="http://schemas.openxmlformats.org/drawingml/2006/main">
            <a:rect l="l" t="t" r="r" b="b"/>
            <a:pathLst>
              <a:path w="203199" h="93800">
                <a:moveTo>
                  <a:pt x="0" y="0"/>
                </a:moveTo>
                <a:cubicBezTo>
                  <a:pt x="6385" y="45942"/>
                  <a:pt x="42724" y="81928"/>
                  <a:pt x="88726" y="87864"/>
                </a:cubicBezTo>
                <a:cubicBezTo>
                  <a:pt x="134728" y="93800"/>
                  <a:pt x="179012" y="68216"/>
                  <a:pt x="196850" y="25400"/>
                </a:cubicBezTo>
                <a:moveTo>
                  <a:pt x="203199" y="76200"/>
                </a:moveTo>
                <a:lnTo>
                  <a:pt x="203199" y="25400"/>
                </a:lnTo>
                <a:lnTo>
                  <a:pt x="152400" y="254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E4D40"/>
            </a:solidFill>
          </a:ln>
        </p:spPr>
      </p:sp>
      <p:sp>
        <p:nvSpPr>
          <p:cNvPr id="39" name="TextBox 39">
            <a:extLst xmlns:a="http://schemas.openxmlformats.org/drawingml/2006/main">
              <a:ext uri="{FF2B5EF4-FFF2-40B4-BE49-F238E27FC236}">
                <a16:creationId xmlns:a16="http://schemas.microsoft.com/office/drawing/2014/main" id="{2F59CFFA-3100-44EA-968D-800BD82DD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7153656" y="4130040"/>
            <a:ext cx="1036015" cy="3520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22302B"/>
                </a:solidFill>
                <a:latin typeface="Microsoft YaHei"/>
                <a:ea typeface="Microsoft YaHei"/>
                <a:cs typeface="Microsoft YaHei"/>
              </a:rPr>
              <a:t>失败处理</a:t>
            </a:r>
          </a:p>
        </p:txBody>
      </p:sp>
      <p:sp>
        <p:nvSpPr>
          <p:cNvPr id="40" name="TextBox 40">
            <a:extLst xmlns:a="http://schemas.openxmlformats.org/drawingml/2006/main">
              <a:ext uri="{FF2B5EF4-FFF2-40B4-BE49-F238E27FC236}">
                <a16:creationId xmlns:a16="http://schemas.microsoft.com/office/drawing/2014/main" id="{8DD4FEB6-F63F-4033-9235-2E8ACD89D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698742" y="4673918"/>
            <a:ext cx="1770736" cy="2640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50">
                <a:solidFill>
                  <a:srgbClr val="5C6B64"/>
                </a:solidFill>
                <a:latin typeface="Arial"/>
                <a:ea typeface="Arial"/>
                <a:cs typeface="Arial"/>
              </a:rPr>
              <a:t>AI </a:t>
            </a:r>
            <a:r>
              <a:rPr sz="1350">
                <a:solidFill>
                  <a:srgbClr val="5C6B64"/>
                </a:solidFill>
                <a:latin typeface="Microsoft YaHei"/>
                <a:ea typeface="Microsoft YaHei"/>
                <a:cs typeface="Microsoft YaHei"/>
              </a:rPr>
              <a:t>分析失败可重试；</a:t>
            </a:r>
          </a:p>
        </p:txBody>
      </p:sp>
      <p:sp>
        <p:nvSpPr>
          <p:cNvPr id="41" name="TextBox 41">
            <a:extLst xmlns:a="http://schemas.openxmlformats.org/drawingml/2006/main">
              <a:ext uri="{FF2B5EF4-FFF2-40B4-BE49-F238E27FC236}">
                <a16:creationId xmlns:a16="http://schemas.microsoft.com/office/drawing/2014/main" id="{C7798AAE-B461-4F56-9D10-328AAFB25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698742" y="4959668"/>
            <a:ext cx="2921508" cy="2640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50">
                <a:solidFill>
                  <a:srgbClr val="5C6B64"/>
                </a:solidFill>
                <a:latin typeface="Microsoft YaHei"/>
                <a:ea typeface="Microsoft YaHei"/>
                <a:cs typeface="Microsoft YaHei"/>
              </a:rPr>
              <a:t>符合条件时，可以手动创建事项。</a:t>
            </a:r>
          </a:p>
        </p:txBody>
      </p:sp>
      <p:sp>
        <p:nvSpPr>
          <p:cNvPr id="42" name="TextBox 42">
            <a:extLst xmlns:a="http://schemas.openxmlformats.org/drawingml/2006/main">
              <a:ext uri="{FF2B5EF4-FFF2-40B4-BE49-F238E27FC236}">
                <a16:creationId xmlns:a16="http://schemas.microsoft.com/office/drawing/2014/main" id="{8B1AE47E-658A-4AFC-AC40-3B7CA7BE2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694932" y="5469255"/>
            <a:ext cx="366339" cy="41071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00" b="1">
                <a:solidFill>
                  <a:srgbClr val="D8DED6"/>
                </a:solidFill>
                <a:latin typeface="Georgia"/>
                <a:ea typeface="Georgia"/>
                <a:cs typeface="Georgia"/>
              </a:rPr>
              <a:t>04</a:t>
            </a:r>
          </a:p>
        </p:txBody>
      </p:sp>
      <p:sp>
        <p:nvSpPr>
          <p:cNvPr id="44" name="TextBox 44">
            <a:extLst xmlns:a="http://schemas.openxmlformats.org/drawingml/2006/main">
              <a:ext uri="{FF2B5EF4-FFF2-40B4-BE49-F238E27FC236}">
                <a16:creationId xmlns:a16="http://schemas.microsoft.com/office/drawing/2014/main" id="{0EB09E86-22C2-4B87-9AD6-A0E10D9E2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3504" y="6404610"/>
            <a:ext cx="1522432" cy="2346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>
                <a:solidFill>
                  <a:srgbClr val="8A968F"/>
                </a:solidFill>
                <a:latin typeface="Arial"/>
                <a:ea typeface="Arial"/>
                <a:cs typeface="Arial"/>
              </a:rPr>
              <a:t>OneCase · </a:t>
            </a:r>
            <a:r>
              <a:rPr sz="1200">
                <a:solidFill>
                  <a:srgbClr val="8A968F"/>
                </a:solidFill>
                <a:latin typeface="Microsoft YaHei"/>
                <a:ea typeface="Microsoft YaHei"/>
                <a:cs typeface="Microsoft YaHei"/>
              </a:rPr>
              <a:t>初赛路演</a:t>
            </a:r>
          </a:p>
        </p:txBody>
      </p:sp>
      <p:sp>
        <p:nvSpPr>
          <p:cNvPr id="45" name="TextBox 45">
            <a:extLst xmlns:a="http://schemas.openxmlformats.org/drawingml/2006/main">
              <a:ext uri="{FF2B5EF4-FFF2-40B4-BE49-F238E27FC236}">
                <a16:creationId xmlns:a16="http://schemas.microsoft.com/office/drawing/2014/main" id="{24160F86-D731-49BD-9FFD-C8BF562AB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035132" y="6404610"/>
            <a:ext cx="553364" cy="2346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200">
                <a:solidFill>
                  <a:srgbClr val="8A968F"/>
                </a:solidFill>
                <a:latin typeface="Arial"/>
                <a:ea typeface="Arial"/>
                <a:cs typeface="Arial"/>
              </a:rPr>
              <a:t>07 / 14</a:t>
            </a:r>
          </a:p>
        </p:txBody>
      </p:sp>
    </p:spTree>
    <p:extLst>
      <p:ext uri="{BB962C8B-B14F-4D97-AF65-F5344CB8AC3E}">
        <p14:creationId xmlns:p14="http://schemas.microsoft.com/office/powerpoint/2010/main" val="2081920438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2">
            <a:extLst xmlns:a="http://schemas.openxmlformats.org/drawingml/2006/main">
              <a:ext uri="{FF2B5EF4-FFF2-40B4-BE49-F238E27FC236}">
                <a16:creationId xmlns:a16="http://schemas.microsoft.com/office/drawing/2014/main" id="{1F7C7259-5C10-47B7-A535-C901DD584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7"/>
          </a:solidFill>
          <a:ln xmlns:a="http://schemas.openxmlformats.org/drawingml/2006/main">
            <a:noFill/>
          </a:ln>
        </p:spPr>
        <p:txBody xmlns:a="http://schemas.openxmlformats.org/drawingml/2006/main">
          <a:bodyPr/>
          <a:p/>
        </p:txBody>
      </p:sp>
      <p:sp>
        <p:nvSpPr>
          <p:cNvPr id="3" name="TextBox 3">
            <a:extLst xmlns:a="http://schemas.openxmlformats.org/drawingml/2006/main">
              <a:ext uri="{FF2B5EF4-FFF2-40B4-BE49-F238E27FC236}">
                <a16:creationId xmlns:a16="http://schemas.microsoft.com/office/drawing/2014/main" id="{9CE5A919-6363-4A1D-A8CD-5B4890BFD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3504" y="594360"/>
            <a:ext cx="1548072" cy="2346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 spc="300">
                <a:solidFill>
                  <a:srgbClr val="D97B29"/>
                </a:solidFill>
                <a:latin typeface="Microsoft YaHei"/>
                <a:ea typeface="Microsoft YaHei"/>
                <a:cs typeface="Microsoft YaHei"/>
              </a:rPr>
              <a:t>架构</a:t>
            </a:r>
            <a:r>
              <a:rPr sz="1200" b="1" spc="300">
                <a:solidFill>
                  <a:srgbClr val="D97B29"/>
                </a:solidFill>
                <a:latin typeface="Arial"/>
                <a:ea typeface="Arial"/>
                <a:cs typeface="Arial"/>
              </a:rPr>
              <a:t> · </a:t>
            </a:r>
            <a:r>
              <a:rPr sz="1200" b="1" spc="300">
                <a:solidFill>
                  <a:srgbClr val="D97B29"/>
                </a:solidFill>
                <a:latin typeface="Microsoft YaHei"/>
                <a:ea typeface="Microsoft YaHei"/>
                <a:cs typeface="Microsoft YaHei"/>
              </a:rPr>
              <a:t>分层职责</a:t>
            </a:r>
          </a:p>
        </p:txBody>
      </p:sp>
      <p:sp>
        <p:nvSpPr>
          <p:cNvPr id="4" name="TextBox 4">
            <a:extLst xmlns:a="http://schemas.openxmlformats.org/drawingml/2006/main">
              <a:ext uri="{FF2B5EF4-FFF2-40B4-BE49-F238E27FC236}">
                <a16:creationId xmlns:a16="http://schemas.microsoft.com/office/drawing/2014/main" id="{3191C39A-9604-44B0-9286-2D60ED01A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93598" y="783908"/>
            <a:ext cx="6618427" cy="6160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150" b="1">
                <a:solidFill>
                  <a:srgbClr val="1E4D40"/>
                </a:solidFill>
                <a:latin typeface="SimSun"/>
                <a:ea typeface="SimSun"/>
                <a:cs typeface="SimSun"/>
              </a:rPr>
              <a:t>模型整理反馈，程序检查规则</a:t>
            </a:r>
          </a:p>
        </p:txBody>
      </p:sp>
      <p:sp>
        <p:nvSpPr>
          <p:cNvPr id="5" name="Line 5">
            <a:extLst xmlns:a="http://schemas.openxmlformats.org/drawingml/2006/main">
              <a:ext uri="{FF2B5EF4-FFF2-40B4-BE49-F238E27FC236}">
                <a16:creationId xmlns:a16="http://schemas.microsoft.com/office/drawing/2014/main" id="{9AD3543E-549A-4027-827C-9EBAB811A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9600" y="1352550"/>
            <a:ext cx="10972800" cy="9525"/>
          </a:xfrm>
          <a:custGeom xmlns:a="http://schemas.openxmlformats.org/drawingml/2006/main"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D8DED6"/>
            </a:solidFill>
          </a:ln>
        </p:spPr>
        <p:txBody xmlns:a="http://schemas.openxmlformats.org/drawingml/2006/main">
          <a:bodyPr/>
          <a:p/>
        </p:txBody>
      </p:sp>
      <p:sp>
        <p:nvSpPr>
          <p:cNvPr id="7" name="Rectangle 7">
            <a:extLst xmlns:a="http://schemas.openxmlformats.org/drawingml/2006/main">
              <a:ext uri="{FF2B5EF4-FFF2-40B4-BE49-F238E27FC236}">
                <a16:creationId xmlns:a16="http://schemas.microsoft.com/office/drawing/2014/main" id="{33FB1B14-F0D9-41E1-9C75-038672368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9600" y="1600200"/>
            <a:ext cx="19050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4D40"/>
          </a:solidFill>
          <a:ln xmlns:a="http://schemas.openxmlformats.org/drawingml/2006/main">
            <a:noFill/>
          </a:ln>
        </p:spPr>
        <p:txBody xmlns:a="http://schemas.openxmlformats.org/drawingml/2006/main">
          <a:bodyPr/>
          <a:p/>
        </p:txBody>
      </p:sp>
      <p:sp>
        <p:nvSpPr>
          <p:cNvPr id="8" name="TextBox 8">
            <a:extLst xmlns:a="http://schemas.openxmlformats.org/drawingml/2006/main">
              <a:ext uri="{FF2B5EF4-FFF2-40B4-BE49-F238E27FC236}">
                <a16:creationId xmlns:a16="http://schemas.microsoft.com/office/drawing/2014/main" id="{A1763AA2-AA49-485F-BE2C-6EFCF4110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405098" y="1767840"/>
            <a:ext cx="314005" cy="3520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800" b="1">
                <a:solidFill>
                  <a:srgbClr val="FAFAF7"/>
                </a:solidFill>
                <a:latin typeface="Georgia"/>
                <a:ea typeface="Georgia"/>
                <a:cs typeface="Georgia"/>
              </a:rPr>
              <a:t>01</a:t>
            </a:r>
          </a:p>
        </p:txBody>
      </p:sp>
      <p:sp>
        <p:nvSpPr>
          <p:cNvPr id="9" name="TextBox 9">
            <a:extLst xmlns:a="http://schemas.openxmlformats.org/drawingml/2006/main">
              <a:ext uri="{FF2B5EF4-FFF2-40B4-BE49-F238E27FC236}">
                <a16:creationId xmlns:a16="http://schemas.microsoft.com/office/drawing/2014/main" id="{67FA9F5A-1AF5-46A9-99F7-CAECC0431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78440" y="2102168"/>
            <a:ext cx="967321" cy="2640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350">
                <a:solidFill>
                  <a:srgbClr val="FAFAF7"/>
                </a:solidFill>
                <a:latin typeface="Arial"/>
                <a:ea typeface="Arial"/>
                <a:cs typeface="Arial"/>
              </a:rPr>
              <a:t>Web </a:t>
            </a:r>
            <a:r>
              <a:rPr sz="1350">
                <a:solidFill>
                  <a:srgbClr val="FAFAF7"/>
                </a:solidFill>
                <a:latin typeface="Microsoft YaHei"/>
                <a:ea typeface="Microsoft YaHei"/>
                <a:cs typeface="Microsoft YaHei"/>
              </a:rPr>
              <a:t>工作台</a:t>
            </a:r>
          </a:p>
        </p:txBody>
      </p:sp>
      <p:sp>
        <p:nvSpPr>
          <p:cNvPr id="10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D0B75F28-A124-42B9-B5B3-5F47F0A22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667000" y="1600200"/>
            <a:ext cx="89154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2ED">
              <a:alpha val="50000"/>
            </a:srgbClr>
          </a:solidFill>
          <a:ln xmlns:a="http://schemas.openxmlformats.org/drawingml/2006/main">
            <a:noFill/>
          </a:ln>
        </p:spPr>
        <p:txBody xmlns:a="http://schemas.openxmlformats.org/drawingml/2006/main">
          <a:bodyPr/>
          <a:p/>
        </p:txBody>
      </p:sp>
      <p:sp>
        <p:nvSpPr>
          <p:cNvPr id="11" name="TextBox 11">
            <a:extLst xmlns:a="http://schemas.openxmlformats.org/drawingml/2006/main">
              <a:ext uri="{FF2B5EF4-FFF2-40B4-BE49-F238E27FC236}">
                <a16:creationId xmlns:a16="http://schemas.microsoft.com/office/drawing/2014/main" id="{CAB8C3DB-00B3-473A-9087-EACEC16E4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926205" y="1949768"/>
            <a:ext cx="377190" cy="2640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350">
                <a:solidFill>
                  <a:srgbClr val="22302B"/>
                </a:solidFill>
                <a:latin typeface="Microsoft YaHei"/>
                <a:ea typeface="Microsoft YaHei"/>
                <a:cs typeface="Microsoft YaHei"/>
              </a:rPr>
              <a:t>输入</a:t>
            </a:r>
          </a:p>
        </p:txBody>
      </p:sp>
      <p:sp>
        <p:nvSpPr>
          <p:cNvPr id="12" name="Line 12">
            <a:extLst xmlns:a="http://schemas.openxmlformats.org/drawingml/2006/main">
              <a:ext uri="{FF2B5EF4-FFF2-40B4-BE49-F238E27FC236}">
                <a16:creationId xmlns:a16="http://schemas.microsoft.com/office/drawing/2014/main" id="{FE1CF3E0-59B1-4025-9CD3-FD13F4337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638800" y="1600200"/>
            <a:ext cx="9525" cy="838200"/>
          </a:xfrm>
          <a:custGeom xmlns:a="http://schemas.openxmlformats.org/drawingml/2006/main">
            <a:rect l="l" t="t" r="r" b="b"/>
            <a:pathLst>
              <a:path w="9525" h="838200">
                <a:moveTo>
                  <a:pt x="0" y="0"/>
                </a:moveTo>
                <a:lnTo>
                  <a:pt x="0" y="83820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D8DED6"/>
            </a:solidFill>
          </a:ln>
        </p:spPr>
        <p:txBody xmlns:a="http://schemas.openxmlformats.org/drawingml/2006/main">
          <a:bodyPr/>
          <a:p/>
        </p:txBody>
      </p:sp>
      <p:sp>
        <p:nvSpPr>
          <p:cNvPr id="13" name="TextBox 13">
            <a:extLst xmlns:a="http://schemas.openxmlformats.org/drawingml/2006/main">
              <a:ext uri="{FF2B5EF4-FFF2-40B4-BE49-F238E27FC236}">
                <a16:creationId xmlns:a16="http://schemas.microsoft.com/office/drawing/2014/main" id="{DF80E2D6-3BC9-4A3F-985A-AECF9A112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716268" y="1949768"/>
            <a:ext cx="740664" cy="2640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350">
                <a:solidFill>
                  <a:srgbClr val="22302B"/>
                </a:solidFill>
                <a:latin typeface="Microsoft YaHei"/>
                <a:ea typeface="Microsoft YaHei"/>
                <a:cs typeface="Microsoft YaHei"/>
              </a:rPr>
              <a:t>草稿检查</a:t>
            </a:r>
          </a:p>
        </p:txBody>
      </p:sp>
      <p:sp>
        <p:nvSpPr>
          <p:cNvPr id="14" name="Line 14">
            <a:extLst xmlns:a="http://schemas.openxmlformats.org/drawingml/2006/main">
              <a:ext uri="{FF2B5EF4-FFF2-40B4-BE49-F238E27FC236}">
                <a16:creationId xmlns:a16="http://schemas.microsoft.com/office/drawing/2014/main" id="{39874F3F-6FB0-4B65-AEF0-A4A544A02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610600" y="1600200"/>
            <a:ext cx="9525" cy="838200"/>
          </a:xfrm>
          <a:custGeom xmlns:a="http://schemas.openxmlformats.org/drawingml/2006/main">
            <a:rect l="l" t="t" r="r" b="b"/>
            <a:pathLst>
              <a:path w="9525" h="838200">
                <a:moveTo>
                  <a:pt x="0" y="0"/>
                </a:moveTo>
                <a:lnTo>
                  <a:pt x="0" y="83820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D8DED6"/>
            </a:solidFill>
          </a:ln>
        </p:spPr>
        <p:txBody xmlns:a="http://schemas.openxmlformats.org/drawingml/2006/main">
          <a:bodyPr/>
          <a:p/>
        </p:txBody>
      </p:sp>
      <p:sp>
        <p:nvSpPr>
          <p:cNvPr id="15" name="TextBox 15">
            <a:extLst xmlns:a="http://schemas.openxmlformats.org/drawingml/2006/main">
              <a:ext uri="{FF2B5EF4-FFF2-40B4-BE49-F238E27FC236}">
                <a16:creationId xmlns:a16="http://schemas.microsoft.com/office/drawing/2014/main" id="{D7180605-E685-4984-828E-15DA383E1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688068" y="1949768"/>
            <a:ext cx="740664" cy="2640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350">
                <a:solidFill>
                  <a:srgbClr val="22302B"/>
                </a:solidFill>
                <a:latin typeface="Microsoft YaHei"/>
                <a:ea typeface="Microsoft YaHei"/>
                <a:cs typeface="Microsoft YaHei"/>
              </a:rPr>
              <a:t>事项跟踪</a:t>
            </a:r>
          </a:p>
        </p:txBody>
      </p:sp>
      <p:sp>
        <p:nvSpPr>
          <p:cNvPr id="17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D0DB322E-8508-4FBB-BEAE-A09A27F13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9600" y="2590800"/>
            <a:ext cx="19050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4D40"/>
          </a:solidFill>
          <a:ln xmlns:a="http://schemas.openxmlformats.org/drawingml/2006/main">
            <a:noFill/>
          </a:ln>
        </p:spPr>
        <p:txBody xmlns:a="http://schemas.openxmlformats.org/drawingml/2006/main">
          <a:bodyPr/>
          <a:p/>
        </p:txBody>
      </p:sp>
      <p:sp>
        <p:nvSpPr>
          <p:cNvPr id="18" name="Freeform 18">
            <a:extLst xmlns:a="http://schemas.openxmlformats.org/drawingml/2006/main">
              <a:ext uri="{FF2B5EF4-FFF2-40B4-BE49-F238E27FC236}">
                <a16:creationId xmlns:a16="http://schemas.microsoft.com/office/drawing/2014/main" id="{4E792DD8-A6F9-4730-A758-A2BB9AF9A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484313" y="2760663"/>
            <a:ext cx="155575" cy="155575"/>
          </a:xfrm>
          <a:custGeom xmlns:a="http://schemas.openxmlformats.org/drawingml/2006/main">
            <a:rect l="l" t="t" r="r" b="b"/>
            <a:pathLst>
              <a:path w="155575" h="155575">
                <a:moveTo>
                  <a:pt x="0" y="11113"/>
                </a:moveTo>
                <a:cubicBezTo>
                  <a:pt x="0" y="4975"/>
                  <a:pt x="4975" y="0"/>
                  <a:pt x="11113" y="0"/>
                </a:cubicBezTo>
                <a:lnTo>
                  <a:pt x="144463" y="0"/>
                </a:lnTo>
                <a:cubicBezTo>
                  <a:pt x="150600" y="0"/>
                  <a:pt x="155575" y="4975"/>
                  <a:pt x="155575" y="11113"/>
                </a:cubicBezTo>
                <a:lnTo>
                  <a:pt x="155575" y="144463"/>
                </a:lnTo>
                <a:cubicBezTo>
                  <a:pt x="155575" y="150600"/>
                  <a:pt x="150600" y="155575"/>
                  <a:pt x="144463" y="155575"/>
                </a:cubicBezTo>
                <a:lnTo>
                  <a:pt x="11113" y="155575"/>
                </a:lnTo>
                <a:cubicBezTo>
                  <a:pt x="4975" y="155575"/>
                  <a:pt x="0" y="150600"/>
                  <a:pt x="0" y="144463"/>
                </a:cubicBezTo>
                <a:lnTo>
                  <a:pt x="0" y="11113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FAFAF7"/>
            </a:solidFill>
          </a:ln>
        </p:spPr>
        <p:txBody xmlns:a="http://schemas.openxmlformats.org/drawingml/2006/main">
          <a:bodyPr/>
          <a:p/>
        </p:txBody>
      </p:sp>
      <p:sp>
        <p:nvSpPr>
          <p:cNvPr id="19" name="Freeform 19">
            <a:extLst xmlns:a="http://schemas.openxmlformats.org/drawingml/2006/main">
              <a:ext uri="{FF2B5EF4-FFF2-40B4-BE49-F238E27FC236}">
                <a16:creationId xmlns:a16="http://schemas.microsoft.com/office/drawing/2014/main" id="{9CE41DB4-8348-4AB3-8774-AC7C017FD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528763" y="2805113"/>
            <a:ext cx="66675" cy="66675"/>
          </a:xfrm>
          <a:custGeom xmlns:a="http://schemas.openxmlformats.org/drawingml/2006/main">
            <a:rect l="l" t="t" r="r" b="b"/>
            <a:pathLst>
              <a:path w="66675" h="66675">
                <a:moveTo>
                  <a:pt x="0" y="0"/>
                </a:moveTo>
                <a:lnTo>
                  <a:pt x="66675" y="0"/>
                </a:lnTo>
                <a:lnTo>
                  <a:pt x="66675" y="66675"/>
                </a:lnTo>
                <a:lnTo>
                  <a:pt x="0" y="66675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FAFAF7"/>
            </a:solidFill>
          </a:ln>
        </p:spPr>
        <p:txBody xmlns:a="http://schemas.openxmlformats.org/drawingml/2006/main">
          <a:bodyPr/>
          <a:p/>
        </p:txBody>
      </p:sp>
      <p:sp>
        <p:nvSpPr>
          <p:cNvPr id="20" name="Freeform 20">
            <a:extLst xmlns:a="http://schemas.openxmlformats.org/drawingml/2006/main">
              <a:ext uri="{FF2B5EF4-FFF2-40B4-BE49-F238E27FC236}">
                <a16:creationId xmlns:a16="http://schemas.microsoft.com/office/drawing/2014/main" id="{A38E6E9B-0FBA-43C7-BB79-68250EF17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462088" y="2816225"/>
            <a:ext cx="22225" cy="9525"/>
          </a:xfrm>
          <a:custGeom xmlns:a="http://schemas.openxmlformats.org/drawingml/2006/main">
            <a:rect l="l" t="t" r="r" b="b"/>
            <a:pathLst>
              <a:path w="22225" h="9525">
                <a:moveTo>
                  <a:pt x="0" y="0"/>
                </a:moveTo>
                <a:lnTo>
                  <a:pt x="222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FAFAF7"/>
            </a:solidFill>
          </a:ln>
        </p:spPr>
        <p:txBody xmlns:a="http://schemas.openxmlformats.org/drawingml/2006/main">
          <a:bodyPr/>
          <a:p/>
        </p:txBody>
      </p:sp>
      <p:sp>
        <p:nvSpPr>
          <p:cNvPr id="21" name="Freeform 21">
            <a:extLst xmlns:a="http://schemas.openxmlformats.org/drawingml/2006/main">
              <a:ext uri="{FF2B5EF4-FFF2-40B4-BE49-F238E27FC236}">
                <a16:creationId xmlns:a16="http://schemas.microsoft.com/office/drawing/2014/main" id="{7A5E1B94-BC7B-49D6-B81B-AB3DB4B50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462088" y="2860675"/>
            <a:ext cx="22225" cy="9525"/>
          </a:xfrm>
          <a:custGeom xmlns:a="http://schemas.openxmlformats.org/drawingml/2006/main">
            <a:rect l="l" t="t" r="r" b="b"/>
            <a:pathLst>
              <a:path w="22225" h="9525">
                <a:moveTo>
                  <a:pt x="0" y="0"/>
                </a:moveTo>
                <a:lnTo>
                  <a:pt x="222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FAFAF7"/>
            </a:solidFill>
          </a:ln>
        </p:spPr>
        <p:txBody xmlns:a="http://schemas.openxmlformats.org/drawingml/2006/main">
          <a:bodyPr/>
          <a:p/>
        </p:txBody>
      </p:sp>
      <p:sp>
        <p:nvSpPr>
          <p:cNvPr id="22" name="Freeform 22">
            <a:extLst xmlns:a="http://schemas.openxmlformats.org/drawingml/2006/main">
              <a:ext uri="{FF2B5EF4-FFF2-40B4-BE49-F238E27FC236}">
                <a16:creationId xmlns:a16="http://schemas.microsoft.com/office/drawing/2014/main" id="{22B10DEE-04F6-4475-A5DA-3407553D2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539875" y="2738438"/>
            <a:ext cx="9525" cy="22225"/>
          </a:xfrm>
          <a:custGeom xmlns:a="http://schemas.openxmlformats.org/drawingml/2006/main">
            <a:rect l="l" t="t" r="r" b="b"/>
            <a:pathLst>
              <a:path w="9525" h="22225">
                <a:moveTo>
                  <a:pt x="0" y="0"/>
                </a:moveTo>
                <a:lnTo>
                  <a:pt x="0" y="2222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FAFAF7"/>
            </a:solidFill>
          </a:ln>
        </p:spPr>
        <p:txBody xmlns:a="http://schemas.openxmlformats.org/drawingml/2006/main">
          <a:bodyPr/>
          <a:p/>
        </p:txBody>
      </p:sp>
      <p:sp>
        <p:nvSpPr>
          <p:cNvPr id="23" name="Freeform 23">
            <a:extLst xmlns:a="http://schemas.openxmlformats.org/drawingml/2006/main">
              <a:ext uri="{FF2B5EF4-FFF2-40B4-BE49-F238E27FC236}">
                <a16:creationId xmlns:a16="http://schemas.microsoft.com/office/drawing/2014/main" id="{84477105-D9A4-4F76-9A35-6F5047EC9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584325" y="2738438"/>
            <a:ext cx="9525" cy="22225"/>
          </a:xfrm>
          <a:custGeom xmlns:a="http://schemas.openxmlformats.org/drawingml/2006/main">
            <a:rect l="l" t="t" r="r" b="b"/>
            <a:pathLst>
              <a:path w="9525" h="22225">
                <a:moveTo>
                  <a:pt x="0" y="0"/>
                </a:moveTo>
                <a:lnTo>
                  <a:pt x="0" y="2222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FAFAF7"/>
            </a:solidFill>
          </a:ln>
        </p:spPr>
        <p:txBody xmlns:a="http://schemas.openxmlformats.org/drawingml/2006/main">
          <a:bodyPr/>
          <a:p/>
        </p:txBody>
      </p:sp>
      <p:sp>
        <p:nvSpPr>
          <p:cNvPr id="24" name="Freeform 24">
            <a:extLst xmlns:a="http://schemas.openxmlformats.org/drawingml/2006/main">
              <a:ext uri="{FF2B5EF4-FFF2-40B4-BE49-F238E27FC236}">
                <a16:creationId xmlns:a16="http://schemas.microsoft.com/office/drawing/2014/main" id="{A20152E4-AB40-406F-874E-30C3C57D6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639888" y="2816225"/>
            <a:ext cx="22225" cy="9525"/>
          </a:xfrm>
          <a:custGeom xmlns:a="http://schemas.openxmlformats.org/drawingml/2006/main">
            <a:rect l="l" t="t" r="r" b="b"/>
            <a:pathLst>
              <a:path w="22225" h="9525">
                <a:moveTo>
                  <a:pt x="22225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FAFAF7"/>
            </a:solidFill>
          </a:ln>
        </p:spPr>
        <p:txBody xmlns:a="http://schemas.openxmlformats.org/drawingml/2006/main">
          <a:bodyPr/>
          <a:p/>
        </p:txBody>
      </p:sp>
      <p:sp>
        <p:nvSpPr>
          <p:cNvPr id="25" name="Freeform 25">
            <a:extLst xmlns:a="http://schemas.openxmlformats.org/drawingml/2006/main">
              <a:ext uri="{FF2B5EF4-FFF2-40B4-BE49-F238E27FC236}">
                <a16:creationId xmlns:a16="http://schemas.microsoft.com/office/drawing/2014/main" id="{7A856E5A-6255-49B4-AF1E-8F02BB5A3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639888" y="2860675"/>
            <a:ext cx="22225" cy="9525"/>
          </a:xfrm>
          <a:custGeom xmlns:a="http://schemas.openxmlformats.org/drawingml/2006/main">
            <a:rect l="l" t="t" r="r" b="b"/>
            <a:pathLst>
              <a:path w="22225" h="9525">
                <a:moveTo>
                  <a:pt x="22225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FAFAF7"/>
            </a:solidFill>
          </a:ln>
        </p:spPr>
        <p:txBody xmlns:a="http://schemas.openxmlformats.org/drawingml/2006/main">
          <a:bodyPr/>
          <a:p/>
        </p:txBody>
      </p:sp>
      <p:sp>
        <p:nvSpPr>
          <p:cNvPr id="26" name="Freeform 26">
            <a:extLst xmlns:a="http://schemas.openxmlformats.org/drawingml/2006/main">
              <a:ext uri="{FF2B5EF4-FFF2-40B4-BE49-F238E27FC236}">
                <a16:creationId xmlns:a16="http://schemas.microsoft.com/office/drawing/2014/main" id="{8B7EB554-A85C-4E42-A1AB-E69380693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584325" y="2916238"/>
            <a:ext cx="9525" cy="22225"/>
          </a:xfrm>
          <a:custGeom xmlns:a="http://schemas.openxmlformats.org/drawingml/2006/main">
            <a:rect l="l" t="t" r="r" b="b"/>
            <a:pathLst>
              <a:path w="9525" h="22225">
                <a:moveTo>
                  <a:pt x="0" y="22225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FAFAF7"/>
            </a:solidFill>
          </a:ln>
        </p:spPr>
        <p:txBody xmlns:a="http://schemas.openxmlformats.org/drawingml/2006/main">
          <a:bodyPr/>
          <a:p/>
        </p:txBody>
      </p:sp>
      <p:sp>
        <p:nvSpPr>
          <p:cNvPr id="27" name="Freeform 27">
            <a:extLst xmlns:a="http://schemas.openxmlformats.org/drawingml/2006/main">
              <a:ext uri="{FF2B5EF4-FFF2-40B4-BE49-F238E27FC236}">
                <a16:creationId xmlns:a16="http://schemas.microsoft.com/office/drawing/2014/main" id="{72D3623B-4C2C-4DB5-98FA-A413FABDE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539875" y="2916238"/>
            <a:ext cx="9525" cy="22225"/>
          </a:xfrm>
          <a:custGeom xmlns:a="http://schemas.openxmlformats.org/drawingml/2006/main">
            <a:rect l="l" t="t" r="r" b="b"/>
            <a:pathLst>
              <a:path w="9525" h="22225">
                <a:moveTo>
                  <a:pt x="0" y="22225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FAFAF7"/>
            </a:solidFill>
          </a:ln>
        </p:spPr>
        <p:txBody xmlns:a="http://schemas.openxmlformats.org/drawingml/2006/main">
          <a:bodyPr/>
          <a:p/>
        </p:txBody>
      </p:sp>
      <p:sp>
        <p:nvSpPr>
          <p:cNvPr id="29" name="TextBox 29">
            <a:extLst xmlns:a="http://schemas.openxmlformats.org/drawingml/2006/main">
              <a:ext uri="{FF2B5EF4-FFF2-40B4-BE49-F238E27FC236}">
                <a16:creationId xmlns:a16="http://schemas.microsoft.com/office/drawing/2014/main" id="{7286B7A6-58E3-4E4F-8CEC-275C00C78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252804" y="3168968"/>
            <a:ext cx="618592" cy="2640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350">
                <a:solidFill>
                  <a:srgbClr val="FAFAF7"/>
                </a:solidFill>
                <a:latin typeface="Arial"/>
                <a:ea typeface="Arial"/>
                <a:cs typeface="Arial"/>
              </a:rPr>
              <a:t>AI </a:t>
            </a:r>
            <a:r>
              <a:rPr sz="1350">
                <a:solidFill>
                  <a:srgbClr val="FAFAF7"/>
                </a:solidFill>
                <a:latin typeface="Microsoft YaHei"/>
                <a:ea typeface="Microsoft YaHei"/>
                <a:cs typeface="Microsoft YaHei"/>
              </a:rPr>
              <a:t>适配</a:t>
            </a:r>
          </a:p>
        </p:txBody>
      </p:sp>
      <p:sp>
        <p:nvSpPr>
          <p:cNvPr id="30" name="Rectangle 30">
            <a:extLst xmlns:a="http://schemas.openxmlformats.org/drawingml/2006/main">
              <a:ext uri="{FF2B5EF4-FFF2-40B4-BE49-F238E27FC236}">
                <a16:creationId xmlns:a16="http://schemas.microsoft.com/office/drawing/2014/main" id="{06132711-4DD7-4CBA-B6BD-AAADBCCB1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667000" y="2590800"/>
            <a:ext cx="89154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2ED">
              <a:alpha val="50000"/>
            </a:srgbClr>
          </a:solidFill>
          <a:ln xmlns:a="http://schemas.openxmlformats.org/drawingml/2006/main">
            <a:noFill/>
          </a:ln>
        </p:spPr>
        <p:txBody xmlns:a="http://schemas.openxmlformats.org/drawingml/2006/main">
          <a:bodyPr/>
          <a:p/>
        </p:txBody>
      </p:sp>
      <p:sp>
        <p:nvSpPr>
          <p:cNvPr id="31" name="TextBox 31">
            <a:extLst xmlns:a="http://schemas.openxmlformats.org/drawingml/2006/main">
              <a:ext uri="{FF2B5EF4-FFF2-40B4-BE49-F238E27FC236}">
                <a16:creationId xmlns:a16="http://schemas.microsoft.com/office/drawing/2014/main" id="{82B12C88-FA4A-4710-9B47-FCBEE8A9D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886771" y="2940368"/>
            <a:ext cx="456057" cy="2640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350">
                <a:solidFill>
                  <a:srgbClr val="22302B"/>
                </a:solidFill>
                <a:latin typeface="Consolas"/>
                <a:ea typeface="Consolas"/>
                <a:cs typeface="Consolas"/>
              </a:rPr>
              <a:t>Mock</a:t>
            </a:r>
          </a:p>
        </p:txBody>
      </p:sp>
      <p:sp>
        <p:nvSpPr>
          <p:cNvPr id="32" name="Line 32">
            <a:extLst xmlns:a="http://schemas.openxmlformats.org/drawingml/2006/main">
              <a:ext uri="{FF2B5EF4-FFF2-40B4-BE49-F238E27FC236}">
                <a16:creationId xmlns:a16="http://schemas.microsoft.com/office/drawing/2014/main" id="{4D4F33E9-690D-42F6-A472-732A60AA7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638800" y="2590800"/>
            <a:ext cx="9525" cy="838200"/>
          </a:xfrm>
          <a:custGeom xmlns:a="http://schemas.openxmlformats.org/drawingml/2006/main">
            <a:rect l="l" t="t" r="r" b="b"/>
            <a:pathLst>
              <a:path w="9525" h="838200">
                <a:moveTo>
                  <a:pt x="0" y="0"/>
                </a:moveTo>
                <a:lnTo>
                  <a:pt x="0" y="83820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D8DED6"/>
            </a:solidFill>
          </a:ln>
        </p:spPr>
        <p:txBody xmlns:a="http://schemas.openxmlformats.org/drawingml/2006/main">
          <a:bodyPr/>
          <a:p/>
        </p:txBody>
      </p:sp>
      <p:sp>
        <p:nvSpPr>
          <p:cNvPr id="33" name="TextBox 33">
            <a:extLst xmlns:a="http://schemas.openxmlformats.org/drawingml/2006/main">
              <a:ext uri="{FF2B5EF4-FFF2-40B4-BE49-F238E27FC236}">
                <a16:creationId xmlns:a16="http://schemas.microsoft.com/office/drawing/2014/main" id="{09696C48-F873-47F5-B191-4094AE142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840141" y="2940368"/>
            <a:ext cx="492919" cy="2640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350">
                <a:solidFill>
                  <a:srgbClr val="22302B"/>
                </a:solidFill>
                <a:latin typeface="Consolas"/>
                <a:ea typeface="Consolas"/>
                <a:cs typeface="Consolas"/>
              </a:rPr>
              <a:t>Qwen / OpenAI</a:t>
            </a:r>
          </a:p>
        </p:txBody>
      </p:sp>
      <p:sp>
        <p:nvSpPr>
          <p:cNvPr id="34" name="Line 34">
            <a:extLst xmlns:a="http://schemas.openxmlformats.org/drawingml/2006/main">
              <a:ext uri="{FF2B5EF4-FFF2-40B4-BE49-F238E27FC236}">
                <a16:creationId xmlns:a16="http://schemas.microsoft.com/office/drawing/2014/main" id="{D3577A3D-4A24-40FD-835D-E8F283DAD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610600" y="2590800"/>
            <a:ext cx="9525" cy="838200"/>
          </a:xfrm>
          <a:custGeom xmlns:a="http://schemas.openxmlformats.org/drawingml/2006/main">
            <a:rect l="l" t="t" r="r" b="b"/>
            <a:pathLst>
              <a:path w="9525" h="838200">
                <a:moveTo>
                  <a:pt x="0" y="0"/>
                </a:moveTo>
                <a:lnTo>
                  <a:pt x="0" y="83820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D8DED6"/>
            </a:solidFill>
          </a:ln>
        </p:spPr>
        <p:txBody xmlns:a="http://schemas.openxmlformats.org/drawingml/2006/main">
          <a:bodyPr/>
          <a:p/>
        </p:txBody>
      </p:sp>
      <p:sp>
        <p:nvSpPr>
          <p:cNvPr id="35" name="TextBox 35">
            <a:extLst xmlns:a="http://schemas.openxmlformats.org/drawingml/2006/main">
              <a:ext uri="{FF2B5EF4-FFF2-40B4-BE49-F238E27FC236}">
                <a16:creationId xmlns:a16="http://schemas.microsoft.com/office/drawing/2014/main" id="{EBF1E401-3BA5-4B2A-AAC8-BB5117CE1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747861" y="2940368"/>
            <a:ext cx="621078" cy="2640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350">
                <a:solidFill>
                  <a:srgbClr val="22302B"/>
                </a:solidFill>
                <a:latin typeface="Consolas"/>
                <a:ea typeface="Consolas"/>
                <a:cs typeface="Consolas"/>
              </a:rPr>
              <a:t>StepFun</a:t>
            </a:r>
          </a:p>
        </p:txBody>
      </p:sp>
      <p:sp>
        <p:nvSpPr>
          <p:cNvPr id="37" name="Rectangle 37">
            <a:extLst xmlns:a="http://schemas.openxmlformats.org/drawingml/2006/main">
              <a:ext uri="{FF2B5EF4-FFF2-40B4-BE49-F238E27FC236}">
                <a16:creationId xmlns:a16="http://schemas.microsoft.com/office/drawing/2014/main" id="{1A35F9DA-D557-4AE9-868F-71A2884B3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9600" y="3581400"/>
            <a:ext cx="19050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4D40"/>
          </a:solidFill>
          <a:ln xmlns:a="http://schemas.openxmlformats.org/drawingml/2006/main">
            <a:noFill/>
          </a:ln>
        </p:spPr>
        <p:txBody xmlns:a="http://schemas.openxmlformats.org/drawingml/2006/main">
          <a:bodyPr/>
          <a:p/>
        </p:txBody>
      </p:sp>
      <p:sp>
        <p:nvSpPr>
          <p:cNvPr id="38" name="TextBox 38">
            <a:extLst xmlns:a="http://schemas.openxmlformats.org/drawingml/2006/main">
              <a:ext uri="{FF2B5EF4-FFF2-40B4-BE49-F238E27FC236}">
                <a16:creationId xmlns:a16="http://schemas.microsoft.com/office/drawing/2014/main" id="{0C6F914E-7A4B-4EBE-BFF9-E642DDEA5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405098" y="3749040"/>
            <a:ext cx="314005" cy="3520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800" b="1">
                <a:solidFill>
                  <a:srgbClr val="FAFAF7"/>
                </a:solidFill>
                <a:latin typeface="Georgia"/>
                <a:ea typeface="Georgia"/>
                <a:cs typeface="Georgia"/>
              </a:rPr>
              <a:t>03</a:t>
            </a:r>
          </a:p>
        </p:txBody>
      </p:sp>
      <p:sp>
        <p:nvSpPr>
          <p:cNvPr id="39" name="TextBox 39">
            <a:extLst xmlns:a="http://schemas.openxmlformats.org/drawingml/2006/main">
              <a:ext uri="{FF2B5EF4-FFF2-40B4-BE49-F238E27FC236}">
                <a16:creationId xmlns:a16="http://schemas.microsoft.com/office/drawing/2014/main" id="{57AED0FA-A09C-4B9B-88F4-84F2297C1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91768" y="4083368"/>
            <a:ext cx="740664" cy="2640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350">
                <a:solidFill>
                  <a:srgbClr val="FAFAF7"/>
                </a:solidFill>
                <a:latin typeface="Microsoft YaHei"/>
                <a:ea typeface="Microsoft YaHei"/>
                <a:cs typeface="Microsoft YaHei"/>
              </a:rPr>
              <a:t>业务控制</a:t>
            </a:r>
          </a:p>
        </p:txBody>
      </p:sp>
      <p:sp>
        <p:nvSpPr>
          <p:cNvPr id="40" name="Rectangle 40">
            <a:extLst xmlns:a="http://schemas.openxmlformats.org/drawingml/2006/main">
              <a:ext uri="{FF2B5EF4-FFF2-40B4-BE49-F238E27FC236}">
                <a16:creationId xmlns:a16="http://schemas.microsoft.com/office/drawing/2014/main" id="{7FB742AA-3E8C-479D-889A-40F440B51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667000" y="3581400"/>
            <a:ext cx="89154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2ED">
              <a:alpha val="50000"/>
            </a:srgbClr>
          </a:solidFill>
          <a:ln xmlns:a="http://schemas.openxmlformats.org/drawingml/2006/main">
            <a:noFill/>
          </a:ln>
        </p:spPr>
        <p:txBody xmlns:a="http://schemas.openxmlformats.org/drawingml/2006/main">
          <a:bodyPr/>
          <a:p/>
        </p:txBody>
      </p:sp>
      <p:sp>
        <p:nvSpPr>
          <p:cNvPr id="41" name="TextBox 41">
            <a:extLst xmlns:a="http://schemas.openxmlformats.org/drawingml/2006/main">
              <a:ext uri="{FF2B5EF4-FFF2-40B4-BE49-F238E27FC236}">
                <a16:creationId xmlns:a16="http://schemas.microsoft.com/office/drawing/2014/main" id="{23839F13-6676-4ECE-B886-B88F7FC8C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006407" y="3930968"/>
            <a:ext cx="1130936" cy="2640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350" b="1">
                <a:solidFill>
                  <a:srgbClr val="22302B"/>
                </a:solidFill>
                <a:latin typeface="Arial"/>
                <a:ea typeface="Arial"/>
                <a:cs typeface="Arial"/>
              </a:rPr>
              <a:t>Schema </a:t>
            </a:r>
            <a:r>
              <a:rPr sz="1350" b="1">
                <a:solidFill>
                  <a:srgbClr val="22302B"/>
                </a:solidFill>
                <a:latin typeface="Microsoft YaHei"/>
                <a:ea typeface="Microsoft YaHei"/>
                <a:cs typeface="Microsoft YaHei"/>
              </a:rPr>
              <a:t>校验</a:t>
            </a:r>
          </a:p>
        </p:txBody>
      </p:sp>
      <p:sp>
        <p:nvSpPr>
          <p:cNvPr id="42" name="Line 42">
            <a:extLst xmlns:a="http://schemas.openxmlformats.org/drawingml/2006/main">
              <a:ext uri="{FF2B5EF4-FFF2-40B4-BE49-F238E27FC236}">
                <a16:creationId xmlns:a16="http://schemas.microsoft.com/office/drawing/2014/main" id="{E00A6886-B444-46FC-B136-17214230E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95850" y="3581400"/>
            <a:ext cx="9525" cy="838200"/>
          </a:xfrm>
          <a:custGeom xmlns:a="http://schemas.openxmlformats.org/drawingml/2006/main">
            <a:rect l="l" t="t" r="r" b="b"/>
            <a:pathLst>
              <a:path w="9525" h="838200">
                <a:moveTo>
                  <a:pt x="0" y="0"/>
                </a:moveTo>
                <a:lnTo>
                  <a:pt x="0" y="83820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D8DED6"/>
            </a:solidFill>
          </a:ln>
        </p:spPr>
        <p:txBody xmlns:a="http://schemas.openxmlformats.org/drawingml/2006/main">
          <a:bodyPr/>
          <a:p/>
        </p:txBody>
      </p:sp>
      <p:sp>
        <p:nvSpPr>
          <p:cNvPr id="43" name="TextBox 43">
            <a:extLst xmlns:a="http://schemas.openxmlformats.org/drawingml/2006/main">
              <a:ext uri="{FF2B5EF4-FFF2-40B4-BE49-F238E27FC236}">
                <a16:creationId xmlns:a16="http://schemas.microsoft.com/office/drawing/2014/main" id="{FA69FEAD-0335-4EB7-83C0-5E3D5766A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412219" y="3930968"/>
            <a:ext cx="777011" cy="2640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350" b="1">
                <a:solidFill>
                  <a:srgbClr val="22302B"/>
                </a:solidFill>
                <a:latin typeface="Microsoft YaHei"/>
                <a:ea typeface="Microsoft YaHei"/>
                <a:cs typeface="Microsoft YaHei"/>
              </a:rPr>
              <a:t>候选排序</a:t>
            </a:r>
          </a:p>
        </p:txBody>
      </p:sp>
      <p:sp>
        <p:nvSpPr>
          <p:cNvPr id="44" name="Line 44">
            <a:extLst xmlns:a="http://schemas.openxmlformats.org/drawingml/2006/main">
              <a:ext uri="{FF2B5EF4-FFF2-40B4-BE49-F238E27FC236}">
                <a16:creationId xmlns:a16="http://schemas.microsoft.com/office/drawing/2014/main" id="{C391B161-8BBF-4324-B79C-5969A55FB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705600" y="3581400"/>
            <a:ext cx="9525" cy="838200"/>
          </a:xfrm>
          <a:custGeom xmlns:a="http://schemas.openxmlformats.org/drawingml/2006/main">
            <a:rect l="l" t="t" r="r" b="b"/>
            <a:pathLst>
              <a:path w="9525" h="838200">
                <a:moveTo>
                  <a:pt x="0" y="0"/>
                </a:moveTo>
                <a:lnTo>
                  <a:pt x="0" y="83820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D8DED6"/>
            </a:solidFill>
          </a:ln>
        </p:spPr>
        <p:txBody xmlns:a="http://schemas.openxmlformats.org/drawingml/2006/main">
          <a:bodyPr/>
          <a:p/>
        </p:txBody>
      </p:sp>
      <p:sp>
        <p:nvSpPr>
          <p:cNvPr id="45" name="TextBox 45">
            <a:extLst xmlns:a="http://schemas.openxmlformats.org/drawingml/2006/main">
              <a:ext uri="{FF2B5EF4-FFF2-40B4-BE49-F238E27FC236}">
                <a16:creationId xmlns:a16="http://schemas.microsoft.com/office/drawing/2014/main" id="{830EC06C-2EE6-4606-864F-0336594A2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7316895" y="3930968"/>
            <a:ext cx="1158659" cy="2640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350" b="1">
                <a:solidFill>
                  <a:srgbClr val="22302B"/>
                </a:solidFill>
                <a:latin typeface="Microsoft YaHei"/>
                <a:ea typeface="Microsoft YaHei"/>
                <a:cs typeface="Microsoft YaHei"/>
              </a:rPr>
              <a:t>人工确认</a:t>
            </a:r>
          </a:p>
        </p:txBody>
      </p:sp>
      <p:sp>
        <p:nvSpPr>
          <p:cNvPr id="46" name="Line 46">
            <a:extLst xmlns:a="http://schemas.openxmlformats.org/drawingml/2006/main">
              <a:ext uri="{FF2B5EF4-FFF2-40B4-BE49-F238E27FC236}">
                <a16:creationId xmlns:a16="http://schemas.microsoft.com/office/drawing/2014/main" id="{6EC18CCB-45EC-491F-BCC1-2D1FC4856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353550" y="3581400"/>
            <a:ext cx="9525" cy="838200"/>
          </a:xfrm>
          <a:custGeom xmlns:a="http://schemas.openxmlformats.org/drawingml/2006/main">
            <a:rect l="l" t="t" r="r" b="b"/>
            <a:pathLst>
              <a:path w="9525" h="838200">
                <a:moveTo>
                  <a:pt x="0" y="0"/>
                </a:moveTo>
                <a:lnTo>
                  <a:pt x="0" y="83820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D8DED6"/>
            </a:solidFill>
          </a:ln>
        </p:spPr>
        <p:txBody xmlns:a="http://schemas.openxmlformats.org/drawingml/2006/main">
          <a:bodyPr/>
          <a:p/>
        </p:txBody>
      </p:sp>
      <p:sp>
        <p:nvSpPr>
          <p:cNvPr id="47" name="TextBox 47">
            <a:extLst xmlns:a="http://schemas.openxmlformats.org/drawingml/2006/main">
              <a:ext uri="{FF2B5EF4-FFF2-40B4-BE49-F238E27FC236}">
                <a16:creationId xmlns:a16="http://schemas.microsoft.com/office/drawing/2014/main" id="{75052DD9-413E-4D00-80A8-FD6C157EB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174881" y="3930968"/>
            <a:ext cx="586188" cy="2640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350" b="1">
                <a:solidFill>
                  <a:srgbClr val="22302B"/>
                </a:solidFill>
                <a:latin typeface="Microsoft YaHei"/>
                <a:ea typeface="Microsoft YaHei"/>
                <a:cs typeface="Microsoft YaHei"/>
              </a:rPr>
              <a:t>状态机</a:t>
            </a:r>
          </a:p>
        </p:txBody>
      </p:sp>
      <p:sp>
        <p:nvSpPr>
          <p:cNvPr id="49" name="Rectangle 49">
            <a:extLst xmlns:a="http://schemas.openxmlformats.org/drawingml/2006/main">
              <a:ext uri="{FF2B5EF4-FFF2-40B4-BE49-F238E27FC236}">
                <a16:creationId xmlns:a16="http://schemas.microsoft.com/office/drawing/2014/main" id="{E4F2A5FA-FE4D-4D8C-8B85-2851C931A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9600" y="4572000"/>
            <a:ext cx="19050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4D40"/>
          </a:solidFill>
          <a:ln xmlns:a="http://schemas.openxmlformats.org/drawingml/2006/main">
            <a:noFill/>
          </a:ln>
        </p:spPr>
        <p:txBody xmlns:a="http://schemas.openxmlformats.org/drawingml/2006/main">
          <a:bodyPr/>
          <a:p/>
        </p:txBody>
      </p:sp>
      <p:sp>
        <p:nvSpPr>
          <p:cNvPr id="50" name="Freeform 50">
            <a:extLst xmlns:a="http://schemas.openxmlformats.org/drawingml/2006/main">
              <a:ext uri="{FF2B5EF4-FFF2-40B4-BE49-F238E27FC236}">
                <a16:creationId xmlns:a16="http://schemas.microsoft.com/office/drawing/2014/main" id="{637C9F32-EF1F-43BD-ACC9-4281049B8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473200" y="4719638"/>
            <a:ext cx="177801" cy="66675"/>
          </a:xfrm>
          <a:custGeom xmlns:a="http://schemas.openxmlformats.org/drawingml/2006/main">
            <a:rect l="l" t="t" r="r" b="b"/>
            <a:pathLst>
              <a:path w="177801" h="66675">
                <a:moveTo>
                  <a:pt x="0" y="33338"/>
                </a:moveTo>
                <a:cubicBezTo>
                  <a:pt x="0" y="51749"/>
                  <a:pt x="39802" y="66675"/>
                  <a:pt x="88900" y="66675"/>
                </a:cubicBezTo>
                <a:cubicBezTo>
                  <a:pt x="137999" y="66675"/>
                  <a:pt x="177801" y="51749"/>
                  <a:pt x="177801" y="33338"/>
                </a:cubicBezTo>
                <a:cubicBezTo>
                  <a:pt x="177801" y="14926"/>
                  <a:pt x="137999" y="0"/>
                  <a:pt x="88900" y="0"/>
                </a:cubicBezTo>
                <a:cubicBezTo>
                  <a:pt x="39802" y="0"/>
                  <a:pt x="0" y="14926"/>
                  <a:pt x="0" y="33338"/>
                </a:cubicBez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FAFAF7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" name="Freeform 51">
            <a:extLst xmlns:a="http://schemas.openxmlformats.org/drawingml/2006/main">
              <a:ext uri="{FF2B5EF4-FFF2-40B4-BE49-F238E27FC236}">
                <a16:creationId xmlns:a16="http://schemas.microsoft.com/office/drawing/2014/main" id="{577FC82A-753E-4B7D-887E-C473F10D0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473200" y="4752975"/>
            <a:ext cx="177801" cy="100013"/>
          </a:xfrm>
          <a:custGeom xmlns:a="http://schemas.openxmlformats.org/drawingml/2006/main">
            <a:rect l="l" t="t" r="r" b="b"/>
            <a:pathLst>
              <a:path w="177801" h="100013">
                <a:moveTo>
                  <a:pt x="0" y="0"/>
                </a:moveTo>
                <a:lnTo>
                  <a:pt x="0" y="66675"/>
                </a:lnTo>
                <a:cubicBezTo>
                  <a:pt x="0" y="85087"/>
                  <a:pt x="39802" y="100013"/>
                  <a:pt x="88900" y="100013"/>
                </a:cubicBezTo>
                <a:cubicBezTo>
                  <a:pt x="137999" y="100013"/>
                  <a:pt x="177801" y="85087"/>
                  <a:pt x="177801" y="66675"/>
                </a:cubicBezTo>
                <a:lnTo>
                  <a:pt x="177801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FAFAF7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" name="Freeform 52">
            <a:extLst xmlns:a="http://schemas.openxmlformats.org/drawingml/2006/main">
              <a:ext uri="{FF2B5EF4-FFF2-40B4-BE49-F238E27FC236}">
                <a16:creationId xmlns:a16="http://schemas.microsoft.com/office/drawing/2014/main" id="{00D7E130-BB5F-411E-BC8B-38C875A94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473200" y="4819650"/>
            <a:ext cx="177801" cy="100013"/>
          </a:xfrm>
          <a:custGeom xmlns:a="http://schemas.openxmlformats.org/drawingml/2006/main">
            <a:rect l="l" t="t" r="r" b="b"/>
            <a:pathLst>
              <a:path w="177801" h="100013">
                <a:moveTo>
                  <a:pt x="0" y="0"/>
                </a:moveTo>
                <a:lnTo>
                  <a:pt x="0" y="66675"/>
                </a:lnTo>
                <a:cubicBezTo>
                  <a:pt x="0" y="85087"/>
                  <a:pt x="39802" y="100013"/>
                  <a:pt x="88900" y="100013"/>
                </a:cubicBezTo>
                <a:cubicBezTo>
                  <a:pt x="137999" y="100013"/>
                  <a:pt x="177801" y="85087"/>
                  <a:pt x="177801" y="66675"/>
                </a:cubicBezTo>
                <a:lnTo>
                  <a:pt x="177801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FAFAF7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" name="TextBox 54">
            <a:extLst xmlns:a="http://schemas.openxmlformats.org/drawingml/2006/main">
              <a:ext uri="{FF2B5EF4-FFF2-40B4-BE49-F238E27FC236}">
                <a16:creationId xmlns:a16="http://schemas.microsoft.com/office/drawing/2014/main" id="{24A7A675-3DA3-4C78-A27E-86A316403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91768" y="5150168"/>
            <a:ext cx="740664" cy="2640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350">
                <a:solidFill>
                  <a:srgbClr val="FAFAF7"/>
                </a:solidFill>
                <a:latin typeface="Microsoft YaHei"/>
                <a:ea typeface="Microsoft YaHei"/>
                <a:cs typeface="Microsoft YaHei"/>
              </a:rPr>
              <a:t>数据记录</a:t>
            </a:r>
          </a:p>
        </p:txBody>
      </p:sp>
      <p:sp>
        <p:nvSpPr>
          <p:cNvPr id="55" name="Rectangle 55">
            <a:extLst xmlns:a="http://schemas.openxmlformats.org/drawingml/2006/main">
              <a:ext uri="{FF2B5EF4-FFF2-40B4-BE49-F238E27FC236}">
                <a16:creationId xmlns:a16="http://schemas.microsoft.com/office/drawing/2014/main" id="{05130348-3EF2-4B9F-A09F-EDD484369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667000" y="4572000"/>
            <a:ext cx="89154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2ED">
              <a:alpha val="50000"/>
            </a:srgbClr>
          </a:solidFill>
          <a:ln xmlns:a="http://schemas.openxmlformats.org/drawingml/2006/main">
            <a:noFill/>
          </a:ln>
        </p:spPr>
        <p:txBody xmlns:a="http://schemas.openxmlformats.org/drawingml/2006/main">
          <a:bodyPr/>
          <a:p/>
        </p:txBody>
      </p:sp>
      <p:sp>
        <p:nvSpPr>
          <p:cNvPr id="56" name="TextBox 56">
            <a:extLst xmlns:a="http://schemas.openxmlformats.org/drawingml/2006/main">
              <a:ext uri="{FF2B5EF4-FFF2-40B4-BE49-F238E27FC236}">
                <a16:creationId xmlns:a16="http://schemas.microsoft.com/office/drawing/2014/main" id="{AA5FF2C2-F90F-4F3A-9F83-2750D6CAF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934843" y="4921568"/>
            <a:ext cx="740664" cy="2640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350">
                <a:solidFill>
                  <a:srgbClr val="22302B"/>
                </a:solidFill>
                <a:latin typeface="Microsoft YaHei"/>
                <a:ea typeface="Microsoft YaHei"/>
                <a:cs typeface="Microsoft YaHei"/>
              </a:rPr>
              <a:t>原始反馈</a:t>
            </a:r>
          </a:p>
        </p:txBody>
      </p:sp>
      <p:sp>
        <p:nvSpPr>
          <p:cNvPr id="57" name="Line 57">
            <a:extLst xmlns:a="http://schemas.openxmlformats.org/drawingml/2006/main">
              <a:ext uri="{FF2B5EF4-FFF2-40B4-BE49-F238E27FC236}">
                <a16:creationId xmlns:a16="http://schemas.microsoft.com/office/drawing/2014/main" id="{147BA492-52D6-4812-B2B8-9A8093516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086225" y="4572000"/>
            <a:ext cx="9525" cy="838200"/>
          </a:xfrm>
          <a:custGeom xmlns:a="http://schemas.openxmlformats.org/drawingml/2006/main">
            <a:rect l="l" t="t" r="r" b="b"/>
            <a:pathLst>
              <a:path w="9525" h="838200">
                <a:moveTo>
                  <a:pt x="0" y="0"/>
                </a:moveTo>
                <a:lnTo>
                  <a:pt x="0" y="83820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D8DED6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" name="TextBox 58">
            <a:extLst xmlns:a="http://schemas.openxmlformats.org/drawingml/2006/main">
              <a:ext uri="{FF2B5EF4-FFF2-40B4-BE49-F238E27FC236}">
                <a16:creationId xmlns:a16="http://schemas.microsoft.com/office/drawing/2014/main" id="{85177322-6654-44E3-8F1C-7E07B0158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35805" y="4921568"/>
            <a:ext cx="377190" cy="2640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350">
                <a:solidFill>
                  <a:srgbClr val="22302B"/>
                </a:solidFill>
                <a:latin typeface="Microsoft YaHei"/>
                <a:ea typeface="Microsoft YaHei"/>
                <a:cs typeface="Microsoft YaHei"/>
              </a:rPr>
              <a:t>草稿</a:t>
            </a:r>
          </a:p>
        </p:txBody>
      </p:sp>
      <p:sp>
        <p:nvSpPr>
          <p:cNvPr id="59" name="Line 59">
            <a:extLst xmlns:a="http://schemas.openxmlformats.org/drawingml/2006/main">
              <a:ext uri="{FF2B5EF4-FFF2-40B4-BE49-F238E27FC236}">
                <a16:creationId xmlns:a16="http://schemas.microsoft.com/office/drawing/2014/main" id="{47B59C7A-65F6-4DF2-889B-699214524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362575" y="4572000"/>
            <a:ext cx="9525" cy="838200"/>
          </a:xfrm>
          <a:custGeom xmlns:a="http://schemas.openxmlformats.org/drawingml/2006/main">
            <a:rect l="l" t="t" r="r" b="b"/>
            <a:pathLst>
              <a:path w="9525" h="838200">
                <a:moveTo>
                  <a:pt x="0" y="0"/>
                </a:moveTo>
                <a:lnTo>
                  <a:pt x="0" y="83820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D8DED6"/>
            </a:solidFill>
          </a:ln>
        </p:spPr>
        <p:txBody xmlns:a="http://schemas.openxmlformats.org/drawingml/2006/main">
          <a:bodyPr/>
          <a:p/>
        </p:txBody>
      </p:sp>
      <p:sp>
        <p:nvSpPr>
          <p:cNvPr id="60" name="TextBox 60">
            <a:extLst xmlns:a="http://schemas.openxmlformats.org/drawingml/2006/main">
              <a:ext uri="{FF2B5EF4-FFF2-40B4-BE49-F238E27FC236}">
                <a16:creationId xmlns:a16="http://schemas.microsoft.com/office/drawing/2014/main" id="{7A6B1255-D762-4579-8C58-A64E053AF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812155" y="4921568"/>
            <a:ext cx="377190" cy="2640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350">
                <a:solidFill>
                  <a:srgbClr val="22302B"/>
                </a:solidFill>
                <a:latin typeface="Microsoft YaHei"/>
                <a:ea typeface="Microsoft YaHei"/>
                <a:cs typeface="Microsoft YaHei"/>
              </a:rPr>
              <a:t>事项</a:t>
            </a:r>
          </a:p>
        </p:txBody>
      </p:sp>
      <p:sp>
        <p:nvSpPr>
          <p:cNvPr id="61" name="Line 61">
            <a:extLst xmlns:a="http://schemas.openxmlformats.org/drawingml/2006/main">
              <a:ext uri="{FF2B5EF4-FFF2-40B4-BE49-F238E27FC236}">
                <a16:creationId xmlns:a16="http://schemas.microsoft.com/office/drawing/2014/main" id="{F32BE719-8F23-41EE-BC55-EC1E76698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638925" y="4572000"/>
            <a:ext cx="9525" cy="838200"/>
          </a:xfrm>
          <a:custGeom xmlns:a="http://schemas.openxmlformats.org/drawingml/2006/main">
            <a:rect l="l" t="t" r="r" b="b"/>
            <a:pathLst>
              <a:path w="9525" h="838200">
                <a:moveTo>
                  <a:pt x="0" y="0"/>
                </a:moveTo>
                <a:lnTo>
                  <a:pt x="0" y="83820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D8DED6"/>
            </a:solidFill>
          </a:ln>
        </p:spPr>
        <p:txBody xmlns:a="http://schemas.openxmlformats.org/drawingml/2006/main">
          <a:bodyPr/>
          <a:p/>
        </p:txBody>
      </p:sp>
      <p:sp>
        <p:nvSpPr>
          <p:cNvPr id="62" name="TextBox 62">
            <a:extLst xmlns:a="http://schemas.openxmlformats.org/drawingml/2006/main">
              <a:ext uri="{FF2B5EF4-FFF2-40B4-BE49-F238E27FC236}">
                <a16:creationId xmlns:a16="http://schemas.microsoft.com/office/drawing/2014/main" id="{556EECF0-C999-40CB-B3A9-43C1BB176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7088505" y="4921568"/>
            <a:ext cx="377190" cy="2640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350">
                <a:solidFill>
                  <a:srgbClr val="22302B"/>
                </a:solidFill>
                <a:latin typeface="Microsoft YaHei"/>
                <a:ea typeface="Microsoft YaHei"/>
                <a:cs typeface="Microsoft YaHei"/>
              </a:rPr>
              <a:t>来源</a:t>
            </a:r>
          </a:p>
        </p:txBody>
      </p:sp>
      <p:sp>
        <p:nvSpPr>
          <p:cNvPr id="63" name="Line 63">
            <a:extLst xmlns:a="http://schemas.openxmlformats.org/drawingml/2006/main">
              <a:ext uri="{FF2B5EF4-FFF2-40B4-BE49-F238E27FC236}">
                <a16:creationId xmlns:a16="http://schemas.microsoft.com/office/drawing/2014/main" id="{96A4FA3D-8B2C-46BE-9EB1-94560A266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7915275" y="4572000"/>
            <a:ext cx="9525" cy="838200"/>
          </a:xfrm>
          <a:custGeom xmlns:a="http://schemas.openxmlformats.org/drawingml/2006/main">
            <a:rect l="l" t="t" r="r" b="b"/>
            <a:pathLst>
              <a:path w="9525" h="838200">
                <a:moveTo>
                  <a:pt x="0" y="0"/>
                </a:moveTo>
                <a:lnTo>
                  <a:pt x="0" y="83820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D8DED6"/>
            </a:solidFill>
          </a:ln>
        </p:spPr>
        <p:txBody xmlns:a="http://schemas.openxmlformats.org/drawingml/2006/main">
          <a:bodyPr/>
          <a:p/>
        </p:txBody>
      </p:sp>
      <p:sp>
        <p:nvSpPr>
          <p:cNvPr id="64" name="TextBox 64">
            <a:extLst xmlns:a="http://schemas.openxmlformats.org/drawingml/2006/main">
              <a:ext uri="{FF2B5EF4-FFF2-40B4-BE49-F238E27FC236}">
                <a16:creationId xmlns:a16="http://schemas.microsoft.com/office/drawing/2014/main" id="{4A42CAF9-1C53-41EC-BE38-3FD006653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659368" y="4921568"/>
            <a:ext cx="740664" cy="2640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350">
                <a:solidFill>
                  <a:srgbClr val="22302B"/>
                </a:solidFill>
                <a:latin typeface="Microsoft YaHei"/>
                <a:ea typeface="Microsoft YaHei"/>
                <a:cs typeface="Microsoft YaHei"/>
              </a:rPr>
              <a:t>处理记录</a:t>
            </a:r>
          </a:p>
        </p:txBody>
      </p:sp>
      <p:sp>
        <p:nvSpPr>
          <p:cNvPr id="66" name="Line 66">
            <a:extLst xmlns:a="http://schemas.openxmlformats.org/drawingml/2006/main">
              <a:ext uri="{FF2B5EF4-FFF2-40B4-BE49-F238E27FC236}">
                <a16:creationId xmlns:a16="http://schemas.microsoft.com/office/drawing/2014/main" id="{EACF9D4B-E178-4858-B778-F09C9444F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9600" y="5715000"/>
            <a:ext cx="10972800" cy="9525"/>
          </a:xfrm>
          <a:custGeom xmlns:a="http://schemas.openxmlformats.org/drawingml/2006/main"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D8DED6"/>
            </a:solidFill>
          </a:ln>
        </p:spPr>
        <p:txBody xmlns:a="http://schemas.openxmlformats.org/drawingml/2006/main">
          <a:bodyPr/>
          <a:p/>
        </p:txBody>
      </p:sp>
      <p:sp>
        <p:nvSpPr>
          <p:cNvPr id="67" name="TextBox 67">
            <a:extLst xmlns:a="http://schemas.openxmlformats.org/drawingml/2006/main">
              <a:ext uri="{FF2B5EF4-FFF2-40B4-BE49-F238E27FC236}">
                <a16:creationId xmlns:a16="http://schemas.microsoft.com/office/drawing/2014/main" id="{6E9D4056-0B04-43AD-8DB9-4EAAD821C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3504" y="5966460"/>
            <a:ext cx="751256" cy="2346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 spc="150">
                <a:solidFill>
                  <a:srgbClr val="1E4D40"/>
                </a:solidFill>
                <a:latin typeface="Microsoft YaHei"/>
                <a:ea typeface="Microsoft YaHei"/>
                <a:cs typeface="Microsoft YaHei"/>
              </a:rPr>
              <a:t>技术基础</a:t>
            </a:r>
          </a:p>
        </p:txBody>
      </p:sp>
      <p:sp>
        <p:nvSpPr>
          <p:cNvPr id="68" name="TextBox 68">
            <a:extLst xmlns:a="http://schemas.openxmlformats.org/drawingml/2006/main">
              <a:ext uri="{FF2B5EF4-FFF2-40B4-BE49-F238E27FC236}">
                <a16:creationId xmlns:a16="http://schemas.microsoft.com/office/drawing/2014/main" id="{CB835214-AE73-4987-B1F8-6FD07F9CC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707642" y="5950268"/>
            <a:ext cx="4713589" cy="2640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50">
                <a:solidFill>
                  <a:srgbClr val="22302B"/>
                </a:solidFill>
                <a:latin typeface="Consolas"/>
                <a:ea typeface="Consolas"/>
                <a:cs typeface="Consolas"/>
              </a:rPr>
              <a:t>Next.js/React/TypeScript/Zod/Prisma/SQLite</a:t>
            </a:r>
          </a:p>
        </p:txBody>
      </p:sp>
      <p:sp>
        <p:nvSpPr>
          <p:cNvPr id="69" name="TextBox 69">
            <a:extLst xmlns:a="http://schemas.openxmlformats.org/drawingml/2006/main">
              <a:ext uri="{FF2B5EF4-FFF2-40B4-BE49-F238E27FC236}">
                <a16:creationId xmlns:a16="http://schemas.microsoft.com/office/drawing/2014/main" id="{5477AD9C-56D2-48FF-ACA1-BF97D19AE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7342631" y="5966460"/>
            <a:ext cx="4242816" cy="2346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200">
                <a:solidFill>
                  <a:srgbClr val="8A968F"/>
                </a:solidFill>
                <a:latin typeface="Microsoft YaHei"/>
                <a:ea typeface="Microsoft YaHei"/>
                <a:cs typeface="Microsoft YaHei"/>
              </a:rPr>
              <a:t>StepFun 合成图片已到达 Review；视觉待实测；Mock 不识别图片</a:t>
            </a:r>
            <a:r>
              <a:rPr sz="1200">
                <a:solidFill>
                  <a:srgbClr val="8A968F"/>
                </a:solidFill>
                <a:latin typeface="Arial"/>
                <a:ea typeface="Arial"/>
                <a:cs typeface="Arial"/>
              </a:rPr>
              <a:t/>
            </a:r>
            <a:r>
              <a:rPr sz="1200">
                <a:solidFill>
                  <a:srgbClr val="8A968F"/>
                </a:solidFill>
                <a:latin typeface="Microsoft YaHei"/>
                <a:ea typeface="Microsoft YaHei"/>
                <a:cs typeface="Microsoft YaHei"/>
              </a:rPr>
              <a:t/>
            </a:r>
          </a:p>
        </p:txBody>
      </p:sp>
      <p:sp>
        <p:nvSpPr>
          <p:cNvPr id="71" name="TextBox 71">
            <a:extLst xmlns:a="http://schemas.openxmlformats.org/drawingml/2006/main">
              <a:ext uri="{FF2B5EF4-FFF2-40B4-BE49-F238E27FC236}">
                <a16:creationId xmlns:a16="http://schemas.microsoft.com/office/drawing/2014/main" id="{EB6C6A61-80B0-46D3-8F22-D78A48F2F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3504" y="6442710"/>
            <a:ext cx="1522432" cy="2346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>
                <a:solidFill>
                  <a:srgbClr val="8A968F"/>
                </a:solidFill>
                <a:latin typeface="Arial"/>
                <a:ea typeface="Arial"/>
                <a:cs typeface="Arial"/>
              </a:rPr>
              <a:t>OneCase · </a:t>
            </a:r>
            <a:r>
              <a:rPr sz="1200">
                <a:solidFill>
                  <a:srgbClr val="8A968F"/>
                </a:solidFill>
                <a:latin typeface="Microsoft YaHei"/>
                <a:ea typeface="Microsoft YaHei"/>
                <a:cs typeface="Microsoft YaHei"/>
              </a:rPr>
              <a:t>初赛路演</a:t>
            </a:r>
          </a:p>
        </p:txBody>
      </p:sp>
      <p:sp>
        <p:nvSpPr>
          <p:cNvPr id="72" name="TextBox 72">
            <a:extLst xmlns:a="http://schemas.openxmlformats.org/drawingml/2006/main">
              <a:ext uri="{FF2B5EF4-FFF2-40B4-BE49-F238E27FC236}">
                <a16:creationId xmlns:a16="http://schemas.microsoft.com/office/drawing/2014/main" id="{B9E7C243-0A2B-4016-A9C8-F56511AE7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035132" y="6442710"/>
            <a:ext cx="553364" cy="2346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200">
                <a:solidFill>
                  <a:srgbClr val="8A968F"/>
                </a:solidFill>
                <a:latin typeface="Arial"/>
                <a:ea typeface="Arial"/>
                <a:cs typeface="Arial"/>
              </a:rPr>
              <a:t>08 / 14</a:t>
            </a:r>
          </a:p>
        </p:txBody>
      </p:sp>
    </p:spTree>
    <p:extLst>
      <p:ext uri="{BB962C8B-B14F-4D97-AF65-F5344CB8AC3E}">
        <p14:creationId xmlns:p14="http://schemas.microsoft.com/office/powerpoint/2010/main" val="1971723023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2">
            <a:extLst xmlns:a="http://schemas.openxmlformats.org/drawingml/2006/main">
              <a:ext uri="{FF2B5EF4-FFF2-40B4-BE49-F238E27FC236}">
                <a16:creationId xmlns:a16="http://schemas.microsoft.com/office/drawing/2014/main" id="{BA931D83-9FF7-4BDD-8270-3C18E766E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7"/>
          </a:solidFill>
          <a:ln xmlns:a="http://schemas.openxmlformats.org/drawingml/2006/main">
            <a:noFill/>
          </a:ln>
        </p:spPr>
        <p:txBody xmlns:a="http://schemas.openxmlformats.org/drawingml/2006/main">
          <a:bodyPr/>
          <a:p/>
        </p:txBody>
      </p:sp>
      <p:sp>
        <p:nvSpPr>
          <p:cNvPr id="3" name="TextBox 3">
            <a:extLst xmlns:a="http://schemas.openxmlformats.org/drawingml/2006/main">
              <a:ext uri="{FF2B5EF4-FFF2-40B4-BE49-F238E27FC236}">
                <a16:creationId xmlns:a16="http://schemas.microsoft.com/office/drawing/2014/main" id="{4446F59B-FC77-4107-854F-348572118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3504" y="594360"/>
            <a:ext cx="1548072" cy="2346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 spc="300">
                <a:solidFill>
                  <a:srgbClr val="D97B29"/>
                </a:solidFill>
                <a:latin typeface="Microsoft YaHei"/>
                <a:ea typeface="Microsoft YaHei"/>
                <a:cs typeface="Microsoft YaHei"/>
              </a:rPr>
              <a:t>背书</a:t>
            </a:r>
            <a:r>
              <a:rPr sz="1200" b="1" spc="300">
                <a:solidFill>
                  <a:srgbClr val="D97B29"/>
                </a:solidFill>
                <a:latin typeface="Arial"/>
                <a:ea typeface="Arial"/>
                <a:cs typeface="Arial"/>
              </a:rPr>
              <a:t> · </a:t>
            </a:r>
            <a:r>
              <a:rPr sz="1200" b="1" spc="300">
                <a:solidFill>
                  <a:srgbClr val="D97B29"/>
                </a:solidFill>
                <a:latin typeface="Microsoft YaHei"/>
                <a:ea typeface="Microsoft YaHei"/>
                <a:cs typeface="Microsoft YaHei"/>
              </a:rPr>
              <a:t>工程证据</a:t>
            </a:r>
          </a:p>
        </p:txBody>
      </p:sp>
      <p:sp>
        <p:nvSpPr>
          <p:cNvPr id="4" name="TextBox 4">
            <a:extLst xmlns:a="http://schemas.openxmlformats.org/drawingml/2006/main">
              <a:ext uri="{FF2B5EF4-FFF2-40B4-BE49-F238E27FC236}">
                <a16:creationId xmlns:a16="http://schemas.microsoft.com/office/drawing/2014/main" id="{45885ED3-8939-4311-9A90-84375A4E2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93598" y="783908"/>
            <a:ext cx="4736592" cy="6160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150" b="1">
                <a:solidFill>
                  <a:srgbClr val="1E4D40"/>
                </a:solidFill>
                <a:latin typeface="SimSun"/>
                <a:ea typeface="SimSun"/>
                <a:cs typeface="SimSun"/>
              </a:rPr>
              <a:t>已完成的功能和测试</a:t>
            </a:r>
          </a:p>
        </p:txBody>
      </p:sp>
      <p:sp>
        <p:nvSpPr>
          <p:cNvPr id="5" name="Line 5">
            <a:extLst xmlns:a="http://schemas.openxmlformats.org/drawingml/2006/main">
              <a:ext uri="{FF2B5EF4-FFF2-40B4-BE49-F238E27FC236}">
                <a16:creationId xmlns:a16="http://schemas.microsoft.com/office/drawing/2014/main" id="{1D6878C1-8AB3-4D34-8F8C-AF7A76301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9600" y="1352550"/>
            <a:ext cx="10972800" cy="9525"/>
          </a:xfrm>
          <a:custGeom xmlns:a="http://schemas.openxmlformats.org/drawingml/2006/main"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D8DED6"/>
            </a:solidFill>
          </a:ln>
        </p:spPr>
        <p:txBody xmlns:a="http://schemas.openxmlformats.org/drawingml/2006/main">
          <a:bodyPr/>
          <a:p/>
        </p:txBody>
      </p:sp>
      <p:sp>
        <p:nvSpPr>
          <p:cNvPr id="7" name="Line 7">
            <a:extLst xmlns:a="http://schemas.openxmlformats.org/drawingml/2006/main">
              <a:ext uri="{FF2B5EF4-FFF2-40B4-BE49-F238E27FC236}">
                <a16:creationId xmlns:a16="http://schemas.microsoft.com/office/drawing/2014/main" id="{30970B68-95F0-4BDA-856C-3925990AF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9600" y="1714500"/>
            <a:ext cx="3352800" cy="9525"/>
          </a:xfrm>
          <a:custGeom xmlns:a="http://schemas.openxmlformats.org/drawingml/2006/main">
            <a:rect l="l" t="t" r="r" b="b"/>
            <a:pathLst>
              <a:path w="3352800" h="9525">
                <a:moveTo>
                  <a:pt x="0" y="0"/>
                </a:moveTo>
                <a:lnTo>
                  <a:pt x="33528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E4D40"/>
            </a:solidFill>
          </a:ln>
        </p:spPr>
        <p:txBody xmlns:a="http://schemas.openxmlformats.org/drawingml/2006/main">
          <a:bodyPr/>
          <a:p/>
        </p:txBody>
      </p:sp>
      <p:sp>
        <p:nvSpPr>
          <p:cNvPr id="8" name="TextBox 8">
            <a:extLst xmlns:a="http://schemas.openxmlformats.org/drawingml/2006/main">
              <a:ext uri="{FF2B5EF4-FFF2-40B4-BE49-F238E27FC236}">
                <a16:creationId xmlns:a16="http://schemas.microsoft.com/office/drawing/2014/main" id="{43A18677-719F-45DB-BF70-095F8338A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91312" y="2164080"/>
            <a:ext cx="923727" cy="704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600" b="1">
                <a:solidFill>
                  <a:srgbClr val="1E4D40"/>
                </a:solidFill>
                <a:latin typeface="Georgia"/>
                <a:ea typeface="Georgia"/>
                <a:cs typeface="Georgia"/>
              </a:rPr>
              <a:t>74</a:t>
            </a:r>
          </a:p>
        </p:txBody>
      </p:sp>
      <p:sp>
        <p:nvSpPr>
          <p:cNvPr id="9" name="TextBox 9">
            <a:extLst xmlns:a="http://schemas.openxmlformats.org/drawingml/2006/main">
              <a:ext uri="{FF2B5EF4-FFF2-40B4-BE49-F238E27FC236}">
                <a16:creationId xmlns:a16="http://schemas.microsoft.com/office/drawing/2014/main" id="{64633ED9-B946-4734-8920-5ECD40495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1980" y="2867025"/>
            <a:ext cx="2167309" cy="2933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1">
                <a:solidFill>
                  <a:srgbClr val="22302B"/>
                </a:solidFill>
                <a:latin typeface="Microsoft YaHei"/>
                <a:ea typeface="Microsoft YaHei"/>
                <a:cs typeface="Microsoft YaHei"/>
              </a:rPr>
              <a:t>项</a:t>
            </a:r>
            <a:r>
              <a:rPr sz="1500" b="1">
                <a:solidFill>
                  <a:srgbClr val="22302B"/>
                </a:solidFill>
                <a:latin typeface="Arial"/>
                <a:ea typeface="Arial"/>
                <a:cs typeface="Arial"/>
              </a:rPr>
              <a:t> AI </a:t>
            </a:r>
            <a:r>
              <a:rPr sz="1500" b="1">
                <a:solidFill>
                  <a:srgbClr val="22302B"/>
                </a:solidFill>
                <a:latin typeface="Microsoft YaHei"/>
                <a:ea typeface="Microsoft YaHei"/>
                <a:cs typeface="Microsoft YaHei"/>
              </a:rPr>
              <a:t>单元测试通过</a:t>
            </a:r>
          </a:p>
        </p:txBody>
      </p:sp>
      <p:sp>
        <p:nvSpPr>
          <p:cNvPr id="10" name="TextBox 10">
            <a:extLst xmlns:a="http://schemas.openxmlformats.org/drawingml/2006/main">
              <a:ext uri="{FF2B5EF4-FFF2-40B4-BE49-F238E27FC236}">
                <a16:creationId xmlns:a16="http://schemas.microsoft.com/office/drawing/2014/main" id="{43CD17E1-B128-42E2-AD69-7629F97D4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3504" y="3204210"/>
            <a:ext cx="3291840" cy="2346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>
                <a:solidFill>
                  <a:srgbClr val="5C6B64"/>
                </a:solidFill>
                <a:latin typeface="Microsoft YaHei"/>
                <a:ea typeface="Microsoft YaHei"/>
                <a:cs typeface="Microsoft YaHei"/>
              </a:rPr>
              <a:t>StepFun 装配、图片传参、输出校验与失败处理</a:t>
            </a:r>
          </a:p>
        </p:txBody>
      </p:sp>
      <p:sp>
        <p:nvSpPr>
          <p:cNvPr id="12" name="Line 12">
            <a:extLst xmlns:a="http://schemas.openxmlformats.org/drawingml/2006/main">
              <a:ext uri="{FF2B5EF4-FFF2-40B4-BE49-F238E27FC236}">
                <a16:creationId xmlns:a16="http://schemas.microsoft.com/office/drawing/2014/main" id="{92515803-82B3-450D-A994-96133ABCA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267200" y="1714500"/>
            <a:ext cx="3352800" cy="9525"/>
          </a:xfrm>
          <a:custGeom xmlns:a="http://schemas.openxmlformats.org/drawingml/2006/main">
            <a:rect l="l" t="t" r="r" b="b"/>
            <a:pathLst>
              <a:path w="3352800" h="9525">
                <a:moveTo>
                  <a:pt x="0" y="0"/>
                </a:moveTo>
                <a:lnTo>
                  <a:pt x="33528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E4D40"/>
            </a:solidFill>
          </a:ln>
        </p:spPr>
        <p:txBody xmlns:a="http://schemas.openxmlformats.org/drawingml/2006/main">
          <a:bodyPr/>
          <a:p/>
        </p:txBody>
      </p:sp>
      <p:sp>
        <p:nvSpPr>
          <p:cNvPr id="13" name="TextBox 13">
            <a:extLst xmlns:a="http://schemas.openxmlformats.org/drawingml/2006/main">
              <a:ext uri="{FF2B5EF4-FFF2-40B4-BE49-F238E27FC236}">
                <a16:creationId xmlns:a16="http://schemas.microsoft.com/office/drawing/2014/main" id="{D003C530-1D4F-48E2-B060-869EEADE4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248912" y="2164080"/>
            <a:ext cx="628010" cy="704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600" b="1">
                <a:solidFill>
                  <a:srgbClr val="1E4D40"/>
                </a:solidFill>
                <a:latin typeface="Georgia"/>
                <a:ea typeface="Georgia"/>
                <a:cs typeface="Georgia"/>
              </a:rPr>
              <a:t>68</a:t>
            </a:r>
          </a:p>
        </p:txBody>
      </p:sp>
      <p:sp>
        <p:nvSpPr>
          <p:cNvPr id="14" name="TextBox 14">
            <a:extLst xmlns:a="http://schemas.openxmlformats.org/drawingml/2006/main">
              <a:ext uri="{FF2B5EF4-FFF2-40B4-BE49-F238E27FC236}">
                <a16:creationId xmlns:a16="http://schemas.microsoft.com/office/drawing/2014/main" id="{99FABC5D-8681-4CC0-A045-089304687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259580" y="2867025"/>
            <a:ext cx="2379335" cy="2933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1">
                <a:solidFill>
                  <a:srgbClr val="22302B"/>
                </a:solidFill>
                <a:latin typeface="Microsoft YaHei"/>
                <a:ea typeface="Microsoft YaHei"/>
                <a:cs typeface="Microsoft YaHei"/>
              </a:rPr>
              <a:t>项</a:t>
            </a:r>
            <a:r>
              <a:rPr sz="1500" b="1">
                <a:solidFill>
                  <a:srgbClr val="22302B"/>
                </a:solidFill>
                <a:latin typeface="Arial"/>
                <a:ea typeface="Arial"/>
                <a:cs typeface="Arial"/>
              </a:rPr>
              <a:t> Web </a:t>
            </a:r>
            <a:r>
              <a:rPr sz="1500" b="1">
                <a:solidFill>
                  <a:srgbClr val="22302B"/>
                </a:solidFill>
                <a:latin typeface="Microsoft YaHei"/>
                <a:ea typeface="Microsoft YaHei"/>
                <a:cs typeface="Microsoft YaHei"/>
              </a:rPr>
              <a:t>单元测试通过</a:t>
            </a:r>
          </a:p>
        </p:txBody>
      </p:sp>
      <p:sp>
        <p:nvSpPr>
          <p:cNvPr id="15" name="TextBox 15">
            <a:extLst xmlns:a="http://schemas.openxmlformats.org/drawingml/2006/main">
              <a:ext uri="{FF2B5EF4-FFF2-40B4-BE49-F238E27FC236}">
                <a16:creationId xmlns:a16="http://schemas.microsoft.com/office/drawing/2014/main" id="{C399C50B-6946-4108-9B42-47783304A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261104" y="3204210"/>
            <a:ext cx="2377440" cy="2346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>
                <a:solidFill>
                  <a:srgbClr val="5C6B64"/>
                </a:solidFill>
                <a:latin typeface="Microsoft YaHei"/>
                <a:ea typeface="Microsoft YaHei"/>
                <a:cs typeface="Microsoft YaHei"/>
              </a:rPr>
              <a:t>上传边界、Provider 配置与查重</a:t>
            </a:r>
          </a:p>
        </p:txBody>
      </p:sp>
      <p:sp>
        <p:nvSpPr>
          <p:cNvPr id="17" name="Line 17">
            <a:extLst xmlns:a="http://schemas.openxmlformats.org/drawingml/2006/main">
              <a:ext uri="{FF2B5EF4-FFF2-40B4-BE49-F238E27FC236}">
                <a16:creationId xmlns:a16="http://schemas.microsoft.com/office/drawing/2014/main" id="{6D78DB23-FFF3-4B94-B992-4C973E738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7924800" y="1714500"/>
            <a:ext cx="3352800" cy="9525"/>
          </a:xfrm>
          <a:custGeom xmlns:a="http://schemas.openxmlformats.org/drawingml/2006/main">
            <a:rect l="l" t="t" r="r" b="b"/>
            <a:pathLst>
              <a:path w="3352800" h="9525">
                <a:moveTo>
                  <a:pt x="0" y="0"/>
                </a:moveTo>
                <a:lnTo>
                  <a:pt x="33528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E4D40"/>
            </a:solidFill>
          </a:ln>
        </p:spPr>
        <p:txBody xmlns:a="http://schemas.openxmlformats.org/drawingml/2006/main">
          <a:bodyPr/>
          <a:p/>
        </p:txBody>
      </p:sp>
      <p:sp>
        <p:nvSpPr>
          <p:cNvPr id="18" name="TextBox 18">
            <a:extLst xmlns:a="http://schemas.openxmlformats.org/drawingml/2006/main">
              <a:ext uri="{FF2B5EF4-FFF2-40B4-BE49-F238E27FC236}">
                <a16:creationId xmlns:a16="http://schemas.microsoft.com/office/drawing/2014/main" id="{83B781D8-7B86-41D0-BF2B-FD97EEE30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7906512" y="2164080"/>
            <a:ext cx="923544" cy="704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600" b="1">
                <a:solidFill>
                  <a:srgbClr val="1E4D40"/>
                </a:solidFill>
                <a:latin typeface="Georgia"/>
                <a:ea typeface="Georgia"/>
                <a:cs typeface="Georgia"/>
              </a:rPr>
              <a:t>200</a:t>
            </a:r>
          </a:p>
        </p:txBody>
      </p:sp>
      <p:sp>
        <p:nvSpPr>
          <p:cNvPr id="19" name="TextBox 19">
            <a:extLst xmlns:a="http://schemas.openxmlformats.org/drawingml/2006/main">
              <a:ext uri="{FF2B5EF4-FFF2-40B4-BE49-F238E27FC236}">
                <a16:creationId xmlns:a16="http://schemas.microsoft.com/office/drawing/2014/main" id="{66107D5E-0C00-4E5F-8FFE-C65C69DBF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7917180" y="2867025"/>
            <a:ext cx="2379335" cy="2933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1">
                <a:solidFill>
                  <a:srgbClr val="22302B"/>
                </a:solidFill>
                <a:latin typeface="Microsoft YaHei"/>
                <a:ea typeface="Microsoft YaHei"/>
                <a:cs typeface="Microsoft YaHei"/>
              </a:rPr>
              <a:t>项本轮单元测试通过</a:t>
            </a:r>
          </a:p>
        </p:txBody>
      </p:sp>
      <p:sp>
        <p:nvSpPr>
          <p:cNvPr id="20" name="TextBox 20">
            <a:extLst xmlns:a="http://schemas.openxmlformats.org/drawingml/2006/main">
              <a:ext uri="{FF2B5EF4-FFF2-40B4-BE49-F238E27FC236}">
                <a16:creationId xmlns:a16="http://schemas.microsoft.com/office/drawing/2014/main" id="{4C4853B8-8D18-42F1-96F5-6E5F58E46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7918704" y="3204210"/>
            <a:ext cx="3200400" cy="2346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>
                <a:solidFill>
                  <a:srgbClr val="5C6B64"/>
                </a:solidFill>
                <a:latin typeface="Microsoft YaHei"/>
                <a:ea typeface="Microsoft YaHei"/>
                <a:cs typeface="Microsoft YaHei"/>
              </a:rPr>
              <a:t>全仓四包合计；另不变量 99 项、E2E 29 项</a:t>
            </a:r>
            <a:r>
              <a:rPr sz="1200">
                <a:solidFill>
                  <a:srgbClr val="5C6B64"/>
                </a:solidFill>
                <a:latin typeface="Arial"/>
                <a:ea typeface="Arial"/>
                <a:cs typeface="Arial"/>
              </a:rPr>
              <a:t/>
            </a:r>
            <a:r>
              <a:rPr sz="1200">
                <a:solidFill>
                  <a:srgbClr val="5C6B64"/>
                </a:solidFill>
                <a:latin typeface="Microsoft YaHei"/>
                <a:ea typeface="Microsoft YaHei"/>
                <a:cs typeface="Microsoft YaHei"/>
              </a:rPr>
              <a:t/>
            </a:r>
            <a:r>
              <a:rPr sz="1200">
                <a:solidFill>
                  <a:srgbClr val="5C6B64"/>
                </a:solidFill>
                <a:latin typeface="Arial"/>
                <a:ea typeface="Arial"/>
                <a:cs typeface="Arial"/>
              </a:rPr>
              <a:t/>
            </a:r>
            <a:r>
              <a:rPr sz="1200">
                <a:solidFill>
                  <a:srgbClr val="5C6B64"/>
                </a:solidFill>
                <a:latin typeface="Microsoft YaHei"/>
                <a:ea typeface="Microsoft YaHei"/>
                <a:cs typeface="Microsoft YaHei"/>
              </a:rPr>
              <a:t/>
            </a:r>
          </a:p>
        </p:txBody>
      </p:sp>
      <p:sp>
        <p:nvSpPr>
          <p:cNvPr id="22" name="Line 22">
            <a:extLst xmlns:a="http://schemas.openxmlformats.org/drawingml/2006/main">
              <a:ext uri="{FF2B5EF4-FFF2-40B4-BE49-F238E27FC236}">
                <a16:creationId xmlns:a16="http://schemas.microsoft.com/office/drawing/2014/main" id="{21404166-2184-472C-A151-47AC02750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114800" y="1714500"/>
            <a:ext cx="9525" cy="1714500"/>
          </a:xfrm>
          <a:custGeom xmlns:a="http://schemas.openxmlformats.org/drawingml/2006/main">
            <a:rect l="l" t="t" r="r" b="b"/>
            <a:pathLst>
              <a:path w="9525" h="1714500">
                <a:moveTo>
                  <a:pt x="0" y="0"/>
                </a:moveTo>
                <a:lnTo>
                  <a:pt x="0" y="171450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D8DED6"/>
            </a:solidFill>
          </a:ln>
        </p:spPr>
        <p:txBody xmlns:a="http://schemas.openxmlformats.org/drawingml/2006/main">
          <a:bodyPr/>
          <a:p/>
        </p:txBody>
      </p:sp>
      <p:sp>
        <p:nvSpPr>
          <p:cNvPr id="23" name="Line 23">
            <a:extLst xmlns:a="http://schemas.openxmlformats.org/drawingml/2006/main">
              <a:ext uri="{FF2B5EF4-FFF2-40B4-BE49-F238E27FC236}">
                <a16:creationId xmlns:a16="http://schemas.microsoft.com/office/drawing/2014/main" id="{DC886CD8-4F8C-4F96-AAD8-BF4BEAC54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7772400" y="1714500"/>
            <a:ext cx="9525" cy="1714500"/>
          </a:xfrm>
          <a:custGeom xmlns:a="http://schemas.openxmlformats.org/drawingml/2006/main">
            <a:rect l="l" t="t" r="r" b="b"/>
            <a:pathLst>
              <a:path w="9525" h="1714500">
                <a:moveTo>
                  <a:pt x="0" y="0"/>
                </a:moveTo>
                <a:lnTo>
                  <a:pt x="0" y="171450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D8DED6"/>
            </a:solidFill>
          </a:ln>
        </p:spPr>
        <p:txBody xmlns:a="http://schemas.openxmlformats.org/drawingml/2006/main">
          <a:bodyPr/>
          <a:p/>
        </p:txBody>
      </p:sp>
      <p:sp>
        <p:nvSpPr>
          <p:cNvPr id="25" name="Line 25">
            <a:extLst xmlns:a="http://schemas.openxmlformats.org/drawingml/2006/main">
              <a:ext uri="{FF2B5EF4-FFF2-40B4-BE49-F238E27FC236}">
                <a16:creationId xmlns:a16="http://schemas.microsoft.com/office/drawing/2014/main" id="{3505917D-6135-48C7-9744-0F08669F7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9600" y="3810000"/>
            <a:ext cx="10972800" cy="9525"/>
          </a:xfrm>
          <a:custGeom xmlns:a="http://schemas.openxmlformats.org/drawingml/2006/main"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D8DED6"/>
            </a:solidFill>
          </a:ln>
        </p:spPr>
        <p:txBody xmlns:a="http://schemas.openxmlformats.org/drawingml/2006/main">
          <a:bodyPr/>
          <a:p/>
        </p:txBody>
      </p:sp>
      <p:sp>
        <p:nvSpPr>
          <p:cNvPr id="26" name="TextBox 26">
            <a:extLst xmlns:a="http://schemas.openxmlformats.org/drawingml/2006/main">
              <a:ext uri="{FF2B5EF4-FFF2-40B4-BE49-F238E27FC236}">
                <a16:creationId xmlns:a16="http://schemas.microsoft.com/office/drawing/2014/main" id="{8D8B2393-59E8-44A7-B7DB-D85E709CF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1980" y="4086225"/>
            <a:ext cx="863346" cy="2933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1">
                <a:solidFill>
                  <a:srgbClr val="1E4D40"/>
                </a:solidFill>
                <a:latin typeface="Microsoft YaHei"/>
                <a:ea typeface="Microsoft YaHei"/>
                <a:cs typeface="Microsoft YaHei"/>
              </a:rPr>
              <a:t>项目成果</a:t>
            </a:r>
          </a:p>
        </p:txBody>
      </p:sp>
      <p:sp>
        <p:nvSpPr>
          <p:cNvPr id="27" name="TextBox 27">
            <a:extLst xmlns:a="http://schemas.openxmlformats.org/drawingml/2006/main">
              <a:ext uri="{FF2B5EF4-FFF2-40B4-BE49-F238E27FC236}">
                <a16:creationId xmlns:a16="http://schemas.microsoft.com/office/drawing/2014/main" id="{018D19F6-4287-4B2F-8C28-180C87997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279142" y="4102418"/>
            <a:ext cx="5755234" cy="2640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50">
                <a:solidFill>
                  <a:srgbClr val="22302B"/>
                </a:solidFill>
                <a:latin typeface="Microsoft YaHei"/>
                <a:ea typeface="Microsoft YaHei"/>
                <a:cs typeface="Microsoft YaHei"/>
              </a:rPr>
              <a:t>文字流程已实现；图片可上传、保存和恢复，失败后可转人工</a:t>
            </a:r>
          </a:p>
        </p:txBody>
      </p:sp>
      <p:sp>
        <p:nvSpPr>
          <p:cNvPr id="28" name="Line 28">
            <a:extLst xmlns:a="http://schemas.openxmlformats.org/drawingml/2006/main">
              <a:ext uri="{FF2B5EF4-FFF2-40B4-BE49-F238E27FC236}">
                <a16:creationId xmlns:a16="http://schemas.microsoft.com/office/drawing/2014/main" id="{7728447B-84C5-4CB5-AE43-5C64F46CF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9600" y="4572000"/>
            <a:ext cx="10972800" cy="9525"/>
          </a:xfrm>
          <a:custGeom xmlns:a="http://schemas.openxmlformats.org/drawingml/2006/main"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E4E8E1"/>
            </a:solidFill>
          </a:ln>
        </p:spPr>
        <p:txBody xmlns:a="http://schemas.openxmlformats.org/drawingml/2006/main">
          <a:bodyPr/>
          <a:p/>
        </p:txBody>
      </p:sp>
      <p:sp>
        <p:nvSpPr>
          <p:cNvPr id="29" name="Freeform 29">
            <a:extLst xmlns:a="http://schemas.openxmlformats.org/drawingml/2006/main">
              <a:ext uri="{FF2B5EF4-FFF2-40B4-BE49-F238E27FC236}">
                <a16:creationId xmlns:a16="http://schemas.microsoft.com/office/drawing/2014/main" id="{A729F3C0-9149-4048-AAB1-79E87604C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765175" y="4833938"/>
            <a:ext cx="55563" cy="55563"/>
          </a:xfrm>
          <a:custGeom xmlns:a="http://schemas.openxmlformats.org/drawingml/2006/main">
            <a:rect l="l" t="t" r="r" b="b"/>
            <a:pathLst>
              <a:path w="55563" h="55563">
                <a:moveTo>
                  <a:pt x="0" y="0"/>
                </a:moveTo>
                <a:lnTo>
                  <a:pt x="0" y="44450"/>
                </a:lnTo>
                <a:cubicBezTo>
                  <a:pt x="0" y="50587"/>
                  <a:pt x="4975" y="55563"/>
                  <a:pt x="11113" y="55563"/>
                </a:cubicBezTo>
                <a:lnTo>
                  <a:pt x="55563" y="55563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E4D40"/>
            </a:solidFill>
          </a:ln>
        </p:spPr>
        <p:txBody xmlns:a="http://schemas.openxmlformats.org/drawingml/2006/main">
          <a:bodyPr/>
          <a:p/>
        </p:txBody>
      </p:sp>
      <p:sp>
        <p:nvSpPr>
          <p:cNvPr id="30" name="Freeform 30">
            <a:extLst xmlns:a="http://schemas.openxmlformats.org/drawingml/2006/main">
              <a:ext uri="{FF2B5EF4-FFF2-40B4-BE49-F238E27FC236}">
                <a16:creationId xmlns:a16="http://schemas.microsoft.com/office/drawing/2014/main" id="{5BACC38F-979E-447E-976A-4ED99DEE4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65163" y="4833938"/>
            <a:ext cx="155575" cy="200026"/>
          </a:xfrm>
          <a:custGeom xmlns:a="http://schemas.openxmlformats.org/drawingml/2006/main">
            <a:rect l="l" t="t" r="r" b="b"/>
            <a:pathLst>
              <a:path w="155575" h="200026">
                <a:moveTo>
                  <a:pt x="133350" y="200026"/>
                </a:moveTo>
                <a:lnTo>
                  <a:pt x="22225" y="200026"/>
                </a:lnTo>
                <a:cubicBezTo>
                  <a:pt x="9950" y="200026"/>
                  <a:pt x="0" y="190075"/>
                  <a:pt x="0" y="177801"/>
                </a:cubicBezTo>
                <a:lnTo>
                  <a:pt x="0" y="22225"/>
                </a:lnTo>
                <a:cubicBezTo>
                  <a:pt x="0" y="9950"/>
                  <a:pt x="9950" y="0"/>
                  <a:pt x="22225" y="0"/>
                </a:cubicBezTo>
                <a:lnTo>
                  <a:pt x="100013" y="0"/>
                </a:lnTo>
                <a:lnTo>
                  <a:pt x="155575" y="55563"/>
                </a:lnTo>
                <a:lnTo>
                  <a:pt x="155575" y="177801"/>
                </a:lnTo>
                <a:cubicBezTo>
                  <a:pt x="155575" y="190075"/>
                  <a:pt x="145625" y="200026"/>
                  <a:pt x="133350" y="200026"/>
                </a:cubicBez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E4D40"/>
            </a:solidFill>
          </a:ln>
        </p:spPr>
        <p:txBody xmlns:a="http://schemas.openxmlformats.org/drawingml/2006/main">
          <a:bodyPr/>
          <a:p/>
        </p:txBody>
      </p:sp>
      <p:sp>
        <p:nvSpPr>
          <p:cNvPr id="31" name="Freeform 31">
            <a:extLst xmlns:a="http://schemas.openxmlformats.org/drawingml/2006/main">
              <a:ext uri="{FF2B5EF4-FFF2-40B4-BE49-F238E27FC236}">
                <a16:creationId xmlns:a16="http://schemas.microsoft.com/office/drawing/2014/main" id="{6ED0A96C-441B-4B96-B5FC-E93B26B71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709613" y="4900613"/>
            <a:ext cx="11113" cy="9525"/>
          </a:xfrm>
          <a:custGeom xmlns:a="http://schemas.openxmlformats.org/drawingml/2006/main">
            <a:rect l="l" t="t" r="r" b="b"/>
            <a:pathLst>
              <a:path w="11113" h="9525">
                <a:moveTo>
                  <a:pt x="0" y="0"/>
                </a:moveTo>
                <a:lnTo>
                  <a:pt x="111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E4D40"/>
            </a:solidFill>
          </a:ln>
        </p:spPr>
        <p:txBody xmlns:a="http://schemas.openxmlformats.org/drawingml/2006/main">
          <a:bodyPr/>
          <a:p/>
        </p:txBody>
      </p:sp>
      <p:sp>
        <p:nvSpPr>
          <p:cNvPr id="32" name="Freeform 32">
            <a:extLst xmlns:a="http://schemas.openxmlformats.org/drawingml/2006/main">
              <a:ext uri="{FF2B5EF4-FFF2-40B4-BE49-F238E27FC236}">
                <a16:creationId xmlns:a16="http://schemas.microsoft.com/office/drawing/2014/main" id="{0021F340-DDB4-4FCF-A255-53556FB7A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709613" y="4945063"/>
            <a:ext cx="66675" cy="9525"/>
          </a:xfrm>
          <a:custGeom xmlns:a="http://schemas.openxmlformats.org/drawingml/2006/main">
            <a:rect l="l" t="t" r="r" b="b"/>
            <a:pathLst>
              <a:path w="66675" h="952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E4D40"/>
            </a:solidFill>
          </a:ln>
        </p:spPr>
        <p:txBody xmlns:a="http://schemas.openxmlformats.org/drawingml/2006/main">
          <a:bodyPr/>
          <a:p/>
        </p:txBody>
      </p:sp>
      <p:sp>
        <p:nvSpPr>
          <p:cNvPr id="33" name="Freeform 33">
            <a:extLst xmlns:a="http://schemas.openxmlformats.org/drawingml/2006/main">
              <a:ext uri="{FF2B5EF4-FFF2-40B4-BE49-F238E27FC236}">
                <a16:creationId xmlns:a16="http://schemas.microsoft.com/office/drawing/2014/main" id="{F1B753BF-5C28-4AF1-A851-275CBF52B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709613" y="4989513"/>
            <a:ext cx="66675" cy="9525"/>
          </a:xfrm>
          <a:custGeom xmlns:a="http://schemas.openxmlformats.org/drawingml/2006/main">
            <a:rect l="l" t="t" r="r" b="b"/>
            <a:pathLst>
              <a:path w="66675" h="952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E4D40"/>
            </a:solidFill>
          </a:ln>
        </p:spPr>
        <p:txBody xmlns:a="http://schemas.openxmlformats.org/drawingml/2006/main">
          <a:bodyPr/>
          <a:p/>
        </p:txBody>
      </p:sp>
      <p:sp>
        <p:nvSpPr>
          <p:cNvPr id="35" name="TextBox 35">
            <a:extLst xmlns:a="http://schemas.openxmlformats.org/drawingml/2006/main">
              <a:ext uri="{FF2B5EF4-FFF2-40B4-BE49-F238E27FC236}">
                <a16:creationId xmlns:a16="http://schemas.microsoft.com/office/drawing/2014/main" id="{2766474A-9A7F-4B79-8F5A-1CB93C197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82980" y="4848225"/>
            <a:ext cx="863346" cy="2933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1">
                <a:solidFill>
                  <a:srgbClr val="1E4D40"/>
                </a:solidFill>
                <a:latin typeface="Microsoft YaHei"/>
                <a:ea typeface="Microsoft YaHei"/>
                <a:cs typeface="Microsoft YaHei"/>
              </a:rPr>
              <a:t>流程验证</a:t>
            </a:r>
          </a:p>
        </p:txBody>
      </p:sp>
      <p:sp>
        <p:nvSpPr>
          <p:cNvPr id="36" name="TextBox 36">
            <a:extLst xmlns:a="http://schemas.openxmlformats.org/drawingml/2006/main">
              <a:ext uri="{FF2B5EF4-FFF2-40B4-BE49-F238E27FC236}">
                <a16:creationId xmlns:a16="http://schemas.microsoft.com/office/drawing/2014/main" id="{45B5FDAE-D2EF-427C-B627-ADB5F7853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279142" y="4864418"/>
            <a:ext cx="4557141" cy="2640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50">
                <a:solidFill>
                  <a:srgbClr val="22302B"/>
                </a:solidFill>
                <a:latin typeface="Microsoft YaHei"/>
                <a:ea typeface="Microsoft YaHei"/>
                <a:cs typeface="Microsoft YaHei"/>
              </a:rPr>
              <a:t>上传、刷新恢复、重复提交及原图核对通过</a:t>
            </a:r>
          </a:p>
        </p:txBody>
      </p:sp>
      <p:sp>
        <p:nvSpPr>
          <p:cNvPr id="37" name="Line 37">
            <a:extLst xmlns:a="http://schemas.openxmlformats.org/drawingml/2006/main">
              <a:ext uri="{FF2B5EF4-FFF2-40B4-BE49-F238E27FC236}">
                <a16:creationId xmlns:a16="http://schemas.microsoft.com/office/drawing/2014/main" id="{5434C636-1844-4714-8081-1AD783F92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9600" y="5334000"/>
            <a:ext cx="10972800" cy="9525"/>
          </a:xfrm>
          <a:custGeom xmlns:a="http://schemas.openxmlformats.org/drawingml/2006/main"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E4E8E1"/>
            </a:solidFill>
          </a:ln>
        </p:spPr>
        <p:txBody xmlns:a="http://schemas.openxmlformats.org/drawingml/2006/main">
          <a:bodyPr/>
          <a:p/>
        </p:txBody>
      </p:sp>
      <p:sp>
        <p:nvSpPr>
          <p:cNvPr id="38" name="TextBox 38">
            <a:extLst xmlns:a="http://schemas.openxmlformats.org/drawingml/2006/main">
              <a:ext uri="{FF2B5EF4-FFF2-40B4-BE49-F238E27FC236}">
                <a16:creationId xmlns:a16="http://schemas.microsoft.com/office/drawing/2014/main" id="{B40313B9-418F-47A1-B921-D5D4C5CB2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1980" y="5610225"/>
            <a:ext cx="863346" cy="2933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1">
                <a:solidFill>
                  <a:srgbClr val="1E4D40"/>
                </a:solidFill>
                <a:latin typeface="Microsoft YaHei"/>
                <a:ea typeface="Microsoft YaHei"/>
                <a:cs typeface="Microsoft YaHei"/>
              </a:rPr>
              <a:t>目前情况</a:t>
            </a:r>
          </a:p>
        </p:txBody>
      </p:sp>
      <p:sp>
        <p:nvSpPr>
          <p:cNvPr id="39" name="TextBox 39">
            <a:extLst xmlns:a="http://schemas.openxmlformats.org/drawingml/2006/main">
              <a:ext uri="{FF2B5EF4-FFF2-40B4-BE49-F238E27FC236}">
                <a16:creationId xmlns:a16="http://schemas.microsoft.com/office/drawing/2014/main" id="{3C6AD0B2-A98F-4BB8-B7DB-C92F55504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279142" y="5626418"/>
            <a:ext cx="6392685" cy="2640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50">
                <a:solidFill>
                  <a:srgbClr val="22302B"/>
                </a:solidFill>
                <a:latin typeface="Microsoft YaHei"/>
                <a:ea typeface="Microsoft YaHei"/>
                <a:cs typeface="Microsoft YaHei"/>
              </a:rPr>
              <a:t>个人开发项目，尚无可展示的客户或合作数据；实际使用效果还需验证</a:t>
            </a:r>
          </a:p>
        </p:txBody>
      </p:sp>
      <p:sp>
        <p:nvSpPr>
          <p:cNvPr id="41" name="TextBox 41">
            <a:extLst xmlns:a="http://schemas.openxmlformats.org/drawingml/2006/main">
              <a:ext uri="{FF2B5EF4-FFF2-40B4-BE49-F238E27FC236}">
                <a16:creationId xmlns:a16="http://schemas.microsoft.com/office/drawing/2014/main" id="{3B1BE2DA-53E1-4549-A681-2C8BF8852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3504" y="6118860"/>
            <a:ext cx="6191250" cy="2346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>
                <a:solidFill>
                  <a:srgbClr val="8A968F"/>
                </a:solidFill>
                <a:latin typeface="Arial"/>
                <a:ea typeface="Arial"/>
                <a:cs typeface="Arial"/>
              </a:rPr>
              <a:t>2026-09-06 复跑 · 单测响应为模拟；一条 StepFun 合成图片 Intake 已到达 Review</a:t>
            </a:r>
            <a:r>
              <a:rPr sz="1200">
                <a:solidFill>
                  <a:srgbClr val="8A968F"/>
                </a:solidFill>
                <a:latin typeface="Microsoft YaHei"/>
                <a:ea typeface="Microsoft YaHei"/>
                <a:cs typeface="Microsoft YaHei"/>
              </a:rPr>
              <a:t/>
            </a:r>
            <a:r>
              <a:rPr sz="1200">
                <a:solidFill>
                  <a:srgbClr val="8A968F"/>
                </a:solidFill>
                <a:latin typeface="Arial"/>
                <a:ea typeface="Arial"/>
                <a:cs typeface="Arial"/>
              </a:rPr>
              <a:t/>
            </a:r>
            <a:r>
              <a:rPr sz="1200">
                <a:solidFill>
                  <a:srgbClr val="8A968F"/>
                </a:solidFill>
                <a:latin typeface="Microsoft YaHei"/>
                <a:ea typeface="Microsoft YaHei"/>
                <a:cs typeface="Microsoft YaHei"/>
              </a:rPr>
              <a:t/>
            </a:r>
            <a:r>
              <a:rPr sz="1200">
                <a:solidFill>
                  <a:srgbClr val="8A968F"/>
                </a:solidFill>
                <a:latin typeface="Arial"/>
                <a:ea typeface="Arial"/>
                <a:cs typeface="Arial"/>
              </a:rPr>
              <a:t/>
            </a:r>
            <a:r>
              <a:rPr sz="1200">
                <a:solidFill>
                  <a:srgbClr val="8A968F"/>
                </a:solidFill>
                <a:latin typeface="Microsoft YaHei"/>
                <a:ea typeface="Microsoft YaHei"/>
                <a:cs typeface="Microsoft YaHei"/>
              </a:rPr>
              <a:t/>
            </a:r>
          </a:p>
        </p:txBody>
      </p:sp>
      <p:sp>
        <p:nvSpPr>
          <p:cNvPr id="43" name="TextBox 43">
            <a:extLst xmlns:a="http://schemas.openxmlformats.org/drawingml/2006/main">
              <a:ext uri="{FF2B5EF4-FFF2-40B4-BE49-F238E27FC236}">
                <a16:creationId xmlns:a16="http://schemas.microsoft.com/office/drawing/2014/main" id="{370D6E2F-82C4-4102-8C2A-5564E53FE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3504" y="6480810"/>
            <a:ext cx="1522432" cy="2346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>
                <a:solidFill>
                  <a:srgbClr val="8A968F"/>
                </a:solidFill>
                <a:latin typeface="Arial"/>
                <a:ea typeface="Arial"/>
                <a:cs typeface="Arial"/>
              </a:rPr>
              <a:t>OneCase · </a:t>
            </a:r>
            <a:r>
              <a:rPr sz="1200">
                <a:solidFill>
                  <a:srgbClr val="8A968F"/>
                </a:solidFill>
                <a:latin typeface="Microsoft YaHei"/>
                <a:ea typeface="Microsoft YaHei"/>
                <a:cs typeface="Microsoft YaHei"/>
              </a:rPr>
              <a:t>初赛路演</a:t>
            </a:r>
          </a:p>
        </p:txBody>
      </p:sp>
      <p:sp>
        <p:nvSpPr>
          <p:cNvPr id="44" name="TextBox 44">
            <a:extLst xmlns:a="http://schemas.openxmlformats.org/drawingml/2006/main">
              <a:ext uri="{FF2B5EF4-FFF2-40B4-BE49-F238E27FC236}">
                <a16:creationId xmlns:a16="http://schemas.microsoft.com/office/drawing/2014/main" id="{AF6AD6B8-233A-453F-A2BF-017140C01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035132" y="6480810"/>
            <a:ext cx="553364" cy="2346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200">
                <a:solidFill>
                  <a:srgbClr val="8A968F"/>
                </a:solidFill>
                <a:latin typeface="Arial"/>
                <a:ea typeface="Arial"/>
                <a:cs typeface="Arial"/>
              </a:rPr>
              <a:t>09 / 14</a:t>
            </a:r>
          </a:p>
        </p:txBody>
      </p:sp>
    </p:spTree>
    <p:extLst>
      <p:ext uri="{BB962C8B-B14F-4D97-AF65-F5344CB8AC3E}">
        <p14:creationId xmlns:p14="http://schemas.microsoft.com/office/powerpoint/2010/main" val="1657336021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2">
            <a:extLst xmlns:a="http://schemas.openxmlformats.org/drawingml/2006/main">
              <a:ext uri="{FF2B5EF4-FFF2-40B4-BE49-F238E27FC236}">
                <a16:creationId xmlns:a16="http://schemas.microsoft.com/office/drawing/2014/main" id="{CF43859C-4455-4B60-A453-008B35E45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7"/>
          </a:solidFill>
          <a:ln xmlns:a="http://schemas.openxmlformats.org/drawingml/2006/main">
            <a:noFill/>
          </a:ln>
        </p:spPr>
      </p:sp>
      <p:sp>
        <p:nvSpPr>
          <p:cNvPr id="3" name="TextBox 3">
            <a:extLst xmlns:a="http://schemas.openxmlformats.org/drawingml/2006/main">
              <a:ext uri="{FF2B5EF4-FFF2-40B4-BE49-F238E27FC236}">
                <a16:creationId xmlns:a16="http://schemas.microsoft.com/office/drawing/2014/main" id="{11AA44DD-F741-4CC5-8EEA-B5C2F177A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3504" y="594360"/>
            <a:ext cx="1548072" cy="2346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 spc="300">
                <a:solidFill>
                  <a:srgbClr val="D97B29"/>
                </a:solidFill>
                <a:latin typeface="Microsoft YaHei"/>
                <a:ea typeface="Microsoft YaHei"/>
                <a:cs typeface="Microsoft YaHei"/>
              </a:rPr>
              <a:t>商业</a:t>
            </a:r>
            <a:r>
              <a:rPr sz="1200" b="1" spc="300">
                <a:solidFill>
                  <a:srgbClr val="D97B29"/>
                </a:solidFill>
                <a:latin typeface="Arial"/>
                <a:ea typeface="Arial"/>
                <a:cs typeface="Arial"/>
              </a:rPr>
              <a:t> · </a:t>
            </a:r>
            <a:r>
              <a:rPr sz="1200" b="1" spc="300">
                <a:solidFill>
                  <a:srgbClr val="D97B29"/>
                </a:solidFill>
                <a:latin typeface="Microsoft YaHei"/>
                <a:ea typeface="Microsoft YaHei"/>
                <a:cs typeface="Microsoft YaHei"/>
              </a:rPr>
              <a:t>落地路径</a:t>
            </a:r>
          </a:p>
        </p:txBody>
      </p:sp>
      <p:sp>
        <p:nvSpPr>
          <p:cNvPr id="4" name="TextBox 4">
            <a:extLst xmlns:a="http://schemas.openxmlformats.org/drawingml/2006/main">
              <a:ext uri="{FF2B5EF4-FFF2-40B4-BE49-F238E27FC236}">
                <a16:creationId xmlns:a16="http://schemas.microsoft.com/office/drawing/2014/main" id="{E7BB7DCD-1767-4462-8857-0DD6CC05C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93598" y="783908"/>
            <a:ext cx="4266133" cy="6160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150" b="1">
                <a:solidFill>
                  <a:srgbClr val="1E4D40"/>
                </a:solidFill>
                <a:latin typeface="SimSun"/>
                <a:ea typeface="SimSun"/>
                <a:cs typeface="SimSun"/>
              </a:rPr>
              <a:t>先试用，再讨论收费</a:t>
            </a:r>
          </a:p>
        </p:txBody>
      </p:sp>
      <p:sp>
        <p:nvSpPr>
          <p:cNvPr id="5" name="Line 5">
            <a:extLst xmlns:a="http://schemas.openxmlformats.org/drawingml/2006/main">
              <a:ext uri="{FF2B5EF4-FFF2-40B4-BE49-F238E27FC236}">
                <a16:creationId xmlns:a16="http://schemas.microsoft.com/office/drawing/2014/main" id="{474B492A-BB4B-4C07-9A0F-02F64D46B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9600" y="1352550"/>
            <a:ext cx="10972800" cy="9525"/>
          </a:xfrm>
          <a:custGeom xmlns:a="http://schemas.openxmlformats.org/drawingml/2006/main"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D8DED6"/>
            </a:solidFill>
          </a:ln>
        </p:spPr>
      </p:sp>
      <p:sp>
        <p:nvSpPr>
          <p:cNvPr id="7" name="Polygon 7">
            <a:extLst xmlns:a="http://schemas.openxmlformats.org/drawingml/2006/main">
              <a:ext uri="{FF2B5EF4-FFF2-40B4-BE49-F238E27FC236}">
                <a16:creationId xmlns:a16="http://schemas.microsoft.com/office/drawing/2014/main" id="{7553DD8A-49BE-4D03-9F6D-2B8702090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9600" y="1714500"/>
            <a:ext cx="3905250" cy="666750"/>
          </a:xfrm>
          <a:custGeom xmlns:a="http://schemas.openxmlformats.org/drawingml/2006/main">
            <a:rect l="l" t="t" r="r" b="b"/>
            <a:pathLst>
              <a:path w="3905250" h="666750">
                <a:moveTo>
                  <a:pt x="0" y="0"/>
                </a:moveTo>
                <a:lnTo>
                  <a:pt x="3619500" y="0"/>
                </a:lnTo>
                <a:lnTo>
                  <a:pt x="3905250" y="333375"/>
                </a:lnTo>
                <a:lnTo>
                  <a:pt x="3619500" y="666750"/>
                </a:lnTo>
                <a:lnTo>
                  <a:pt x="0" y="666750"/>
                </a:lnTo>
                <a:close/>
              </a:path>
            </a:pathLst>
          </a:custGeom>
          <a:solidFill xmlns:a="http://schemas.openxmlformats.org/drawingml/2006/main">
            <a:srgbClr val="F0F2ED"/>
          </a:solidFill>
          <a:ln xmlns:a="http://schemas.openxmlformats.org/drawingml/2006/main" w="14288">
            <a:solidFill>
              <a:srgbClr val="1E4D40"/>
            </a:solidFill>
          </a:ln>
        </p:spPr>
      </p:sp>
      <p:sp>
        <p:nvSpPr>
          <p:cNvPr id="8" name="TextBox 8">
            <a:extLst xmlns:a="http://schemas.openxmlformats.org/drawingml/2006/main">
              <a:ext uri="{FF2B5EF4-FFF2-40B4-BE49-F238E27FC236}">
                <a16:creationId xmlns:a16="http://schemas.microsoft.com/office/drawing/2014/main" id="{45F1A438-E2BB-409B-B360-28AB678C6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946758" y="1889760"/>
            <a:ext cx="754685" cy="2346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200" spc="150">
                <a:solidFill>
                  <a:srgbClr val="5C6B64"/>
                </a:solidFill>
                <a:latin typeface="Arial"/>
                <a:ea typeface="Arial"/>
                <a:cs typeface="Arial"/>
              </a:rPr>
              <a:t>STEP 01</a:t>
            </a:r>
          </a:p>
        </p:txBody>
      </p:sp>
      <p:sp>
        <p:nvSpPr>
          <p:cNvPr id="9" name="TextBox 9">
            <a:extLst xmlns:a="http://schemas.openxmlformats.org/drawingml/2006/main">
              <a:ext uri="{FF2B5EF4-FFF2-40B4-BE49-F238E27FC236}">
                <a16:creationId xmlns:a16="http://schemas.microsoft.com/office/drawing/2014/main" id="{0F793FAF-3B02-4AF1-A1B5-C72D211BC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892427" y="2105025"/>
            <a:ext cx="863346" cy="2933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500" b="1">
                <a:solidFill>
                  <a:srgbClr val="1E4D40"/>
                </a:solidFill>
                <a:latin typeface="Microsoft YaHei"/>
                <a:ea typeface="Microsoft YaHei"/>
                <a:cs typeface="Microsoft YaHei"/>
              </a:rPr>
              <a:t>梳理流程</a:t>
            </a:r>
          </a:p>
        </p:txBody>
      </p:sp>
      <p:sp>
        <p:nvSpPr>
          <p:cNvPr id="10" name="Polygon 10">
            <a:extLst xmlns:a="http://schemas.openxmlformats.org/drawingml/2006/main">
              <a:ext uri="{FF2B5EF4-FFF2-40B4-BE49-F238E27FC236}">
                <a16:creationId xmlns:a16="http://schemas.microsoft.com/office/drawing/2014/main" id="{32BB0ACD-BE6C-49E1-BC8A-C5D5C837A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229100" y="1714500"/>
            <a:ext cx="3905250" cy="666750"/>
          </a:xfrm>
          <a:custGeom xmlns:a="http://schemas.openxmlformats.org/drawingml/2006/main">
            <a:rect l="l" t="t" r="r" b="b"/>
            <a:pathLst>
              <a:path w="3905250" h="666750">
                <a:moveTo>
                  <a:pt x="0" y="0"/>
                </a:moveTo>
                <a:lnTo>
                  <a:pt x="3619500" y="0"/>
                </a:lnTo>
                <a:lnTo>
                  <a:pt x="3905250" y="333375"/>
                </a:lnTo>
                <a:lnTo>
                  <a:pt x="3619500" y="666750"/>
                </a:lnTo>
                <a:lnTo>
                  <a:pt x="0" y="666750"/>
                </a:lnTo>
                <a:lnTo>
                  <a:pt x="285750" y="333375"/>
                </a:lnTo>
                <a:close/>
              </a:path>
            </a:pathLst>
          </a:custGeom>
          <a:solidFill xmlns:a="http://schemas.openxmlformats.org/drawingml/2006/main">
            <a:srgbClr val="F0F2ED"/>
          </a:solidFill>
          <a:ln xmlns:a="http://schemas.openxmlformats.org/drawingml/2006/main" w="14288">
            <a:solidFill>
              <a:srgbClr val="1E4D40"/>
            </a:solidFill>
          </a:ln>
        </p:spPr>
      </p:sp>
      <p:sp>
        <p:nvSpPr>
          <p:cNvPr id="11" name="TextBox 11">
            <a:extLst xmlns:a="http://schemas.openxmlformats.org/drawingml/2006/main">
              <a:ext uri="{FF2B5EF4-FFF2-40B4-BE49-F238E27FC236}">
                <a16:creationId xmlns:a16="http://schemas.microsoft.com/office/drawing/2014/main" id="{2174C15C-1680-4846-B5DB-67375E2E3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661508" y="1889760"/>
            <a:ext cx="754685" cy="2346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200" spc="150">
                <a:solidFill>
                  <a:srgbClr val="5C6B64"/>
                </a:solidFill>
                <a:latin typeface="Arial"/>
                <a:ea typeface="Arial"/>
                <a:cs typeface="Arial"/>
              </a:rPr>
              <a:t>STEP 02</a:t>
            </a:r>
          </a:p>
        </p:txBody>
      </p:sp>
      <p:sp>
        <p:nvSpPr>
          <p:cNvPr id="12" name="TextBox 12">
            <a:extLst xmlns:a="http://schemas.openxmlformats.org/drawingml/2006/main">
              <a:ext uri="{FF2B5EF4-FFF2-40B4-BE49-F238E27FC236}">
                <a16:creationId xmlns:a16="http://schemas.microsoft.com/office/drawing/2014/main" id="{DB647362-3B1D-40AD-BAA7-84AE39DD3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607177" y="2105025"/>
            <a:ext cx="863346" cy="2933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500" b="1">
                <a:solidFill>
                  <a:srgbClr val="1E4D40"/>
                </a:solidFill>
                <a:latin typeface="Microsoft YaHei"/>
                <a:ea typeface="Microsoft YaHei"/>
                <a:cs typeface="Microsoft YaHei"/>
              </a:rPr>
              <a:t>试用比较</a:t>
            </a:r>
          </a:p>
        </p:txBody>
      </p:sp>
      <p:sp>
        <p:nvSpPr>
          <p:cNvPr id="13" name="Polygon 13">
            <a:extLst xmlns:a="http://schemas.openxmlformats.org/drawingml/2006/main">
              <a:ext uri="{FF2B5EF4-FFF2-40B4-BE49-F238E27FC236}">
                <a16:creationId xmlns:a16="http://schemas.microsoft.com/office/drawing/2014/main" id="{39ED72C4-52BF-43B3-BCA2-70428F733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7848600" y="1714500"/>
            <a:ext cx="3733800" cy="666750"/>
          </a:xfrm>
          <a:custGeom xmlns:a="http://schemas.openxmlformats.org/drawingml/2006/main">
            <a:rect l="l" t="t" r="r" b="b"/>
            <a:pathLst>
              <a:path w="3733800" h="666750">
                <a:moveTo>
                  <a:pt x="0" y="0"/>
                </a:moveTo>
                <a:lnTo>
                  <a:pt x="3448050" y="0"/>
                </a:lnTo>
                <a:lnTo>
                  <a:pt x="3733800" y="333375"/>
                </a:lnTo>
                <a:lnTo>
                  <a:pt x="3448050" y="666750"/>
                </a:lnTo>
                <a:lnTo>
                  <a:pt x="0" y="666750"/>
                </a:lnTo>
                <a:lnTo>
                  <a:pt x="285750" y="333375"/>
                </a:lnTo>
                <a:close/>
              </a:path>
            </a:pathLst>
          </a:custGeom>
          <a:solidFill xmlns:a="http://schemas.openxmlformats.org/drawingml/2006/main">
            <a:srgbClr val="1E4D40"/>
          </a:solidFill>
          <a:ln xmlns:a="http://schemas.openxmlformats.org/drawingml/2006/main">
            <a:noFill/>
          </a:ln>
        </p:spPr>
      </p:sp>
      <p:sp>
        <p:nvSpPr>
          <p:cNvPr id="14" name="TextBox 14">
            <a:extLst xmlns:a="http://schemas.openxmlformats.org/drawingml/2006/main">
              <a:ext uri="{FF2B5EF4-FFF2-40B4-BE49-F238E27FC236}">
                <a16:creationId xmlns:a16="http://schemas.microsoft.com/office/drawing/2014/main" id="{910C1052-9EE2-4BE4-BCC9-2A003D63F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242908" y="1889760"/>
            <a:ext cx="754685" cy="2346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200" spc="150">
                <a:solidFill>
                  <a:srgbClr val="5E8C7B"/>
                </a:solidFill>
                <a:latin typeface="Arial"/>
                <a:ea typeface="Arial"/>
                <a:cs typeface="Arial"/>
              </a:rPr>
              <a:t>STEP 03</a:t>
            </a:r>
          </a:p>
        </p:txBody>
      </p:sp>
      <p:sp>
        <p:nvSpPr>
          <p:cNvPr id="15" name="TextBox 15">
            <a:extLst xmlns:a="http://schemas.openxmlformats.org/drawingml/2006/main">
              <a:ext uri="{FF2B5EF4-FFF2-40B4-BE49-F238E27FC236}">
                <a16:creationId xmlns:a16="http://schemas.microsoft.com/office/drawing/2014/main" id="{64D21F53-2B5D-479B-BC51-7F7408D66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188577" y="2105025"/>
            <a:ext cx="863346" cy="2933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500" b="1">
                <a:solidFill>
                  <a:srgbClr val="FAFAF7"/>
                </a:solidFill>
                <a:latin typeface="Microsoft YaHei"/>
                <a:ea typeface="Microsoft YaHei"/>
                <a:cs typeface="Microsoft YaHei"/>
              </a:rPr>
              <a:t>服务采购</a:t>
            </a:r>
          </a:p>
        </p:txBody>
      </p:sp>
      <p:sp>
        <p:nvSpPr>
          <p:cNvPr id="17" name="Line 17">
            <a:extLst xmlns:a="http://schemas.openxmlformats.org/drawingml/2006/main">
              <a:ext uri="{FF2B5EF4-FFF2-40B4-BE49-F238E27FC236}">
                <a16:creationId xmlns:a16="http://schemas.microsoft.com/office/drawing/2014/main" id="{345F6157-9F10-4055-AD6C-589E5513B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96000" y="2857500"/>
            <a:ext cx="9525" cy="2857500"/>
          </a:xfrm>
          <a:custGeom xmlns:a="http://schemas.openxmlformats.org/drawingml/2006/main">
            <a:rect l="l" t="t" r="r" b="b"/>
            <a:pathLst>
              <a:path w="9525" h="2857500">
                <a:moveTo>
                  <a:pt x="0" y="0"/>
                </a:moveTo>
                <a:lnTo>
                  <a:pt x="0" y="285750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D8DED6"/>
            </a:solidFill>
          </a:ln>
        </p:spPr>
      </p:sp>
      <p:sp>
        <p:nvSpPr>
          <p:cNvPr id="18" name="Line 18">
            <a:extLst xmlns:a="http://schemas.openxmlformats.org/drawingml/2006/main">
              <a:ext uri="{FF2B5EF4-FFF2-40B4-BE49-F238E27FC236}">
                <a16:creationId xmlns:a16="http://schemas.microsoft.com/office/drawing/2014/main" id="{853080BC-AE88-4B06-87C3-F5CCCA524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9600" y="4286250"/>
            <a:ext cx="10972800" cy="9525"/>
          </a:xfrm>
          <a:custGeom xmlns:a="http://schemas.openxmlformats.org/drawingml/2006/main"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D8DED6"/>
            </a:solidFill>
          </a:ln>
        </p:spPr>
      </p:sp>
      <p:sp>
        <p:nvSpPr>
          <p:cNvPr id="20" name="Freeform 20">
            <a:extLst xmlns:a="http://schemas.openxmlformats.org/drawingml/2006/main">
              <a:ext uri="{FF2B5EF4-FFF2-40B4-BE49-F238E27FC236}">
                <a16:creationId xmlns:a16="http://schemas.microsoft.com/office/drawing/2014/main" id="{97EECACD-0B72-412A-9092-10315D740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69131" y="3083719"/>
            <a:ext cx="95250" cy="95250"/>
          </a:xfrm>
          <a:custGeom xmlns:a="http://schemas.openxmlformats.org/drawingml/2006/main">
            <a:rect l="l" t="t" r="r" b="b"/>
            <a:pathLst>
              <a:path w="95250" h="95250">
                <a:moveTo>
                  <a:pt x="0" y="47625"/>
                </a:moveTo>
                <a:cubicBezTo>
                  <a:pt x="0" y="73928"/>
                  <a:pt x="21322" y="95250"/>
                  <a:pt x="47625" y="95250"/>
                </a:cubicBezTo>
                <a:cubicBezTo>
                  <a:pt x="73928" y="95250"/>
                  <a:pt x="95250" y="73928"/>
                  <a:pt x="95250" y="47625"/>
                </a:cubicBezTo>
                <a:cubicBezTo>
                  <a:pt x="95250" y="21322"/>
                  <a:pt x="73928" y="0"/>
                  <a:pt x="47625" y="0"/>
                </a:cubicBezTo>
                <a:cubicBezTo>
                  <a:pt x="21322" y="0"/>
                  <a:pt x="0" y="21322"/>
                  <a:pt x="0" y="47625"/>
                </a:cubicBez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E4D40"/>
            </a:solidFill>
          </a:ln>
        </p:spPr>
      </p:sp>
      <p:sp>
        <p:nvSpPr>
          <p:cNvPr id="21" name="Freeform 21">
            <a:extLst xmlns:a="http://schemas.openxmlformats.org/drawingml/2006/main">
              <a:ext uri="{FF2B5EF4-FFF2-40B4-BE49-F238E27FC236}">
                <a16:creationId xmlns:a16="http://schemas.microsoft.com/office/drawing/2014/main" id="{C80DD0A6-2715-49DF-8CD8-35DE1FF3C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45319" y="3226594"/>
            <a:ext cx="142875" cy="71438"/>
          </a:xfrm>
          <a:custGeom xmlns:a="http://schemas.openxmlformats.org/drawingml/2006/main">
            <a:rect l="l" t="t" r="r" b="b"/>
            <a:pathLst>
              <a:path w="142875" h="71438">
                <a:moveTo>
                  <a:pt x="0" y="71438"/>
                </a:moveTo>
                <a:lnTo>
                  <a:pt x="0" y="47625"/>
                </a:lnTo>
                <a:cubicBezTo>
                  <a:pt x="0" y="21322"/>
                  <a:pt x="21322" y="0"/>
                  <a:pt x="47625" y="0"/>
                </a:cubicBezTo>
                <a:lnTo>
                  <a:pt x="95250" y="0"/>
                </a:lnTo>
                <a:cubicBezTo>
                  <a:pt x="121553" y="0"/>
                  <a:pt x="142875" y="21322"/>
                  <a:pt x="142875" y="47625"/>
                </a:cubicBezTo>
                <a:lnTo>
                  <a:pt x="142875" y="71438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E4D40"/>
            </a:solidFill>
          </a:ln>
        </p:spPr>
      </p:sp>
      <p:sp>
        <p:nvSpPr>
          <p:cNvPr id="22" name="Freeform 22">
            <a:extLst xmlns:a="http://schemas.openxmlformats.org/drawingml/2006/main">
              <a:ext uri="{FF2B5EF4-FFF2-40B4-BE49-F238E27FC236}">
                <a16:creationId xmlns:a16="http://schemas.microsoft.com/office/drawing/2014/main" id="{D5F22FE0-1788-4F3C-8098-E29566F7D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00100" y="3085267"/>
            <a:ext cx="35812" cy="92273"/>
          </a:xfrm>
          <a:custGeom xmlns:a="http://schemas.openxmlformats.org/drawingml/2006/main">
            <a:rect l="l" t="t" r="r" b="b"/>
            <a:pathLst>
              <a:path w="35812" h="92273">
                <a:moveTo>
                  <a:pt x="0" y="0"/>
                </a:moveTo>
                <a:cubicBezTo>
                  <a:pt x="21073" y="5396"/>
                  <a:pt x="35812" y="24384"/>
                  <a:pt x="35812" y="46137"/>
                </a:cubicBezTo>
                <a:cubicBezTo>
                  <a:pt x="35812" y="67890"/>
                  <a:pt x="21073" y="86878"/>
                  <a:pt x="0" y="92273"/>
                </a:cubicBez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E4D40"/>
            </a:solidFill>
          </a:ln>
        </p:spPr>
      </p:sp>
      <p:sp>
        <p:nvSpPr>
          <p:cNvPr id="23" name="Freeform 23">
            <a:extLst xmlns:a="http://schemas.openxmlformats.org/drawingml/2006/main">
              <a:ext uri="{FF2B5EF4-FFF2-40B4-BE49-F238E27FC236}">
                <a16:creationId xmlns:a16="http://schemas.microsoft.com/office/drawing/2014/main" id="{C96F6DCC-51D9-4A5F-87B6-16A7E31C8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23913" y="3228380"/>
            <a:ext cx="35719" cy="69652"/>
          </a:xfrm>
          <a:custGeom xmlns:a="http://schemas.openxmlformats.org/drawingml/2006/main">
            <a:rect l="l" t="t" r="r" b="b"/>
            <a:pathLst>
              <a:path w="35719" h="69652">
                <a:moveTo>
                  <a:pt x="35719" y="69652"/>
                </a:moveTo>
                <a:lnTo>
                  <a:pt x="35719" y="45839"/>
                </a:lnTo>
                <a:cubicBezTo>
                  <a:pt x="35594" y="24224"/>
                  <a:pt x="20929" y="5403"/>
                  <a:pt x="0" y="0"/>
                </a:cubicBez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E4D40"/>
            </a:solidFill>
          </a:ln>
        </p:spPr>
      </p:sp>
      <p:sp>
        <p:nvSpPr>
          <p:cNvPr id="25" name="TextBox 25">
            <a:extLst xmlns:a="http://schemas.openxmlformats.org/drawingml/2006/main">
              <a:ext uri="{FF2B5EF4-FFF2-40B4-BE49-F238E27FC236}">
                <a16:creationId xmlns:a16="http://schemas.microsoft.com/office/drawing/2014/main" id="{07225DDD-6389-4B73-ADE6-7C2B3259E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39368" y="3098482"/>
            <a:ext cx="716451" cy="3227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50" b="1">
                <a:solidFill>
                  <a:srgbClr val="22302B"/>
                </a:solidFill>
                <a:latin typeface="Microsoft YaHei"/>
                <a:ea typeface="Microsoft YaHei"/>
                <a:cs typeface="Microsoft YaHei"/>
              </a:rPr>
              <a:t>使用者</a:t>
            </a:r>
          </a:p>
        </p:txBody>
      </p:sp>
      <p:sp>
        <p:nvSpPr>
          <p:cNvPr id="26" name="TextBox 26">
            <a:extLst xmlns:a="http://schemas.openxmlformats.org/drawingml/2006/main">
              <a:ext uri="{FF2B5EF4-FFF2-40B4-BE49-F238E27FC236}">
                <a16:creationId xmlns:a16="http://schemas.microsoft.com/office/drawing/2014/main" id="{39B04BC9-8F0A-4872-BB1F-898932398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2742" y="3588068"/>
            <a:ext cx="2030997" cy="2640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50">
                <a:solidFill>
                  <a:srgbClr val="5C6B64"/>
                </a:solidFill>
                <a:latin typeface="Microsoft YaHei"/>
                <a:ea typeface="Microsoft YaHei"/>
                <a:cs typeface="Microsoft YaHei"/>
              </a:rPr>
              <a:t>社区工作人员与网格员，</a:t>
            </a:r>
          </a:p>
        </p:txBody>
      </p:sp>
      <p:sp>
        <p:nvSpPr>
          <p:cNvPr id="27" name="TextBox 27">
            <a:extLst xmlns:a="http://schemas.openxmlformats.org/drawingml/2006/main">
              <a:ext uri="{FF2B5EF4-FFF2-40B4-BE49-F238E27FC236}">
                <a16:creationId xmlns:a16="http://schemas.microsoft.com/office/drawing/2014/main" id="{2A0D9665-2994-4CA3-ADC6-4031A040C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2742" y="3854768"/>
            <a:ext cx="2012823" cy="2640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50">
                <a:solidFill>
                  <a:srgbClr val="5C6B64"/>
                </a:solidFill>
                <a:latin typeface="Microsoft YaHei"/>
                <a:ea typeface="Microsoft YaHei"/>
                <a:cs typeface="Microsoft YaHei"/>
              </a:rPr>
              <a:t>每天处理居民反馈的人。</a:t>
            </a:r>
          </a:p>
        </p:txBody>
      </p:sp>
      <p:sp>
        <p:nvSpPr>
          <p:cNvPr id="29" name="TextBox 29">
            <a:extLst xmlns:a="http://schemas.openxmlformats.org/drawingml/2006/main">
              <a:ext uri="{FF2B5EF4-FFF2-40B4-BE49-F238E27FC236}">
                <a16:creationId xmlns:a16="http://schemas.microsoft.com/office/drawing/2014/main" id="{6A389AB4-3401-47A9-83F3-DF3EE606C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697218" y="3098482"/>
            <a:ext cx="1182910" cy="3227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50" b="1">
                <a:solidFill>
                  <a:srgbClr val="22302B"/>
                </a:solidFill>
                <a:latin typeface="Microsoft YaHei"/>
                <a:ea typeface="Microsoft YaHei"/>
                <a:cs typeface="Microsoft YaHei"/>
              </a:rPr>
              <a:t>潜在付费方</a:t>
            </a:r>
          </a:p>
        </p:txBody>
      </p:sp>
      <p:sp>
        <p:nvSpPr>
          <p:cNvPr id="30" name="TextBox 30">
            <a:extLst xmlns:a="http://schemas.openxmlformats.org/drawingml/2006/main">
              <a:ext uri="{FF2B5EF4-FFF2-40B4-BE49-F238E27FC236}">
                <a16:creationId xmlns:a16="http://schemas.microsoft.com/office/drawing/2014/main" id="{A8772D45-42CC-44F2-82F5-D7A190518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698742" y="3588068"/>
            <a:ext cx="1667523" cy="2640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50">
                <a:solidFill>
                  <a:srgbClr val="5C6B64"/>
                </a:solidFill>
                <a:latin typeface="Microsoft YaHei"/>
                <a:ea typeface="Microsoft YaHei"/>
                <a:cs typeface="Microsoft YaHei"/>
              </a:rPr>
              <a:t>社区服务运营方，</a:t>
            </a:r>
          </a:p>
        </p:txBody>
      </p:sp>
      <p:sp>
        <p:nvSpPr>
          <p:cNvPr id="31" name="TextBox 31">
            <a:extLst xmlns:a="http://schemas.openxmlformats.org/drawingml/2006/main">
              <a:ext uri="{FF2B5EF4-FFF2-40B4-BE49-F238E27FC236}">
                <a16:creationId xmlns:a16="http://schemas.microsoft.com/office/drawing/2014/main" id="{DBF92CB4-E074-4C13-8FC3-E36CC6400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698742" y="3854768"/>
            <a:ext cx="2012823" cy="2640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50">
                <a:solidFill>
                  <a:srgbClr val="5C6B64"/>
                </a:solidFill>
                <a:latin typeface="Microsoft YaHei"/>
                <a:ea typeface="Microsoft YaHei"/>
                <a:cs typeface="Microsoft YaHei"/>
              </a:rPr>
              <a:t>预算和采购流程待确认。</a:t>
            </a:r>
          </a:p>
        </p:txBody>
      </p:sp>
      <p:sp>
        <p:nvSpPr>
          <p:cNvPr id="33" name="Freeform 33">
            <a:extLst xmlns:a="http://schemas.openxmlformats.org/drawingml/2006/main">
              <a:ext uri="{FF2B5EF4-FFF2-40B4-BE49-F238E27FC236}">
                <a16:creationId xmlns:a16="http://schemas.microsoft.com/office/drawing/2014/main" id="{499FC080-C960-4440-B5EB-8A7F343F3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716756" y="4702969"/>
            <a:ext cx="142875" cy="71438"/>
          </a:xfrm>
          <a:custGeom xmlns:a="http://schemas.openxmlformats.org/drawingml/2006/main">
            <a:rect l="l" t="t" r="r" b="b"/>
            <a:pathLst>
              <a:path w="142875" h="71438">
                <a:moveTo>
                  <a:pt x="0" y="35719"/>
                </a:moveTo>
                <a:cubicBezTo>
                  <a:pt x="0" y="55447"/>
                  <a:pt x="31980" y="71438"/>
                  <a:pt x="71438" y="71438"/>
                </a:cubicBezTo>
                <a:cubicBezTo>
                  <a:pt x="110895" y="71438"/>
                  <a:pt x="142875" y="55447"/>
                  <a:pt x="142875" y="35719"/>
                </a:cubicBezTo>
                <a:cubicBezTo>
                  <a:pt x="142875" y="15990"/>
                  <a:pt x="110895" y="0"/>
                  <a:pt x="71438" y="0"/>
                </a:cubicBezTo>
                <a:cubicBezTo>
                  <a:pt x="31980" y="0"/>
                  <a:pt x="0" y="15990"/>
                  <a:pt x="0" y="35719"/>
                </a:cubicBez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E4D40"/>
            </a:solidFill>
          </a:ln>
        </p:spPr>
      </p:sp>
      <p:sp>
        <p:nvSpPr>
          <p:cNvPr id="34" name="Freeform 34">
            <a:extLst xmlns:a="http://schemas.openxmlformats.org/drawingml/2006/main">
              <a:ext uri="{FF2B5EF4-FFF2-40B4-BE49-F238E27FC236}">
                <a16:creationId xmlns:a16="http://schemas.microsoft.com/office/drawing/2014/main" id="{98C2E6BB-FFBC-487D-A449-596EB7A2F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716756" y="4738688"/>
            <a:ext cx="142875" cy="83344"/>
          </a:xfrm>
          <a:custGeom xmlns:a="http://schemas.openxmlformats.org/drawingml/2006/main">
            <a:rect l="l" t="t" r="r" b="b"/>
            <a:pathLst>
              <a:path w="142875" h="83344">
                <a:moveTo>
                  <a:pt x="0" y="0"/>
                </a:moveTo>
                <a:lnTo>
                  <a:pt x="0" y="47625"/>
                </a:lnTo>
                <a:cubicBezTo>
                  <a:pt x="0" y="67342"/>
                  <a:pt x="31980" y="83344"/>
                  <a:pt x="71438" y="83344"/>
                </a:cubicBezTo>
                <a:cubicBezTo>
                  <a:pt x="110895" y="83344"/>
                  <a:pt x="142875" y="67342"/>
                  <a:pt x="142875" y="47625"/>
                </a:cubicBezTo>
                <a:lnTo>
                  <a:pt x="1428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E4D40"/>
            </a:solidFill>
          </a:ln>
        </p:spPr>
      </p:sp>
      <p:sp>
        <p:nvSpPr>
          <p:cNvPr id="35" name="Freeform 35">
            <a:extLst xmlns:a="http://schemas.openxmlformats.org/drawingml/2006/main">
              <a:ext uri="{FF2B5EF4-FFF2-40B4-BE49-F238E27FC236}">
                <a16:creationId xmlns:a16="http://schemas.microsoft.com/office/drawing/2014/main" id="{CC185C6E-01E3-47C8-8FF0-FBB67158F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45319" y="4606123"/>
            <a:ext cx="142875" cy="74628"/>
          </a:xfrm>
          <a:custGeom xmlns:a="http://schemas.openxmlformats.org/drawingml/2006/main">
            <a:rect l="l" t="t" r="r" b="b"/>
            <a:pathLst>
              <a:path w="142875" h="74628">
                <a:moveTo>
                  <a:pt x="0" y="37314"/>
                </a:moveTo>
                <a:cubicBezTo>
                  <a:pt x="0" y="50078"/>
                  <a:pt x="13621" y="61865"/>
                  <a:pt x="35719" y="68247"/>
                </a:cubicBezTo>
                <a:cubicBezTo>
                  <a:pt x="57817" y="74628"/>
                  <a:pt x="85058" y="74628"/>
                  <a:pt x="107156" y="68247"/>
                </a:cubicBezTo>
                <a:cubicBezTo>
                  <a:pt x="129254" y="61865"/>
                  <a:pt x="142875" y="50078"/>
                  <a:pt x="142875" y="37314"/>
                </a:cubicBezTo>
                <a:cubicBezTo>
                  <a:pt x="142875" y="24551"/>
                  <a:pt x="129254" y="12764"/>
                  <a:pt x="107156" y="6382"/>
                </a:cubicBezTo>
                <a:cubicBezTo>
                  <a:pt x="85058" y="0"/>
                  <a:pt x="57817" y="0"/>
                  <a:pt x="35719" y="6382"/>
                </a:cubicBezTo>
                <a:cubicBezTo>
                  <a:pt x="13621" y="12764"/>
                  <a:pt x="0" y="24551"/>
                  <a:pt x="0" y="37314"/>
                </a:cubicBez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E4D40"/>
            </a:solidFill>
          </a:ln>
        </p:spPr>
      </p:sp>
      <p:sp>
        <p:nvSpPr>
          <p:cNvPr id="36" name="Freeform 36">
            <a:extLst xmlns:a="http://schemas.openxmlformats.org/drawingml/2006/main">
              <a:ext uri="{FF2B5EF4-FFF2-40B4-BE49-F238E27FC236}">
                <a16:creationId xmlns:a16="http://schemas.microsoft.com/office/drawing/2014/main" id="{02B3E697-25B9-4FF0-86B5-9A9A087EC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45319" y="4643438"/>
            <a:ext cx="23812" cy="142875"/>
          </a:xfrm>
          <a:custGeom xmlns:a="http://schemas.openxmlformats.org/drawingml/2006/main">
            <a:rect l="l" t="t" r="r" b="b"/>
            <a:pathLst>
              <a:path w="23812" h="142875">
                <a:moveTo>
                  <a:pt x="0" y="0"/>
                </a:moveTo>
                <a:lnTo>
                  <a:pt x="0" y="119062"/>
                </a:lnTo>
                <a:cubicBezTo>
                  <a:pt x="0" y="129635"/>
                  <a:pt x="9192" y="136327"/>
                  <a:pt x="23812" y="142875"/>
                </a:cubicBez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E4D40"/>
            </a:solidFill>
          </a:ln>
        </p:spPr>
      </p:sp>
      <p:sp>
        <p:nvSpPr>
          <p:cNvPr id="37" name="Freeform 37">
            <a:extLst xmlns:a="http://schemas.openxmlformats.org/drawingml/2006/main">
              <a:ext uri="{FF2B5EF4-FFF2-40B4-BE49-F238E27FC236}">
                <a16:creationId xmlns:a16="http://schemas.microsoft.com/office/drawing/2014/main" id="{9C749709-DB0E-443F-94AD-6CCE66A4A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45319" y="4702969"/>
            <a:ext cx="23812" cy="23812"/>
          </a:xfrm>
          <a:custGeom xmlns:a="http://schemas.openxmlformats.org/drawingml/2006/main">
            <a:rect l="l" t="t" r="r" b="b"/>
            <a:pathLst>
              <a:path w="23812" h="23812">
                <a:moveTo>
                  <a:pt x="0" y="0"/>
                </a:moveTo>
                <a:cubicBezTo>
                  <a:pt x="0" y="10573"/>
                  <a:pt x="9192" y="17264"/>
                  <a:pt x="23812" y="23812"/>
                </a:cubicBez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E4D40"/>
            </a:solidFill>
          </a:ln>
        </p:spPr>
      </p:sp>
      <p:sp>
        <p:nvSpPr>
          <p:cNvPr id="39" name="TextBox 39">
            <a:extLst xmlns:a="http://schemas.openxmlformats.org/drawingml/2006/main">
              <a:ext uri="{FF2B5EF4-FFF2-40B4-BE49-F238E27FC236}">
                <a16:creationId xmlns:a16="http://schemas.microsoft.com/office/drawing/2014/main" id="{493E1AFA-6229-4112-8C47-9207A83E4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39368" y="4622482"/>
            <a:ext cx="949681" cy="3227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50" b="1">
                <a:solidFill>
                  <a:srgbClr val="22302B"/>
                </a:solidFill>
                <a:latin typeface="Microsoft YaHei"/>
                <a:ea typeface="Microsoft YaHei"/>
                <a:cs typeface="Microsoft YaHei"/>
              </a:rPr>
              <a:t>收费设想</a:t>
            </a:r>
          </a:p>
        </p:txBody>
      </p:sp>
      <p:sp>
        <p:nvSpPr>
          <p:cNvPr id="40" name="TextBox 40">
            <a:extLst xmlns:a="http://schemas.openxmlformats.org/drawingml/2006/main">
              <a:ext uri="{FF2B5EF4-FFF2-40B4-BE49-F238E27FC236}">
                <a16:creationId xmlns:a16="http://schemas.microsoft.com/office/drawing/2014/main" id="{61586ADB-225F-46A1-A8A0-EB225AAF8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2742" y="5112068"/>
            <a:ext cx="1622088" cy="2640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50">
                <a:solidFill>
                  <a:srgbClr val="5C6B64"/>
                </a:solidFill>
                <a:latin typeface="Microsoft YaHei"/>
                <a:ea typeface="Microsoft YaHei"/>
                <a:cs typeface="Microsoft YaHei"/>
              </a:rPr>
              <a:t>部署与配置服务费</a:t>
            </a:r>
            <a:r>
              <a:rPr sz="1350">
                <a:solidFill>
                  <a:srgbClr val="5C6B64"/>
                </a:solidFill>
                <a:latin typeface="Arial"/>
                <a:ea typeface="Arial"/>
                <a:cs typeface="Arial"/>
              </a:rPr>
              <a:t> +</a:t>
            </a:r>
          </a:p>
        </p:txBody>
      </p:sp>
      <p:sp>
        <p:nvSpPr>
          <p:cNvPr id="41" name="TextBox 41">
            <a:extLst xmlns:a="http://schemas.openxmlformats.org/drawingml/2006/main">
              <a:ext uri="{FF2B5EF4-FFF2-40B4-BE49-F238E27FC236}">
                <a16:creationId xmlns:a16="http://schemas.microsoft.com/office/drawing/2014/main" id="{FBDE8A6A-E030-45BA-A972-7B8B2B35F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2742" y="5378768"/>
            <a:ext cx="1467612" cy="2640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50">
                <a:solidFill>
                  <a:srgbClr val="5C6B64"/>
                </a:solidFill>
                <a:latin typeface="Microsoft YaHei"/>
                <a:ea typeface="Microsoft YaHei"/>
                <a:cs typeface="Microsoft YaHei"/>
              </a:rPr>
              <a:t>持续运维服务费。</a:t>
            </a:r>
          </a:p>
        </p:txBody>
      </p:sp>
      <p:sp>
        <p:nvSpPr>
          <p:cNvPr id="43" name="Freeform 43">
            <a:extLst xmlns:a="http://schemas.openxmlformats.org/drawingml/2006/main">
              <a:ext uri="{FF2B5EF4-FFF2-40B4-BE49-F238E27FC236}">
                <a16:creationId xmlns:a16="http://schemas.microsoft.com/office/drawing/2014/main" id="{A9BD0DB6-561E-4791-BC33-672034D5C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736092" y="4602492"/>
            <a:ext cx="224766" cy="224766"/>
          </a:xfrm>
          <a:custGeom xmlns:a="http://schemas.openxmlformats.org/drawingml/2006/main">
            <a:rect l="l" t="t" r="r" b="b"/>
            <a:pathLst>
              <a:path w="224766" h="224766">
                <a:moveTo>
                  <a:pt x="92440" y="20907"/>
                </a:moveTo>
                <a:cubicBezTo>
                  <a:pt x="97512" y="0"/>
                  <a:pt x="127254" y="0"/>
                  <a:pt x="132326" y="20907"/>
                </a:cubicBezTo>
                <a:cubicBezTo>
                  <a:pt x="133870" y="27278"/>
                  <a:pt x="138363" y="32528"/>
                  <a:pt x="144419" y="35037"/>
                </a:cubicBezTo>
                <a:cubicBezTo>
                  <a:pt x="150474" y="37546"/>
                  <a:pt x="157364" y="37012"/>
                  <a:pt x="162961" y="33599"/>
                </a:cubicBezTo>
                <a:cubicBezTo>
                  <a:pt x="181332" y="22408"/>
                  <a:pt x="202371" y="43434"/>
                  <a:pt x="191179" y="61817"/>
                </a:cubicBezTo>
                <a:cubicBezTo>
                  <a:pt x="187771" y="67411"/>
                  <a:pt x="187238" y="74296"/>
                  <a:pt x="189744" y="80348"/>
                </a:cubicBezTo>
                <a:cubicBezTo>
                  <a:pt x="192250" y="86400"/>
                  <a:pt x="197494" y="90892"/>
                  <a:pt x="203859" y="92440"/>
                </a:cubicBezTo>
                <a:cubicBezTo>
                  <a:pt x="224766" y="97512"/>
                  <a:pt x="224766" y="127254"/>
                  <a:pt x="203859" y="132326"/>
                </a:cubicBezTo>
                <a:cubicBezTo>
                  <a:pt x="197488" y="133870"/>
                  <a:pt x="192238" y="138363"/>
                  <a:pt x="189729" y="144419"/>
                </a:cubicBezTo>
                <a:cubicBezTo>
                  <a:pt x="187220" y="150474"/>
                  <a:pt x="187754" y="157364"/>
                  <a:pt x="191167" y="162961"/>
                </a:cubicBezTo>
                <a:cubicBezTo>
                  <a:pt x="202359" y="181332"/>
                  <a:pt x="181332" y="202371"/>
                  <a:pt x="162949" y="191179"/>
                </a:cubicBezTo>
                <a:cubicBezTo>
                  <a:pt x="157355" y="187771"/>
                  <a:pt x="150470" y="187238"/>
                  <a:pt x="144418" y="189744"/>
                </a:cubicBezTo>
                <a:cubicBezTo>
                  <a:pt x="138366" y="192250"/>
                  <a:pt x="133874" y="197494"/>
                  <a:pt x="132326" y="203859"/>
                </a:cubicBezTo>
                <a:cubicBezTo>
                  <a:pt x="127254" y="224766"/>
                  <a:pt x="97512" y="224766"/>
                  <a:pt x="92440" y="203859"/>
                </a:cubicBezTo>
                <a:cubicBezTo>
                  <a:pt x="90897" y="197488"/>
                  <a:pt x="86403" y="192238"/>
                  <a:pt x="80348" y="189729"/>
                </a:cubicBezTo>
                <a:cubicBezTo>
                  <a:pt x="74292" y="187220"/>
                  <a:pt x="67402" y="187754"/>
                  <a:pt x="61805" y="191167"/>
                </a:cubicBezTo>
                <a:cubicBezTo>
                  <a:pt x="43434" y="202359"/>
                  <a:pt x="22396" y="181332"/>
                  <a:pt x="33588" y="162949"/>
                </a:cubicBezTo>
                <a:cubicBezTo>
                  <a:pt x="36995" y="157355"/>
                  <a:pt x="37528" y="150470"/>
                  <a:pt x="35022" y="144418"/>
                </a:cubicBezTo>
                <a:cubicBezTo>
                  <a:pt x="32516" y="138366"/>
                  <a:pt x="27272" y="133874"/>
                  <a:pt x="20907" y="132326"/>
                </a:cubicBezTo>
                <a:cubicBezTo>
                  <a:pt x="0" y="127254"/>
                  <a:pt x="0" y="97512"/>
                  <a:pt x="20907" y="92440"/>
                </a:cubicBezTo>
                <a:cubicBezTo>
                  <a:pt x="27278" y="90897"/>
                  <a:pt x="32528" y="86403"/>
                  <a:pt x="35037" y="80348"/>
                </a:cubicBezTo>
                <a:cubicBezTo>
                  <a:pt x="37546" y="74292"/>
                  <a:pt x="37012" y="67402"/>
                  <a:pt x="33599" y="61805"/>
                </a:cubicBezTo>
                <a:cubicBezTo>
                  <a:pt x="22408" y="43434"/>
                  <a:pt x="43434" y="22396"/>
                  <a:pt x="61817" y="33588"/>
                </a:cubicBezTo>
                <a:cubicBezTo>
                  <a:pt x="73724" y="40827"/>
                  <a:pt x="89154" y="34421"/>
                  <a:pt x="92440" y="20907"/>
                </a:cubicBez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E4D40"/>
            </a:solidFill>
          </a:ln>
        </p:spPr>
      </p:sp>
      <p:sp>
        <p:nvSpPr>
          <p:cNvPr id="44" name="Freeform 44">
            <a:extLst xmlns:a="http://schemas.openxmlformats.org/drawingml/2006/main">
              <a:ext uri="{FF2B5EF4-FFF2-40B4-BE49-F238E27FC236}">
                <a16:creationId xmlns:a16="http://schemas.microsoft.com/office/drawing/2014/main" id="{A927F779-67F9-49FF-BC61-559FA726E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812756" y="4679156"/>
            <a:ext cx="71438" cy="71438"/>
          </a:xfrm>
          <a:custGeom xmlns:a="http://schemas.openxmlformats.org/drawingml/2006/main">
            <a:rect l="l" t="t" r="r" b="b"/>
            <a:pathLst>
              <a:path w="71438" h="71438">
                <a:moveTo>
                  <a:pt x="0" y="35719"/>
                </a:moveTo>
                <a:cubicBezTo>
                  <a:pt x="0" y="55446"/>
                  <a:pt x="15992" y="71438"/>
                  <a:pt x="35719" y="71438"/>
                </a:cubicBezTo>
                <a:cubicBezTo>
                  <a:pt x="55446" y="71438"/>
                  <a:pt x="71438" y="55446"/>
                  <a:pt x="71438" y="35719"/>
                </a:cubicBezTo>
                <a:cubicBezTo>
                  <a:pt x="71438" y="15992"/>
                  <a:pt x="55446" y="0"/>
                  <a:pt x="35719" y="0"/>
                </a:cubicBezTo>
                <a:cubicBezTo>
                  <a:pt x="15992" y="0"/>
                  <a:pt x="0" y="15992"/>
                  <a:pt x="0" y="35719"/>
                </a:cubicBez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E4D40"/>
            </a:solidFill>
          </a:ln>
        </p:spPr>
      </p:sp>
      <p:sp>
        <p:nvSpPr>
          <p:cNvPr id="46" name="TextBox 46">
            <a:extLst xmlns:a="http://schemas.openxmlformats.org/drawingml/2006/main">
              <a:ext uri="{FF2B5EF4-FFF2-40B4-BE49-F238E27FC236}">
                <a16:creationId xmlns:a16="http://schemas.microsoft.com/office/drawing/2014/main" id="{A7A11298-D24A-4315-A388-6C479B3AD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7135368" y="4622482"/>
            <a:ext cx="949681" cy="3227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50" b="1">
                <a:solidFill>
                  <a:srgbClr val="22302B"/>
                </a:solidFill>
                <a:latin typeface="Microsoft YaHei"/>
                <a:ea typeface="Microsoft YaHei"/>
                <a:cs typeface="Microsoft YaHei"/>
              </a:rPr>
              <a:t>主要成本</a:t>
            </a:r>
          </a:p>
        </p:txBody>
      </p:sp>
      <p:sp>
        <p:nvSpPr>
          <p:cNvPr id="47" name="TextBox 47">
            <a:extLst xmlns:a="http://schemas.openxmlformats.org/drawingml/2006/main">
              <a:ext uri="{FF2B5EF4-FFF2-40B4-BE49-F238E27FC236}">
                <a16:creationId xmlns:a16="http://schemas.microsoft.com/office/drawing/2014/main" id="{B48A6416-70F4-4EBB-ADC0-5A38C9A3A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698742" y="5112068"/>
            <a:ext cx="1467612" cy="2640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50">
                <a:solidFill>
                  <a:srgbClr val="5C6B64"/>
                </a:solidFill>
                <a:latin typeface="Microsoft YaHei"/>
                <a:ea typeface="Microsoft YaHei"/>
                <a:cs typeface="Microsoft YaHei"/>
              </a:rPr>
              <a:t>模型调用、部署、</a:t>
            </a:r>
          </a:p>
        </p:txBody>
      </p:sp>
      <p:sp>
        <p:nvSpPr>
          <p:cNvPr id="48" name="TextBox 48">
            <a:extLst xmlns:a="http://schemas.openxmlformats.org/drawingml/2006/main">
              <a:ext uri="{FF2B5EF4-FFF2-40B4-BE49-F238E27FC236}">
                <a16:creationId xmlns:a16="http://schemas.microsoft.com/office/drawing/2014/main" id="{C9C1F16A-B28A-42CF-BA07-6315B9A22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698742" y="5378768"/>
            <a:ext cx="1831086" cy="2640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50">
                <a:solidFill>
                  <a:srgbClr val="5C6B64"/>
                </a:solidFill>
                <a:latin typeface="Microsoft YaHei"/>
                <a:ea typeface="Microsoft YaHei"/>
                <a:cs typeface="Microsoft YaHei"/>
              </a:rPr>
              <a:t>安全合规与用户支持。</a:t>
            </a:r>
          </a:p>
        </p:txBody>
      </p:sp>
      <p:sp>
        <p:nvSpPr>
          <p:cNvPr id="50" name="Line 50">
            <a:extLst xmlns:a="http://schemas.openxmlformats.org/drawingml/2006/main">
              <a:ext uri="{FF2B5EF4-FFF2-40B4-BE49-F238E27FC236}">
                <a16:creationId xmlns:a16="http://schemas.microsoft.com/office/drawing/2014/main" id="{E4C043BB-B162-46B6-943F-E2F493243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9600" y="5981700"/>
            <a:ext cx="10972800" cy="9525"/>
          </a:xfrm>
          <a:custGeom xmlns:a="http://schemas.openxmlformats.org/drawingml/2006/main"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D8DED6"/>
            </a:solidFill>
          </a:ln>
        </p:spPr>
      </p:sp>
      <p:sp>
        <p:nvSpPr>
          <p:cNvPr id="51" name="TextBox 51">
            <a:extLst xmlns:a="http://schemas.openxmlformats.org/drawingml/2006/main">
              <a:ext uri="{FF2B5EF4-FFF2-40B4-BE49-F238E27FC236}">
                <a16:creationId xmlns:a16="http://schemas.microsoft.com/office/drawing/2014/main" id="{108898F4-98A8-4494-90BB-67FAE9796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3504" y="6195060"/>
            <a:ext cx="7459370" cy="2346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>
                <a:solidFill>
                  <a:srgbClr val="8A968F"/>
                </a:solidFill>
                <a:latin typeface="Microsoft YaHei"/>
                <a:ea typeface="Microsoft YaHei"/>
                <a:cs typeface="Microsoft YaHei"/>
              </a:rPr>
              <a:t>收费方式仍是设想。先确认实际使用价值，目前没有可验证的价格、合同或收入数据。</a:t>
            </a:r>
          </a:p>
        </p:txBody>
      </p:sp>
      <p:sp>
        <p:nvSpPr>
          <p:cNvPr id="53" name="TextBox 53">
            <a:extLst xmlns:a="http://schemas.openxmlformats.org/drawingml/2006/main">
              <a:ext uri="{FF2B5EF4-FFF2-40B4-BE49-F238E27FC236}">
                <a16:creationId xmlns:a16="http://schemas.microsoft.com/office/drawing/2014/main" id="{B5847619-28B3-4F45-899D-3E1A41CF6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3504" y="6537960"/>
            <a:ext cx="1522432" cy="2346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>
                <a:solidFill>
                  <a:srgbClr val="8A968F"/>
                </a:solidFill>
                <a:latin typeface="Arial"/>
                <a:ea typeface="Arial"/>
                <a:cs typeface="Arial"/>
              </a:rPr>
              <a:t>OneCase · </a:t>
            </a:r>
            <a:r>
              <a:rPr sz="1200">
                <a:solidFill>
                  <a:srgbClr val="8A968F"/>
                </a:solidFill>
                <a:latin typeface="Microsoft YaHei"/>
                <a:ea typeface="Microsoft YaHei"/>
                <a:cs typeface="Microsoft YaHei"/>
              </a:rPr>
              <a:t>初赛路演</a:t>
            </a:r>
          </a:p>
        </p:txBody>
      </p:sp>
      <p:sp>
        <p:nvSpPr>
          <p:cNvPr id="54" name="TextBox 54">
            <a:extLst xmlns:a="http://schemas.openxmlformats.org/drawingml/2006/main">
              <a:ext uri="{FF2B5EF4-FFF2-40B4-BE49-F238E27FC236}">
                <a16:creationId xmlns:a16="http://schemas.microsoft.com/office/drawing/2014/main" id="{122B36CD-F3BC-4C9B-8A6C-3A0423D61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035132" y="6537960"/>
            <a:ext cx="553364" cy="2346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200">
                <a:solidFill>
                  <a:srgbClr val="8A968F"/>
                </a:solidFill>
                <a:latin typeface="Arial"/>
                <a:ea typeface="Arial"/>
                <a:cs typeface="Arial"/>
              </a:rPr>
              <a:t>10 / 14</a:t>
            </a:r>
          </a:p>
        </p:txBody>
      </p:sp>
    </p:spTree>
    <p:extLst>
      <p:ext uri="{BB962C8B-B14F-4D97-AF65-F5344CB8AC3E}">
        <p14:creationId xmlns:p14="http://schemas.microsoft.com/office/powerpoint/2010/main" val="1182735777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2">
            <a:extLst xmlns:a="http://schemas.openxmlformats.org/drawingml/2006/main">
              <a:ext uri="{FF2B5EF4-FFF2-40B4-BE49-F238E27FC236}">
                <a16:creationId xmlns:a16="http://schemas.microsoft.com/office/drawing/2014/main" id="{A082B17D-76D4-4554-AB94-715AC40CD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7"/>
          </a:solidFill>
          <a:ln xmlns:a="http://schemas.openxmlformats.org/drawingml/2006/main">
            <a:noFill/>
          </a:ln>
        </p:spPr>
      </p:sp>
      <p:sp>
        <p:nvSpPr>
          <p:cNvPr id="3" name="TextBox 3">
            <a:extLst xmlns:a="http://schemas.openxmlformats.org/drawingml/2006/main">
              <a:ext uri="{FF2B5EF4-FFF2-40B4-BE49-F238E27FC236}">
                <a16:creationId xmlns:a16="http://schemas.microsoft.com/office/drawing/2014/main" id="{9FF27137-FB0F-495C-9F9A-3BCAA2DC0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3504" y="594360"/>
            <a:ext cx="1758079" cy="2346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 spc="300">
                <a:solidFill>
                  <a:srgbClr val="D97B29"/>
                </a:solidFill>
                <a:latin typeface="Microsoft YaHei"/>
                <a:ea typeface="Microsoft YaHei"/>
                <a:cs typeface="Microsoft YaHei"/>
              </a:rPr>
              <a:t>验证</a:t>
            </a:r>
            <a:r>
              <a:rPr sz="1200" b="1" spc="300">
                <a:solidFill>
                  <a:srgbClr val="D97B29"/>
                </a:solidFill>
                <a:latin typeface="Arial"/>
                <a:ea typeface="Arial"/>
                <a:cs typeface="Arial"/>
              </a:rPr>
              <a:t> · </a:t>
            </a:r>
            <a:r>
              <a:rPr sz="1200" b="1" spc="300">
                <a:solidFill>
                  <a:srgbClr val="D97B29"/>
                </a:solidFill>
                <a:latin typeface="Microsoft YaHei"/>
                <a:ea typeface="Microsoft YaHei"/>
                <a:cs typeface="Microsoft YaHei"/>
              </a:rPr>
              <a:t>下一步实验</a:t>
            </a:r>
          </a:p>
        </p:txBody>
      </p:sp>
      <p:sp>
        <p:nvSpPr>
          <p:cNvPr id="4" name="TextBox 4">
            <a:extLst xmlns:a="http://schemas.openxmlformats.org/drawingml/2006/main">
              <a:ext uri="{FF2B5EF4-FFF2-40B4-BE49-F238E27FC236}">
                <a16:creationId xmlns:a16="http://schemas.microsoft.com/office/drawing/2014/main" id="{53B294FB-C7A7-4FC9-8136-B746A6F93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93598" y="783908"/>
            <a:ext cx="5207051" cy="6160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150" b="1">
                <a:solidFill>
                  <a:srgbClr val="1E4D40"/>
                </a:solidFill>
                <a:latin typeface="SimSun"/>
                <a:ea typeface="SimSun"/>
                <a:cs typeface="SimSun"/>
              </a:rPr>
              <a:t>能省多少时间，会不会出错</a:t>
            </a:r>
          </a:p>
        </p:txBody>
      </p:sp>
      <p:sp>
        <p:nvSpPr>
          <p:cNvPr id="5" name="Line 5">
            <a:extLst xmlns:a="http://schemas.openxmlformats.org/drawingml/2006/main">
              <a:ext uri="{FF2B5EF4-FFF2-40B4-BE49-F238E27FC236}">
                <a16:creationId xmlns:a16="http://schemas.microsoft.com/office/drawing/2014/main" id="{2D3BB492-6935-4550-948F-C2500C85F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9600" y="1352550"/>
            <a:ext cx="10972800" cy="9525"/>
          </a:xfrm>
          <a:custGeom xmlns:a="http://schemas.openxmlformats.org/drawingml/2006/main"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D8DED6"/>
            </a:solidFill>
          </a:ln>
        </p:spPr>
      </p:sp>
      <p:sp>
        <p:nvSpPr>
          <p:cNvPr id="7" name="Rectangle 7">
            <a:extLst xmlns:a="http://schemas.openxmlformats.org/drawingml/2006/main">
              <a:ext uri="{FF2B5EF4-FFF2-40B4-BE49-F238E27FC236}">
                <a16:creationId xmlns:a16="http://schemas.microsoft.com/office/drawing/2014/main" id="{D4FCF0D4-2920-4297-A9A2-CBFF34245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9600" y="1638300"/>
            <a:ext cx="109728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2ED"/>
          </a:solidFill>
          <a:ln xmlns:a="http://schemas.openxmlformats.org/drawingml/2006/main">
            <a:noFill/>
          </a:ln>
        </p:spPr>
      </p:sp>
      <p:sp>
        <p:nvSpPr>
          <p:cNvPr id="8" name="TextBox 8">
            <a:extLst xmlns:a="http://schemas.openxmlformats.org/drawingml/2006/main">
              <a:ext uri="{FF2B5EF4-FFF2-40B4-BE49-F238E27FC236}">
                <a16:creationId xmlns:a16="http://schemas.microsoft.com/office/drawing/2014/main" id="{37CB4221-9E3C-48AE-A16E-613400FDA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08304" y="1889760"/>
            <a:ext cx="751256" cy="2346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 spc="150">
                <a:solidFill>
                  <a:srgbClr val="1E4D40"/>
                </a:solidFill>
                <a:latin typeface="Microsoft YaHei"/>
                <a:ea typeface="Microsoft YaHei"/>
                <a:cs typeface="Microsoft YaHei"/>
              </a:rPr>
              <a:t>对照实验</a:t>
            </a:r>
          </a:p>
        </p:txBody>
      </p:sp>
      <p:sp>
        <p:nvSpPr>
          <p:cNvPr id="9" name="TextBox 9">
            <a:extLst xmlns:a="http://schemas.openxmlformats.org/drawingml/2006/main">
              <a:ext uri="{FF2B5EF4-FFF2-40B4-BE49-F238E27FC236}">
                <a16:creationId xmlns:a16="http://schemas.microsoft.com/office/drawing/2014/main" id="{5CC31BDB-15EA-431E-9042-2CE5CD631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06780" y="2162175"/>
            <a:ext cx="6997891" cy="2933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>
                <a:solidFill>
                  <a:srgbClr val="22302B"/>
                </a:solidFill>
                <a:latin typeface="Microsoft YaHei"/>
                <a:ea typeface="Microsoft YaHei"/>
                <a:cs typeface="Microsoft YaHei"/>
              </a:rPr>
              <a:t>用同一批经授权、脱敏的反馈，比较人工整理和</a:t>
            </a:r>
            <a:r>
              <a:rPr sz="1500">
                <a:solidFill>
                  <a:srgbClr val="22302B"/>
                </a:solidFill>
                <a:latin typeface="Arial"/>
                <a:ea typeface="Arial"/>
                <a:cs typeface="Arial"/>
              </a:rPr>
              <a:t> OneCase </a:t>
            </a:r>
            <a:r>
              <a:rPr sz="1500">
                <a:solidFill>
                  <a:srgbClr val="22302B"/>
                </a:solidFill>
                <a:latin typeface="Microsoft YaHei"/>
                <a:ea typeface="Microsoft YaHei"/>
                <a:cs typeface="Microsoft YaHei"/>
              </a:rPr>
              <a:t>辅助整理</a:t>
            </a:r>
          </a:p>
        </p:txBody>
      </p:sp>
      <p:sp>
        <p:nvSpPr>
          <p:cNvPr id="11" name="Line 11">
            <a:extLst xmlns:a="http://schemas.openxmlformats.org/drawingml/2006/main">
              <a:ext uri="{FF2B5EF4-FFF2-40B4-BE49-F238E27FC236}">
                <a16:creationId xmlns:a16="http://schemas.microsoft.com/office/drawing/2014/main" id="{6E420B85-D1D9-4555-99BA-C09A3639C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9600" y="2952750"/>
            <a:ext cx="3352800" cy="9525"/>
          </a:xfrm>
          <a:custGeom xmlns:a="http://schemas.openxmlformats.org/drawingml/2006/main">
            <a:rect l="l" t="t" r="r" b="b"/>
            <a:pathLst>
              <a:path w="3352800" h="9525">
                <a:moveTo>
                  <a:pt x="0" y="0"/>
                </a:moveTo>
                <a:lnTo>
                  <a:pt x="33528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E4D40"/>
            </a:solidFill>
          </a:ln>
        </p:spPr>
      </p:sp>
      <p:sp>
        <p:nvSpPr>
          <p:cNvPr id="12" name="Freeform 12">
            <a:extLst xmlns:a="http://schemas.openxmlformats.org/drawingml/2006/main">
              <a:ext uri="{FF2B5EF4-FFF2-40B4-BE49-F238E27FC236}">
                <a16:creationId xmlns:a16="http://schemas.microsoft.com/office/drawing/2014/main" id="{9A74A04B-CE27-4B83-9ADF-6DF87EB6E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749300" y="3340100"/>
            <a:ext cx="25400" cy="25400"/>
          </a:xfrm>
          <a:custGeom xmlns:a="http://schemas.openxmlformats.org/drawingml/2006/main">
            <a:rect l="l" t="t" r="r" b="b"/>
            <a:pathLst>
              <a:path w="25400" h="25400">
                <a:moveTo>
                  <a:pt x="0" y="12700"/>
                </a:moveTo>
                <a:cubicBezTo>
                  <a:pt x="0" y="19714"/>
                  <a:pt x="5686" y="25400"/>
                  <a:pt x="12700" y="25400"/>
                </a:cubicBezTo>
                <a:cubicBezTo>
                  <a:pt x="19714" y="25400"/>
                  <a:pt x="25400" y="19714"/>
                  <a:pt x="25400" y="12700"/>
                </a:cubicBezTo>
                <a:cubicBezTo>
                  <a:pt x="25400" y="5686"/>
                  <a:pt x="19714" y="0"/>
                  <a:pt x="12700" y="0"/>
                </a:cubicBezTo>
                <a:cubicBezTo>
                  <a:pt x="5686" y="0"/>
                  <a:pt x="0" y="5686"/>
                  <a:pt x="0" y="12700"/>
                </a:cubicBez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E4D40"/>
            </a:solidFill>
          </a:ln>
        </p:spPr>
      </p:sp>
      <p:sp>
        <p:nvSpPr>
          <p:cNvPr id="13" name="Freeform 13">
            <a:extLst xmlns:a="http://schemas.openxmlformats.org/drawingml/2006/main">
              <a:ext uri="{FF2B5EF4-FFF2-40B4-BE49-F238E27FC236}">
                <a16:creationId xmlns:a16="http://schemas.microsoft.com/office/drawing/2014/main" id="{AB3146AA-D9F9-4B69-A77D-73423AF0F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98500" y="3289300"/>
            <a:ext cx="127000" cy="127000"/>
          </a:xfrm>
          <a:custGeom xmlns:a="http://schemas.openxmlformats.org/drawingml/2006/main">
            <a:rect l="l" t="t" r="r" b="b"/>
            <a:pathLst>
              <a:path w="127000" h="127000">
                <a:moveTo>
                  <a:pt x="0" y="63500"/>
                </a:moveTo>
                <a:cubicBezTo>
                  <a:pt x="0" y="98570"/>
                  <a:pt x="28430" y="127000"/>
                  <a:pt x="63500" y="127000"/>
                </a:cubicBezTo>
                <a:cubicBezTo>
                  <a:pt x="98570" y="127000"/>
                  <a:pt x="127000" y="98570"/>
                  <a:pt x="127000" y="63500"/>
                </a:cubicBezTo>
                <a:cubicBezTo>
                  <a:pt x="127000" y="28430"/>
                  <a:pt x="98570" y="0"/>
                  <a:pt x="63500" y="0"/>
                </a:cubicBezTo>
                <a:cubicBezTo>
                  <a:pt x="28430" y="0"/>
                  <a:pt x="0" y="28430"/>
                  <a:pt x="0" y="63500"/>
                </a:cubicBez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E4D40"/>
            </a:solidFill>
          </a:ln>
        </p:spPr>
      </p:sp>
      <p:sp>
        <p:nvSpPr>
          <p:cNvPr id="14" name="Freeform 14">
            <a:extLst xmlns:a="http://schemas.openxmlformats.org/drawingml/2006/main">
              <a:ext uri="{FF2B5EF4-FFF2-40B4-BE49-F238E27FC236}">
                <a16:creationId xmlns:a16="http://schemas.microsoft.com/office/drawing/2014/main" id="{6D036057-79D1-4BCF-932F-76AF16968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47700" y="3238500"/>
            <a:ext cx="228599" cy="228599"/>
          </a:xfrm>
          <a:custGeom xmlns:a="http://schemas.openxmlformats.org/drawingml/2006/main">
            <a:rect l="l" t="t" r="r" b="b"/>
            <a:pathLst>
              <a:path w="228599" h="228599">
                <a:moveTo>
                  <a:pt x="0" y="114300"/>
                </a:moveTo>
                <a:cubicBezTo>
                  <a:pt x="0" y="177426"/>
                  <a:pt x="51174" y="228599"/>
                  <a:pt x="114300" y="228599"/>
                </a:cubicBezTo>
                <a:cubicBezTo>
                  <a:pt x="177426" y="228599"/>
                  <a:pt x="228599" y="177426"/>
                  <a:pt x="228599" y="114300"/>
                </a:cubicBezTo>
                <a:cubicBezTo>
                  <a:pt x="228599" y="51174"/>
                  <a:pt x="177426" y="0"/>
                  <a:pt x="114300" y="0"/>
                </a:cubicBezTo>
                <a:cubicBezTo>
                  <a:pt x="51174" y="0"/>
                  <a:pt x="0" y="51174"/>
                  <a:pt x="0" y="114300"/>
                </a:cubicBez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E4D40"/>
            </a:solidFill>
          </a:ln>
        </p:spPr>
      </p:sp>
      <p:sp>
        <p:nvSpPr>
          <p:cNvPr id="16" name="TextBox 16">
            <a:extLst xmlns:a="http://schemas.openxmlformats.org/drawingml/2006/main">
              <a:ext uri="{FF2B5EF4-FFF2-40B4-BE49-F238E27FC236}">
                <a16:creationId xmlns:a16="http://schemas.microsoft.com/office/drawing/2014/main" id="{B826F3C3-84CA-4594-8822-7D30C9531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0456" y="3844290"/>
            <a:ext cx="1837475" cy="3520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22302B"/>
                </a:solidFill>
                <a:latin typeface="Microsoft YaHei"/>
                <a:ea typeface="Microsoft YaHei"/>
                <a:cs typeface="Microsoft YaHei"/>
              </a:rPr>
              <a:t>主要指标</a:t>
            </a:r>
            <a:r>
              <a:rPr sz="1800" b="1">
                <a:solidFill>
                  <a:srgbClr val="22302B"/>
                </a:solidFill>
                <a:latin typeface="Arial"/>
                <a:ea typeface="Arial"/>
                <a:cs typeface="Arial"/>
              </a:rPr>
              <a:t> · </a:t>
            </a:r>
            <a:r>
              <a:rPr sz="1800" b="1">
                <a:solidFill>
                  <a:srgbClr val="22302B"/>
                </a:solidFill>
                <a:latin typeface="Microsoft YaHei"/>
                <a:ea typeface="Microsoft YaHei"/>
                <a:cs typeface="Microsoft YaHei"/>
              </a:rPr>
              <a:t>速度</a:t>
            </a:r>
          </a:p>
        </p:txBody>
      </p:sp>
      <p:sp>
        <p:nvSpPr>
          <p:cNvPr id="17" name="TextBox 17">
            <a:extLst xmlns:a="http://schemas.openxmlformats.org/drawingml/2006/main">
              <a:ext uri="{FF2B5EF4-FFF2-40B4-BE49-F238E27FC236}">
                <a16:creationId xmlns:a16="http://schemas.microsoft.com/office/drawing/2014/main" id="{D9597656-3E66-48C7-9655-5B9F0FAA6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2742" y="4388168"/>
            <a:ext cx="2012823" cy="2640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50">
                <a:solidFill>
                  <a:srgbClr val="5C6B64"/>
                </a:solidFill>
                <a:latin typeface="Microsoft YaHei"/>
                <a:ea typeface="Microsoft YaHei"/>
                <a:cs typeface="Microsoft YaHei"/>
              </a:rPr>
              <a:t>从原始反馈到确认事项的</a:t>
            </a:r>
          </a:p>
        </p:txBody>
      </p:sp>
      <p:sp>
        <p:nvSpPr>
          <p:cNvPr id="18" name="TextBox 18">
            <a:extLst xmlns:a="http://schemas.openxmlformats.org/drawingml/2006/main">
              <a:ext uri="{FF2B5EF4-FFF2-40B4-BE49-F238E27FC236}">
                <a16:creationId xmlns:a16="http://schemas.microsoft.com/office/drawing/2014/main" id="{2958CABB-63D1-4C62-BA4E-CCCE1A2DD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2742" y="4673918"/>
            <a:ext cx="922401" cy="2640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50">
                <a:solidFill>
                  <a:srgbClr val="5C6B64"/>
                </a:solidFill>
                <a:latin typeface="Microsoft YaHei"/>
                <a:ea typeface="Microsoft YaHei"/>
                <a:cs typeface="Microsoft YaHei"/>
              </a:rPr>
              <a:t>中位耗时。</a:t>
            </a:r>
          </a:p>
        </p:txBody>
      </p:sp>
      <p:sp>
        <p:nvSpPr>
          <p:cNvPr id="19" name="TextBox 19">
            <a:extLst xmlns:a="http://schemas.openxmlformats.org/drawingml/2006/main">
              <a:ext uri="{FF2B5EF4-FFF2-40B4-BE49-F238E27FC236}">
                <a16:creationId xmlns:a16="http://schemas.microsoft.com/office/drawing/2014/main" id="{F7A1748C-519A-4F85-9D5F-767B53A1D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3504" y="5204460"/>
            <a:ext cx="1143000" cy="2346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>
                <a:solidFill>
                  <a:srgbClr val="8A968F"/>
                </a:solidFill>
                <a:latin typeface="Microsoft YaHei"/>
                <a:ea typeface="Microsoft YaHei"/>
                <a:cs typeface="Microsoft YaHei"/>
              </a:rPr>
              <a:t>是否真的省时间</a:t>
            </a:r>
          </a:p>
        </p:txBody>
      </p:sp>
      <p:sp>
        <p:nvSpPr>
          <p:cNvPr id="21" name="Line 21">
            <a:extLst xmlns:a="http://schemas.openxmlformats.org/drawingml/2006/main">
              <a:ext uri="{FF2B5EF4-FFF2-40B4-BE49-F238E27FC236}">
                <a16:creationId xmlns:a16="http://schemas.microsoft.com/office/drawing/2014/main" id="{B1BC3AEC-9310-4202-B239-F8B51A772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267200" y="2952750"/>
            <a:ext cx="3352800" cy="9525"/>
          </a:xfrm>
          <a:custGeom xmlns:a="http://schemas.openxmlformats.org/drawingml/2006/main">
            <a:rect l="l" t="t" r="r" b="b"/>
            <a:pathLst>
              <a:path w="3352800" h="9525">
                <a:moveTo>
                  <a:pt x="0" y="0"/>
                </a:moveTo>
                <a:lnTo>
                  <a:pt x="33528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E4D40"/>
            </a:solidFill>
          </a:ln>
        </p:spPr>
      </p:sp>
      <p:sp>
        <p:nvSpPr>
          <p:cNvPr id="22" name="Freeform 22">
            <a:extLst xmlns:a="http://schemas.openxmlformats.org/drawingml/2006/main">
              <a:ext uri="{FF2B5EF4-FFF2-40B4-BE49-F238E27FC236}">
                <a16:creationId xmlns:a16="http://schemas.microsoft.com/office/drawing/2014/main" id="{03106C7E-0CD0-497A-9B73-A0D2B9691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305300" y="3352800"/>
            <a:ext cx="76200" cy="101600"/>
          </a:xfrm>
          <a:custGeom xmlns:a="http://schemas.openxmlformats.org/drawingml/2006/main">
            <a:rect l="l" t="t" r="r" b="b"/>
            <a:pathLst>
              <a:path w="76200" h="101600">
                <a:moveTo>
                  <a:pt x="0" y="12700"/>
                </a:moveTo>
                <a:cubicBezTo>
                  <a:pt x="0" y="5686"/>
                  <a:pt x="5686" y="0"/>
                  <a:pt x="12700" y="0"/>
                </a:cubicBezTo>
                <a:lnTo>
                  <a:pt x="63500" y="0"/>
                </a:lnTo>
                <a:cubicBezTo>
                  <a:pt x="70514" y="0"/>
                  <a:pt x="76200" y="5686"/>
                  <a:pt x="76200" y="12700"/>
                </a:cubicBezTo>
                <a:lnTo>
                  <a:pt x="76200" y="88900"/>
                </a:lnTo>
                <a:cubicBezTo>
                  <a:pt x="76200" y="95914"/>
                  <a:pt x="70514" y="101600"/>
                  <a:pt x="63500" y="101600"/>
                </a:cubicBezTo>
                <a:lnTo>
                  <a:pt x="12700" y="101600"/>
                </a:lnTo>
                <a:cubicBezTo>
                  <a:pt x="5686" y="101600"/>
                  <a:pt x="0" y="95914"/>
                  <a:pt x="0" y="88900"/>
                </a:cubicBezTo>
                <a:lnTo>
                  <a:pt x="0" y="127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E4D40"/>
            </a:solidFill>
          </a:ln>
        </p:spPr>
      </p:sp>
      <p:sp>
        <p:nvSpPr>
          <p:cNvPr id="23" name="Freeform 23">
            <a:extLst xmlns:a="http://schemas.openxmlformats.org/drawingml/2006/main">
              <a:ext uri="{FF2B5EF4-FFF2-40B4-BE49-F238E27FC236}">
                <a16:creationId xmlns:a16="http://schemas.microsoft.com/office/drawing/2014/main" id="{B30B3D21-C5FA-4889-9F3B-49747231E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457700" y="3302000"/>
            <a:ext cx="76200" cy="152400"/>
          </a:xfrm>
          <a:custGeom xmlns:a="http://schemas.openxmlformats.org/drawingml/2006/main">
            <a:rect l="l" t="t" r="r" b="b"/>
            <a:pathLst>
              <a:path w="76200" h="152400">
                <a:moveTo>
                  <a:pt x="0" y="12700"/>
                </a:moveTo>
                <a:cubicBezTo>
                  <a:pt x="0" y="5686"/>
                  <a:pt x="5686" y="0"/>
                  <a:pt x="12700" y="0"/>
                </a:cubicBezTo>
                <a:lnTo>
                  <a:pt x="63500" y="0"/>
                </a:lnTo>
                <a:cubicBezTo>
                  <a:pt x="70514" y="0"/>
                  <a:pt x="76200" y="5686"/>
                  <a:pt x="76200" y="12700"/>
                </a:cubicBezTo>
                <a:lnTo>
                  <a:pt x="76200" y="139700"/>
                </a:lnTo>
                <a:cubicBezTo>
                  <a:pt x="76200" y="146714"/>
                  <a:pt x="70514" y="152400"/>
                  <a:pt x="63500" y="152400"/>
                </a:cubicBezTo>
                <a:lnTo>
                  <a:pt x="12700" y="152400"/>
                </a:lnTo>
                <a:cubicBezTo>
                  <a:pt x="5686" y="152400"/>
                  <a:pt x="0" y="146714"/>
                  <a:pt x="0" y="139700"/>
                </a:cubicBezTo>
                <a:lnTo>
                  <a:pt x="0" y="127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E4D40"/>
            </a:solidFill>
          </a:ln>
        </p:spPr>
      </p:sp>
      <p:sp>
        <p:nvSpPr>
          <p:cNvPr id="24" name="Freeform 24">
            <a:extLst xmlns:a="http://schemas.openxmlformats.org/drawingml/2006/main">
              <a:ext uri="{FF2B5EF4-FFF2-40B4-BE49-F238E27FC236}">
                <a16:creationId xmlns:a16="http://schemas.microsoft.com/office/drawing/2014/main" id="{B2FDC928-D21D-4B3A-BDC7-DCFCE10D9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381500" y="3251200"/>
            <a:ext cx="76200" cy="203199"/>
          </a:xfrm>
          <a:custGeom xmlns:a="http://schemas.openxmlformats.org/drawingml/2006/main">
            <a:rect l="l" t="t" r="r" b="b"/>
            <a:pathLst>
              <a:path w="76200" h="203199">
                <a:moveTo>
                  <a:pt x="0" y="12700"/>
                </a:moveTo>
                <a:cubicBezTo>
                  <a:pt x="0" y="5686"/>
                  <a:pt x="5686" y="0"/>
                  <a:pt x="12700" y="0"/>
                </a:cubicBezTo>
                <a:lnTo>
                  <a:pt x="63500" y="0"/>
                </a:lnTo>
                <a:cubicBezTo>
                  <a:pt x="70514" y="0"/>
                  <a:pt x="76200" y="5686"/>
                  <a:pt x="76200" y="12700"/>
                </a:cubicBezTo>
                <a:lnTo>
                  <a:pt x="76200" y="190500"/>
                </a:lnTo>
                <a:cubicBezTo>
                  <a:pt x="76200" y="197514"/>
                  <a:pt x="70514" y="203199"/>
                  <a:pt x="63500" y="203199"/>
                </a:cubicBezTo>
                <a:lnTo>
                  <a:pt x="12700" y="203199"/>
                </a:lnTo>
                <a:cubicBezTo>
                  <a:pt x="5686" y="203199"/>
                  <a:pt x="0" y="197514"/>
                  <a:pt x="0" y="190500"/>
                </a:cubicBezTo>
                <a:lnTo>
                  <a:pt x="0" y="127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E4D40"/>
            </a:solidFill>
          </a:ln>
        </p:spPr>
      </p:sp>
      <p:sp>
        <p:nvSpPr>
          <p:cNvPr id="25" name="Freeform 25">
            <a:extLst xmlns:a="http://schemas.openxmlformats.org/drawingml/2006/main">
              <a:ext uri="{FF2B5EF4-FFF2-40B4-BE49-F238E27FC236}">
                <a16:creationId xmlns:a16="http://schemas.microsoft.com/office/drawing/2014/main" id="{E254D31E-F559-4927-A1B0-178C21D55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318000" y="3454399"/>
            <a:ext cx="177800" cy="9525"/>
          </a:xfrm>
          <a:custGeom xmlns:a="http://schemas.openxmlformats.org/drawingml/2006/main">
            <a:rect l="l" t="t" r="r" b="b"/>
            <a:pathLst>
              <a:path w="177800" h="9525">
                <a:moveTo>
                  <a:pt x="0" y="0"/>
                </a:moveTo>
                <a:lnTo>
                  <a:pt x="1778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E4D40"/>
            </a:solidFill>
          </a:ln>
        </p:spPr>
      </p:sp>
      <p:sp>
        <p:nvSpPr>
          <p:cNvPr id="27" name="TextBox 27">
            <a:extLst xmlns:a="http://schemas.openxmlformats.org/drawingml/2006/main">
              <a:ext uri="{FF2B5EF4-FFF2-40B4-BE49-F238E27FC236}">
                <a16:creationId xmlns:a16="http://schemas.microsoft.com/office/drawing/2014/main" id="{2BA2A816-234B-410E-A278-56EF56797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258056" y="3844290"/>
            <a:ext cx="1837475" cy="3520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22302B"/>
                </a:solidFill>
                <a:latin typeface="Microsoft YaHei"/>
                <a:ea typeface="Microsoft YaHei"/>
                <a:cs typeface="Microsoft YaHei"/>
              </a:rPr>
              <a:t>质量指标</a:t>
            </a:r>
            <a:r>
              <a:rPr sz="1800" b="1">
                <a:solidFill>
                  <a:srgbClr val="22302B"/>
                </a:solidFill>
                <a:latin typeface="Arial"/>
                <a:ea typeface="Arial"/>
                <a:cs typeface="Arial"/>
              </a:rPr>
              <a:t> · </a:t>
            </a:r>
            <a:r>
              <a:rPr sz="1800" b="1">
                <a:solidFill>
                  <a:srgbClr val="22302B"/>
                </a:solidFill>
                <a:latin typeface="Microsoft YaHei"/>
                <a:ea typeface="Microsoft YaHei"/>
                <a:cs typeface="Microsoft YaHei"/>
              </a:rPr>
              <a:t>准确</a:t>
            </a:r>
          </a:p>
        </p:txBody>
      </p:sp>
      <p:sp>
        <p:nvSpPr>
          <p:cNvPr id="28" name="TextBox 28">
            <a:extLst xmlns:a="http://schemas.openxmlformats.org/drawingml/2006/main">
              <a:ext uri="{FF2B5EF4-FFF2-40B4-BE49-F238E27FC236}">
                <a16:creationId xmlns:a16="http://schemas.microsoft.com/office/drawing/2014/main" id="{B7AC119B-5143-4BB0-A742-9BF994AD6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260342" y="4388168"/>
            <a:ext cx="1831086" cy="2640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50">
                <a:solidFill>
                  <a:srgbClr val="5C6B64"/>
                </a:solidFill>
                <a:latin typeface="Microsoft YaHei"/>
                <a:ea typeface="Microsoft YaHei"/>
                <a:cs typeface="Microsoft YaHei"/>
              </a:rPr>
              <a:t>漏项、关键字段错误、</a:t>
            </a:r>
          </a:p>
        </p:txBody>
      </p:sp>
      <p:sp>
        <p:nvSpPr>
          <p:cNvPr id="29" name="TextBox 29">
            <a:extLst xmlns:a="http://schemas.openxmlformats.org/drawingml/2006/main">
              <a:ext uri="{FF2B5EF4-FFF2-40B4-BE49-F238E27FC236}">
                <a16:creationId xmlns:a16="http://schemas.microsoft.com/office/drawing/2014/main" id="{F8D107AA-A85B-49BB-BCE1-B0EFB7D89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260342" y="4673918"/>
            <a:ext cx="2012823" cy="2640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50">
                <a:solidFill>
                  <a:srgbClr val="5C6B64"/>
                </a:solidFill>
                <a:latin typeface="Microsoft YaHei"/>
                <a:ea typeface="Microsoft YaHei"/>
                <a:cs typeface="Microsoft YaHei"/>
              </a:rPr>
              <a:t>误关联、人工修改次数。</a:t>
            </a:r>
          </a:p>
        </p:txBody>
      </p:sp>
      <p:sp>
        <p:nvSpPr>
          <p:cNvPr id="30" name="TextBox 30">
            <a:extLst xmlns:a="http://schemas.openxmlformats.org/drawingml/2006/main">
              <a:ext uri="{FF2B5EF4-FFF2-40B4-BE49-F238E27FC236}">
                <a16:creationId xmlns:a16="http://schemas.microsoft.com/office/drawing/2014/main" id="{1A3E52F9-890D-4DB8-B2A9-1668A07E8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261104" y="5204460"/>
            <a:ext cx="1304544" cy="2346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>
                <a:solidFill>
                  <a:srgbClr val="8A968F"/>
                </a:solidFill>
                <a:latin typeface="Microsoft YaHei"/>
                <a:ea typeface="Microsoft YaHei"/>
                <a:cs typeface="Microsoft YaHei"/>
              </a:rPr>
              <a:t>是否引入新的错误</a:t>
            </a:r>
          </a:p>
        </p:txBody>
      </p:sp>
      <p:sp>
        <p:nvSpPr>
          <p:cNvPr id="32" name="Line 32">
            <a:extLst xmlns:a="http://schemas.openxmlformats.org/drawingml/2006/main">
              <a:ext uri="{FF2B5EF4-FFF2-40B4-BE49-F238E27FC236}">
                <a16:creationId xmlns:a16="http://schemas.microsoft.com/office/drawing/2014/main" id="{D5FAC713-2B61-4D30-B60E-D5301D75F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7924800" y="2952750"/>
            <a:ext cx="3352800" cy="9525"/>
          </a:xfrm>
          <a:custGeom xmlns:a="http://schemas.openxmlformats.org/drawingml/2006/main">
            <a:rect l="l" t="t" r="r" b="b"/>
            <a:pathLst>
              <a:path w="3352800" h="9525">
                <a:moveTo>
                  <a:pt x="0" y="0"/>
                </a:moveTo>
                <a:lnTo>
                  <a:pt x="33528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E4D40"/>
            </a:solidFill>
          </a:ln>
        </p:spPr>
      </p:sp>
      <p:sp>
        <p:nvSpPr>
          <p:cNvPr id="33" name="Freeform 33">
            <a:extLst xmlns:a="http://schemas.openxmlformats.org/drawingml/2006/main">
              <a:ext uri="{FF2B5EF4-FFF2-40B4-BE49-F238E27FC236}">
                <a16:creationId xmlns:a16="http://schemas.microsoft.com/office/drawing/2014/main" id="{45C5D1C2-1D39-4828-A8CA-A28057CA5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7988300" y="3238500"/>
            <a:ext cx="177800" cy="228599"/>
          </a:xfrm>
          <a:custGeom xmlns:a="http://schemas.openxmlformats.org/drawingml/2006/main">
            <a:rect l="l" t="t" r="r" b="b"/>
            <a:pathLst>
              <a:path w="177800" h="228599">
                <a:moveTo>
                  <a:pt x="101600" y="0"/>
                </a:moveTo>
                <a:lnTo>
                  <a:pt x="101600" y="88900"/>
                </a:lnTo>
                <a:lnTo>
                  <a:pt x="177800" y="88900"/>
                </a:lnTo>
                <a:lnTo>
                  <a:pt x="76200" y="228599"/>
                </a:lnTo>
                <a:lnTo>
                  <a:pt x="76200" y="139700"/>
                </a:lnTo>
                <a:lnTo>
                  <a:pt x="0" y="139700"/>
                </a:lnTo>
                <a:lnTo>
                  <a:pt x="1016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E4D40"/>
            </a:solidFill>
          </a:ln>
        </p:spPr>
      </p:sp>
      <p:sp>
        <p:nvSpPr>
          <p:cNvPr id="34" name="TextBox 34">
            <a:extLst xmlns:a="http://schemas.openxmlformats.org/drawingml/2006/main">
              <a:ext uri="{FF2B5EF4-FFF2-40B4-BE49-F238E27FC236}">
                <a16:creationId xmlns:a16="http://schemas.microsoft.com/office/drawing/2014/main" id="{26C2E71E-D74A-4119-B98E-34FF3EC35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7915656" y="3844290"/>
            <a:ext cx="1837475" cy="3520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22302B"/>
                </a:solidFill>
                <a:latin typeface="Microsoft YaHei"/>
                <a:ea typeface="Microsoft YaHei"/>
                <a:cs typeface="Microsoft YaHei"/>
              </a:rPr>
              <a:t>运行指标</a:t>
            </a:r>
            <a:r>
              <a:rPr sz="1800" b="1">
                <a:solidFill>
                  <a:srgbClr val="22302B"/>
                </a:solidFill>
                <a:latin typeface="Arial"/>
                <a:ea typeface="Arial"/>
                <a:cs typeface="Arial"/>
              </a:rPr>
              <a:t> · </a:t>
            </a:r>
            <a:r>
              <a:rPr sz="1800" b="1">
                <a:solidFill>
                  <a:srgbClr val="22302B"/>
                </a:solidFill>
                <a:latin typeface="Microsoft YaHei"/>
                <a:ea typeface="Microsoft YaHei"/>
                <a:cs typeface="Microsoft YaHei"/>
              </a:rPr>
              <a:t>成本</a:t>
            </a:r>
          </a:p>
        </p:txBody>
      </p:sp>
      <p:sp>
        <p:nvSpPr>
          <p:cNvPr id="35" name="TextBox 35">
            <a:extLst xmlns:a="http://schemas.openxmlformats.org/drawingml/2006/main">
              <a:ext uri="{FF2B5EF4-FFF2-40B4-BE49-F238E27FC236}">
                <a16:creationId xmlns:a16="http://schemas.microsoft.com/office/drawing/2014/main" id="{E2F9BFE6-372A-4C48-9A83-41B3780D3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7917942" y="4388168"/>
            <a:ext cx="1831086" cy="2640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50">
                <a:solidFill>
                  <a:srgbClr val="5C6B64"/>
                </a:solidFill>
                <a:latin typeface="Microsoft YaHei"/>
                <a:ea typeface="Microsoft YaHei"/>
                <a:cs typeface="Microsoft YaHei"/>
              </a:rPr>
              <a:t>模型失败率、转人工</a:t>
            </a:r>
          </a:p>
        </p:txBody>
      </p:sp>
      <p:sp>
        <p:nvSpPr>
          <p:cNvPr id="36" name="TextBox 36">
            <a:extLst xmlns:a="http://schemas.openxmlformats.org/drawingml/2006/main">
              <a:ext uri="{FF2B5EF4-FFF2-40B4-BE49-F238E27FC236}">
                <a16:creationId xmlns:a16="http://schemas.microsoft.com/office/drawing/2014/main" id="{B951C8A5-26E0-472F-ACE1-74B731F5C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7917942" y="4673918"/>
            <a:ext cx="1831086" cy="2640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50">
                <a:solidFill>
                  <a:srgbClr val="5C6B64"/>
                </a:solidFill>
                <a:latin typeface="Microsoft YaHei"/>
                <a:ea typeface="Microsoft YaHei"/>
                <a:cs typeface="Microsoft YaHei"/>
              </a:rPr>
              <a:t>次数、单次使用成本。</a:t>
            </a:r>
          </a:p>
        </p:txBody>
      </p:sp>
      <p:sp>
        <p:nvSpPr>
          <p:cNvPr id="37" name="TextBox 37">
            <a:extLst xmlns:a="http://schemas.openxmlformats.org/drawingml/2006/main">
              <a:ext uri="{FF2B5EF4-FFF2-40B4-BE49-F238E27FC236}">
                <a16:creationId xmlns:a16="http://schemas.microsoft.com/office/drawing/2014/main" id="{ADC7522B-C76B-44D2-AE76-221C5502A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7918704" y="5204460"/>
            <a:ext cx="981456" cy="2346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>
                <a:solidFill>
                  <a:srgbClr val="8A968F"/>
                </a:solidFill>
                <a:latin typeface="Microsoft YaHei"/>
                <a:ea typeface="Microsoft YaHei"/>
                <a:cs typeface="Microsoft YaHei"/>
              </a:rPr>
              <a:t>跑起来贵不贵</a:t>
            </a:r>
          </a:p>
        </p:txBody>
      </p:sp>
      <p:sp>
        <p:nvSpPr>
          <p:cNvPr id="39" name="Line 39">
            <a:extLst xmlns:a="http://schemas.openxmlformats.org/drawingml/2006/main">
              <a:ext uri="{FF2B5EF4-FFF2-40B4-BE49-F238E27FC236}">
                <a16:creationId xmlns:a16="http://schemas.microsoft.com/office/drawing/2014/main" id="{242B99E4-33FF-48D5-8149-CE2D5201B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114800" y="2952750"/>
            <a:ext cx="9525" cy="2571750"/>
          </a:xfrm>
          <a:custGeom xmlns:a="http://schemas.openxmlformats.org/drawingml/2006/main">
            <a:rect l="l" t="t" r="r" b="b"/>
            <a:pathLst>
              <a:path w="9525" h="2571750">
                <a:moveTo>
                  <a:pt x="0" y="0"/>
                </a:moveTo>
                <a:lnTo>
                  <a:pt x="0" y="257175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D8DED6"/>
            </a:solidFill>
          </a:ln>
        </p:spPr>
      </p:sp>
      <p:sp>
        <p:nvSpPr>
          <p:cNvPr id="40" name="Line 40">
            <a:extLst xmlns:a="http://schemas.openxmlformats.org/drawingml/2006/main">
              <a:ext uri="{FF2B5EF4-FFF2-40B4-BE49-F238E27FC236}">
                <a16:creationId xmlns:a16="http://schemas.microsoft.com/office/drawing/2014/main" id="{67A5D1B3-F14A-4E6A-A156-BC885BE29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7772400" y="2952750"/>
            <a:ext cx="9525" cy="2571750"/>
          </a:xfrm>
          <a:custGeom xmlns:a="http://schemas.openxmlformats.org/drawingml/2006/main">
            <a:rect l="l" t="t" r="r" b="b"/>
            <a:pathLst>
              <a:path w="9525" h="2571750">
                <a:moveTo>
                  <a:pt x="0" y="0"/>
                </a:moveTo>
                <a:lnTo>
                  <a:pt x="0" y="257175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D8DED6"/>
            </a:solidFill>
          </a:ln>
        </p:spPr>
      </p:sp>
      <p:sp>
        <p:nvSpPr>
          <p:cNvPr id="42" name="Line 42">
            <a:extLst xmlns:a="http://schemas.openxmlformats.org/drawingml/2006/main">
              <a:ext uri="{FF2B5EF4-FFF2-40B4-BE49-F238E27FC236}">
                <a16:creationId xmlns:a16="http://schemas.microsoft.com/office/drawing/2014/main" id="{F3C1DB40-284F-4097-A32A-DE862D0C5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9600" y="5810250"/>
            <a:ext cx="10972800" cy="9525"/>
          </a:xfrm>
          <a:custGeom xmlns:a="http://schemas.openxmlformats.org/drawingml/2006/main"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D8DED6"/>
            </a:solidFill>
          </a:ln>
        </p:spPr>
      </p:sp>
      <p:sp>
        <p:nvSpPr>
          <p:cNvPr id="43" name="TextBox 43">
            <a:extLst xmlns:a="http://schemas.openxmlformats.org/drawingml/2006/main">
              <a:ext uri="{FF2B5EF4-FFF2-40B4-BE49-F238E27FC236}">
                <a16:creationId xmlns:a16="http://schemas.microsoft.com/office/drawing/2014/main" id="{137882BD-8B88-4D3D-B206-1AE767974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0456" y="6054090"/>
            <a:ext cx="7187184" cy="3520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>
                <a:solidFill>
                  <a:srgbClr val="1E4D40"/>
                </a:solidFill>
                <a:latin typeface="SimSun"/>
                <a:ea typeface="SimSun"/>
                <a:cs typeface="SimSun"/>
              </a:rPr>
              <a:t>和社区工作人员商定试用标准，再看是否值得继续做。</a:t>
            </a:r>
          </a:p>
        </p:txBody>
      </p:sp>
      <p:sp>
        <p:nvSpPr>
          <p:cNvPr id="45" name="TextBox 45">
            <a:extLst xmlns:a="http://schemas.openxmlformats.org/drawingml/2006/main">
              <a:ext uri="{FF2B5EF4-FFF2-40B4-BE49-F238E27FC236}">
                <a16:creationId xmlns:a16="http://schemas.microsoft.com/office/drawing/2014/main" id="{0D11101C-64DC-4997-BA9D-44104D23C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3504" y="6537960"/>
            <a:ext cx="1522432" cy="2346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>
                <a:solidFill>
                  <a:srgbClr val="8A968F"/>
                </a:solidFill>
                <a:latin typeface="Arial"/>
                <a:ea typeface="Arial"/>
                <a:cs typeface="Arial"/>
              </a:rPr>
              <a:t>OneCase · </a:t>
            </a:r>
            <a:r>
              <a:rPr sz="1200">
                <a:solidFill>
                  <a:srgbClr val="8A968F"/>
                </a:solidFill>
                <a:latin typeface="Microsoft YaHei"/>
                <a:ea typeface="Microsoft YaHei"/>
                <a:cs typeface="Microsoft YaHei"/>
              </a:rPr>
              <a:t>初赛路演</a:t>
            </a:r>
          </a:p>
        </p:txBody>
      </p:sp>
      <p:sp>
        <p:nvSpPr>
          <p:cNvPr id="46" name="TextBox 46">
            <a:extLst xmlns:a="http://schemas.openxmlformats.org/drawingml/2006/main">
              <a:ext uri="{FF2B5EF4-FFF2-40B4-BE49-F238E27FC236}">
                <a16:creationId xmlns:a16="http://schemas.microsoft.com/office/drawing/2014/main" id="{E666DAFB-3466-4E53-993C-9165D2010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035132" y="6537960"/>
            <a:ext cx="553364" cy="2346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200">
                <a:solidFill>
                  <a:srgbClr val="8A968F"/>
                </a:solidFill>
                <a:latin typeface="Arial"/>
                <a:ea typeface="Arial"/>
                <a:cs typeface="Arial"/>
              </a:rPr>
              <a:t>11 / 14</a:t>
            </a:r>
          </a:p>
        </p:txBody>
      </p:sp>
    </p:spTree>
    <p:extLst>
      <p:ext uri="{BB962C8B-B14F-4D97-AF65-F5344CB8AC3E}">
        <p14:creationId xmlns:p14="http://schemas.microsoft.com/office/powerpoint/2010/main" val="135328857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2">
            <a:extLst xmlns:a="http://schemas.openxmlformats.org/drawingml/2006/main">
              <a:ext uri="{FF2B5EF4-FFF2-40B4-BE49-F238E27FC236}">
                <a16:creationId xmlns:a16="http://schemas.microsoft.com/office/drawing/2014/main" id="{E4A3E856-AC62-4D2F-8C32-4C1EB6440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7"/>
          </a:solidFill>
          <a:ln xmlns:a="http://schemas.openxmlformats.org/drawingml/2006/main">
            <a:noFill/>
          </a:ln>
        </p:spPr>
        <p:txBody xmlns:a="http://schemas.openxmlformats.org/drawingml/2006/main">
          <a:bodyPr/>
          <a:p/>
        </p:txBody>
      </p:sp>
      <p:sp>
        <p:nvSpPr>
          <p:cNvPr id="3" name="TextBox 3">
            <a:extLst xmlns:a="http://schemas.openxmlformats.org/drawingml/2006/main">
              <a:ext uri="{FF2B5EF4-FFF2-40B4-BE49-F238E27FC236}">
                <a16:creationId xmlns:a16="http://schemas.microsoft.com/office/drawing/2014/main" id="{B7A8BE97-EB1F-4C2A-9ACD-402CEB1AC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3504" y="594360"/>
            <a:ext cx="1968086" cy="2346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 spc="300">
                <a:solidFill>
                  <a:srgbClr val="D97B29"/>
                </a:solidFill>
                <a:latin typeface="Microsoft YaHei"/>
                <a:ea typeface="Microsoft YaHei"/>
                <a:cs typeface="Microsoft YaHei"/>
              </a:rPr>
              <a:t>进度</a:t>
            </a:r>
            <a:r>
              <a:rPr sz="1200" b="1" spc="300">
                <a:solidFill>
                  <a:srgbClr val="D97B29"/>
                </a:solidFill>
                <a:latin typeface="Arial"/>
                <a:ea typeface="Arial"/>
                <a:cs typeface="Arial"/>
              </a:rPr>
              <a:t> · </a:t>
            </a:r>
            <a:r>
              <a:rPr sz="1200" b="1" spc="300">
                <a:solidFill>
                  <a:srgbClr val="D97B29"/>
                </a:solidFill>
                <a:latin typeface="Microsoft YaHei"/>
                <a:ea typeface="Microsoft YaHei"/>
                <a:cs typeface="Microsoft YaHei"/>
              </a:rPr>
              <a:t>功能范围</a:t>
            </a:r>
          </a:p>
        </p:txBody>
      </p:sp>
      <p:sp>
        <p:nvSpPr>
          <p:cNvPr id="4" name="TextBox 4">
            <a:extLst xmlns:a="http://schemas.openxmlformats.org/drawingml/2006/main">
              <a:ext uri="{FF2B5EF4-FFF2-40B4-BE49-F238E27FC236}">
                <a16:creationId xmlns:a16="http://schemas.microsoft.com/office/drawing/2014/main" id="{BD1F125D-8B9A-4E6B-BF7D-B3C7B73AA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93598" y="783908"/>
            <a:ext cx="3325216" cy="6160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150" b="1">
                <a:solidFill>
                  <a:srgbClr val="1E4D40"/>
                </a:solidFill>
                <a:latin typeface="SimSun"/>
                <a:ea typeface="SimSun"/>
                <a:cs typeface="SimSun"/>
              </a:rPr>
              <a:t>已完成功能与待办</a:t>
            </a:r>
          </a:p>
        </p:txBody>
      </p:sp>
      <p:sp>
        <p:nvSpPr>
          <p:cNvPr id="5" name="Line 5">
            <a:extLst xmlns:a="http://schemas.openxmlformats.org/drawingml/2006/main">
              <a:ext uri="{FF2B5EF4-FFF2-40B4-BE49-F238E27FC236}">
                <a16:creationId xmlns:a16="http://schemas.microsoft.com/office/drawing/2014/main" id="{605CC150-C17F-49AE-B361-90DD874D7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9600" y="1352550"/>
            <a:ext cx="10972800" cy="9525"/>
          </a:xfrm>
          <a:custGeom xmlns:a="http://schemas.openxmlformats.org/drawingml/2006/main"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D8DED6"/>
            </a:solidFill>
          </a:ln>
        </p:spPr>
        <p:txBody xmlns:a="http://schemas.openxmlformats.org/drawingml/2006/main">
          <a:bodyPr/>
          <a:p/>
        </p:txBody>
      </p:sp>
      <p:sp>
        <p:nvSpPr>
          <p:cNvPr id="7" name="Line 7">
            <a:extLst xmlns:a="http://schemas.openxmlformats.org/drawingml/2006/main">
              <a:ext uri="{FF2B5EF4-FFF2-40B4-BE49-F238E27FC236}">
                <a16:creationId xmlns:a16="http://schemas.microsoft.com/office/drawing/2014/main" id="{3E44E934-9974-4956-A11A-33EDFFEE0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9600" y="1714500"/>
            <a:ext cx="3352800" cy="9525"/>
          </a:xfrm>
          <a:custGeom xmlns:a="http://schemas.openxmlformats.org/drawingml/2006/main">
            <a:rect l="l" t="t" r="r" b="b"/>
            <a:pathLst>
              <a:path w="3352800" h="9525">
                <a:moveTo>
                  <a:pt x="0" y="0"/>
                </a:moveTo>
                <a:lnTo>
                  <a:pt x="33528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2E7D5B"/>
            </a:solidFill>
          </a:ln>
        </p:spPr>
        <p:txBody xmlns:a="http://schemas.openxmlformats.org/drawingml/2006/main">
          <a:bodyPr/>
          <a:p/>
        </p:txBody>
      </p:sp>
      <p:sp>
        <p:nvSpPr>
          <p:cNvPr id="8" name="Freeform 8">
            <a:extLst xmlns:a="http://schemas.openxmlformats.org/drawingml/2006/main">
              <a:ext uri="{FF2B5EF4-FFF2-40B4-BE49-F238E27FC236}">
                <a16:creationId xmlns:a16="http://schemas.microsoft.com/office/drawing/2014/main" id="{9ACEE688-5073-4002-AF99-B3CF32DA8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28650" y="1885950"/>
            <a:ext cx="171450" cy="133350"/>
          </a:xfrm>
          <a:custGeom xmlns:a="http://schemas.openxmlformats.org/drawingml/2006/main">
            <a:rect l="l" t="t" r="r" b="b"/>
            <a:pathLst>
              <a:path w="171450" h="133350">
                <a:moveTo>
                  <a:pt x="0" y="76200"/>
                </a:moveTo>
                <a:lnTo>
                  <a:pt x="57150" y="133350"/>
                </a:lnTo>
                <a:lnTo>
                  <a:pt x="1714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2E7D5B"/>
            </a:solidFill>
          </a:ln>
        </p:spPr>
        <p:txBody xmlns:a="http://schemas.openxmlformats.org/drawingml/2006/main">
          <a:bodyPr/>
          <a:p/>
        </p:txBody>
      </p:sp>
      <p:sp>
        <p:nvSpPr>
          <p:cNvPr id="9" name="TextBox 9">
            <a:extLst xmlns:a="http://schemas.openxmlformats.org/drawingml/2006/main">
              <a:ext uri="{FF2B5EF4-FFF2-40B4-BE49-F238E27FC236}">
                <a16:creationId xmlns:a16="http://schemas.microsoft.com/office/drawing/2014/main" id="{A0664E32-426D-4BD7-8025-A880A3F52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43356" y="1863090"/>
            <a:ext cx="1290447" cy="3520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22302B"/>
                </a:solidFill>
                <a:latin typeface="Microsoft YaHei"/>
                <a:ea typeface="Microsoft YaHei"/>
                <a:cs typeface="Microsoft YaHei"/>
              </a:rPr>
              <a:t>当前已实现</a:t>
            </a:r>
          </a:p>
        </p:txBody>
      </p:sp>
      <p:sp>
        <p:nvSpPr>
          <p:cNvPr id="10" name="Ellipse 10">
            <a:extLst xmlns:a="http://schemas.openxmlformats.org/drawingml/2006/main">
              <a:ext uri="{FF2B5EF4-FFF2-40B4-BE49-F238E27FC236}">
                <a16:creationId xmlns:a16="http://schemas.microsoft.com/office/drawing/2014/main" id="{107CD3D5-74BB-4577-A5E8-DE3C214CF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47700" y="26479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E7D5B"/>
          </a:solidFill>
          <a:ln xmlns:a="http://schemas.openxmlformats.org/drawingml/2006/main">
            <a:noFill/>
          </a:ln>
        </p:spPr>
        <p:txBody xmlns:a="http://schemas.openxmlformats.org/drawingml/2006/main">
          <a:bodyPr/>
          <a:p/>
        </p:txBody>
      </p:sp>
      <p:sp>
        <p:nvSpPr>
          <p:cNvPr id="11" name="TextBox 11">
            <a:extLst xmlns:a="http://schemas.openxmlformats.org/drawingml/2006/main">
              <a:ext uri="{FF2B5EF4-FFF2-40B4-BE49-F238E27FC236}">
                <a16:creationId xmlns:a16="http://schemas.microsoft.com/office/drawing/2014/main" id="{1B0AC284-70AF-47B4-B5F0-418477C6F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07542" y="2597468"/>
            <a:ext cx="1649349" cy="2640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50">
                <a:solidFill>
                  <a:srgbClr val="22302B"/>
                </a:solidFill>
                <a:latin typeface="Microsoft YaHei"/>
                <a:ea typeface="Microsoft YaHei"/>
                <a:cs typeface="Microsoft YaHei"/>
              </a:rPr>
              <a:t>文字与图片输入</a:t>
            </a:r>
          </a:p>
        </p:txBody>
      </p:sp>
      <p:sp>
        <p:nvSpPr>
          <p:cNvPr id="12" name="Ellipse 12">
            <a:extLst xmlns:a="http://schemas.openxmlformats.org/drawingml/2006/main">
              <a:ext uri="{FF2B5EF4-FFF2-40B4-BE49-F238E27FC236}">
                <a16:creationId xmlns:a16="http://schemas.microsoft.com/office/drawing/2014/main" id="{48822192-97B2-4733-A144-314E2C180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47700" y="31051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E7D5B"/>
          </a:solidFill>
          <a:ln xmlns:a="http://schemas.openxmlformats.org/drawingml/2006/main">
            <a:noFill/>
          </a:ln>
        </p:spPr>
        <p:txBody xmlns:a="http://schemas.openxmlformats.org/drawingml/2006/main">
          <a:bodyPr/>
          <a:p/>
        </p:txBody>
      </p:sp>
      <p:sp>
        <p:nvSpPr>
          <p:cNvPr id="13" name="TextBox 13">
            <a:extLst xmlns:a="http://schemas.openxmlformats.org/drawingml/2006/main">
              <a:ext uri="{FF2B5EF4-FFF2-40B4-BE49-F238E27FC236}">
                <a16:creationId xmlns:a16="http://schemas.microsoft.com/office/drawing/2014/main" id="{A4D25F45-FC57-489B-A8B0-F21D389AD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07542" y="3054668"/>
            <a:ext cx="1285875" cy="2640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50">
                <a:solidFill>
                  <a:srgbClr val="22302B"/>
                </a:solidFill>
                <a:latin typeface="Microsoft YaHei"/>
                <a:ea typeface="Microsoft YaHei"/>
                <a:cs typeface="Microsoft YaHei"/>
              </a:rPr>
              <a:t>草稿与原图核对</a:t>
            </a:r>
          </a:p>
        </p:txBody>
      </p:sp>
      <p:sp>
        <p:nvSpPr>
          <p:cNvPr id="14" name="Ellipse 14">
            <a:extLst xmlns:a="http://schemas.openxmlformats.org/drawingml/2006/main">
              <a:ext uri="{FF2B5EF4-FFF2-40B4-BE49-F238E27FC236}">
                <a16:creationId xmlns:a16="http://schemas.microsoft.com/office/drawing/2014/main" id="{007B9CF3-9383-4136-ACC2-91812BAEE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47700" y="35623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E7D5B"/>
          </a:solidFill>
          <a:ln xmlns:a="http://schemas.openxmlformats.org/drawingml/2006/main">
            <a:noFill/>
          </a:ln>
        </p:spPr>
        <p:txBody xmlns:a="http://schemas.openxmlformats.org/drawingml/2006/main">
          <a:bodyPr/>
          <a:p/>
        </p:txBody>
      </p:sp>
      <p:sp>
        <p:nvSpPr>
          <p:cNvPr id="15" name="TextBox 15">
            <a:extLst xmlns:a="http://schemas.openxmlformats.org/drawingml/2006/main">
              <a:ext uri="{FF2B5EF4-FFF2-40B4-BE49-F238E27FC236}">
                <a16:creationId xmlns:a16="http://schemas.microsoft.com/office/drawing/2014/main" id="{FFF3ED5D-A44E-44F8-9D8B-326F9C851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07542" y="3511868"/>
            <a:ext cx="1649349" cy="2640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50">
                <a:solidFill>
                  <a:srgbClr val="22302B"/>
                </a:solidFill>
                <a:latin typeface="Microsoft YaHei"/>
                <a:ea typeface="Microsoft YaHei"/>
                <a:cs typeface="Microsoft YaHei"/>
              </a:rPr>
              <a:t>相似候选与人工确认</a:t>
            </a:r>
          </a:p>
        </p:txBody>
      </p:sp>
      <p:sp>
        <p:nvSpPr>
          <p:cNvPr id="16" name="Ellipse 16">
            <a:extLst xmlns:a="http://schemas.openxmlformats.org/drawingml/2006/main">
              <a:ext uri="{FF2B5EF4-FFF2-40B4-BE49-F238E27FC236}">
                <a16:creationId xmlns:a16="http://schemas.microsoft.com/office/drawing/2014/main" id="{387207D2-569D-4C50-868D-18C626950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47700" y="40195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E7D5B"/>
          </a:solidFill>
          <a:ln xmlns:a="http://schemas.openxmlformats.org/drawingml/2006/main">
            <a:noFill/>
          </a:ln>
        </p:spPr>
        <p:txBody xmlns:a="http://schemas.openxmlformats.org/drawingml/2006/main">
          <a:bodyPr/>
          <a:p/>
        </p:txBody>
      </p:sp>
      <p:sp>
        <p:nvSpPr>
          <p:cNvPr id="17" name="TextBox 17">
            <a:extLst xmlns:a="http://schemas.openxmlformats.org/drawingml/2006/main">
              <a:ext uri="{FF2B5EF4-FFF2-40B4-BE49-F238E27FC236}">
                <a16:creationId xmlns:a16="http://schemas.microsoft.com/office/drawing/2014/main" id="{AFE95601-3666-4600-B4BC-C24B5B29D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07542" y="3969068"/>
            <a:ext cx="1285875" cy="2640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50">
                <a:solidFill>
                  <a:srgbClr val="22302B"/>
                </a:solidFill>
                <a:latin typeface="Microsoft YaHei"/>
                <a:ea typeface="Microsoft YaHei"/>
                <a:cs typeface="Microsoft YaHei"/>
              </a:rPr>
              <a:t>事项跟踪与统计</a:t>
            </a:r>
          </a:p>
        </p:txBody>
      </p:sp>
      <p:sp>
        <p:nvSpPr>
          <p:cNvPr id="19" name="Line 19">
            <a:extLst xmlns:a="http://schemas.openxmlformats.org/drawingml/2006/main">
              <a:ext uri="{FF2B5EF4-FFF2-40B4-BE49-F238E27FC236}">
                <a16:creationId xmlns:a16="http://schemas.microsoft.com/office/drawing/2014/main" id="{A6BFDC08-E32B-4FD6-BC2D-156496ED7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267200" y="1714500"/>
            <a:ext cx="3352800" cy="9525"/>
          </a:xfrm>
          <a:custGeom xmlns:a="http://schemas.openxmlformats.org/drawingml/2006/main">
            <a:rect l="l" t="t" r="r" b="b"/>
            <a:pathLst>
              <a:path w="3352800" h="9525">
                <a:moveTo>
                  <a:pt x="0" y="0"/>
                </a:moveTo>
                <a:lnTo>
                  <a:pt x="33528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B5442E"/>
            </a:solidFill>
          </a:ln>
        </p:spPr>
        <p:txBody xmlns:a="http://schemas.openxmlformats.org/drawingml/2006/main">
          <a:bodyPr/>
          <a:p/>
        </p:txBody>
      </p:sp>
      <p:sp>
        <p:nvSpPr>
          <p:cNvPr id="20" name="Ellipse 20">
            <a:extLst xmlns:a="http://schemas.openxmlformats.org/drawingml/2006/main">
              <a:ext uri="{FF2B5EF4-FFF2-40B4-BE49-F238E27FC236}">
                <a16:creationId xmlns:a16="http://schemas.microsoft.com/office/drawing/2014/main" id="{43D8C6EC-91BB-404C-A839-5E4320EF1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257675" y="1876425"/>
            <a:ext cx="171450" cy="1714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23812">
            <a:solidFill>
              <a:srgbClr val="B5442E"/>
            </a:solidFill>
          </a:ln>
        </p:spPr>
        <p:txBody xmlns:a="http://schemas.openxmlformats.org/drawingml/2006/main">
          <a:bodyPr/>
          <a:p/>
        </p:txBody>
      </p:sp>
      <p:sp>
        <p:nvSpPr>
          <p:cNvPr id="21" name="TextBox 21">
            <a:extLst xmlns:a="http://schemas.openxmlformats.org/drawingml/2006/main">
              <a:ext uri="{FF2B5EF4-FFF2-40B4-BE49-F238E27FC236}">
                <a16:creationId xmlns:a16="http://schemas.microsoft.com/office/drawing/2014/main" id="{B25CA832-6678-433E-9081-41DAD0ADD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600956" y="1863090"/>
            <a:ext cx="1290447" cy="3520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22302B"/>
                </a:solidFill>
                <a:latin typeface="Microsoft YaHei"/>
                <a:ea typeface="Microsoft YaHei"/>
                <a:cs typeface="Microsoft YaHei"/>
              </a:rPr>
              <a:t>试点前补齐</a:t>
            </a:r>
          </a:p>
        </p:txBody>
      </p:sp>
      <p:sp>
        <p:nvSpPr>
          <p:cNvPr id="22" name="Ellipse 22">
            <a:extLst xmlns:a="http://schemas.openxmlformats.org/drawingml/2006/main">
              <a:ext uri="{FF2B5EF4-FFF2-40B4-BE49-F238E27FC236}">
                <a16:creationId xmlns:a16="http://schemas.microsoft.com/office/drawing/2014/main" id="{D2A5F7EC-D901-4AC3-A2DC-BDBBAA8E3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305300" y="2647950"/>
            <a:ext cx="76200" cy="762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B5442E"/>
            </a:solidFill>
          </a:ln>
        </p:spPr>
        <p:txBody xmlns:a="http://schemas.openxmlformats.org/drawingml/2006/main">
          <a:bodyPr/>
          <a:p/>
        </p:txBody>
      </p:sp>
      <p:sp>
        <p:nvSpPr>
          <p:cNvPr id="23" name="TextBox 23">
            <a:extLst xmlns:a="http://schemas.openxmlformats.org/drawingml/2006/main">
              <a:ext uri="{FF2B5EF4-FFF2-40B4-BE49-F238E27FC236}">
                <a16:creationId xmlns:a16="http://schemas.microsoft.com/office/drawing/2014/main" id="{EE6E2203-45E0-4902-BCB0-2EF80CA06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65142" y="2597468"/>
            <a:ext cx="1285875" cy="2640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50">
                <a:solidFill>
                  <a:srgbClr val="22302B"/>
                </a:solidFill>
                <a:latin typeface="Microsoft YaHei"/>
                <a:ea typeface="Microsoft YaHei"/>
                <a:cs typeface="Microsoft YaHei"/>
              </a:rPr>
              <a:t>身份认证与权限</a:t>
            </a:r>
          </a:p>
        </p:txBody>
      </p:sp>
      <p:sp>
        <p:nvSpPr>
          <p:cNvPr id="24" name="Ellipse 24">
            <a:extLst xmlns:a="http://schemas.openxmlformats.org/drawingml/2006/main">
              <a:ext uri="{FF2B5EF4-FFF2-40B4-BE49-F238E27FC236}">
                <a16:creationId xmlns:a16="http://schemas.microsoft.com/office/drawing/2014/main" id="{CA1DD249-DBE6-415B-B196-02EB72DA1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305300" y="3105150"/>
            <a:ext cx="76200" cy="762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B5442E"/>
            </a:solidFill>
          </a:ln>
        </p:spPr>
        <p:txBody xmlns:a="http://schemas.openxmlformats.org/drawingml/2006/main">
          <a:bodyPr/>
          <a:p/>
        </p:txBody>
      </p:sp>
      <p:sp>
        <p:nvSpPr>
          <p:cNvPr id="25" name="TextBox 25">
            <a:extLst xmlns:a="http://schemas.openxmlformats.org/drawingml/2006/main">
              <a:ext uri="{FF2B5EF4-FFF2-40B4-BE49-F238E27FC236}">
                <a16:creationId xmlns:a16="http://schemas.microsoft.com/office/drawing/2014/main" id="{DBF93B4E-BD90-47EF-882E-BEC2E2D32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65142" y="3054668"/>
            <a:ext cx="1104138" cy="2640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50">
                <a:solidFill>
                  <a:srgbClr val="22302B"/>
                </a:solidFill>
                <a:latin typeface="Microsoft YaHei"/>
                <a:ea typeface="Microsoft YaHei"/>
                <a:cs typeface="Microsoft YaHei"/>
              </a:rPr>
              <a:t>组织数据隔离</a:t>
            </a:r>
          </a:p>
        </p:txBody>
      </p:sp>
      <p:sp>
        <p:nvSpPr>
          <p:cNvPr id="26" name="Ellipse 26">
            <a:extLst xmlns:a="http://schemas.openxmlformats.org/drawingml/2006/main">
              <a:ext uri="{FF2B5EF4-FFF2-40B4-BE49-F238E27FC236}">
                <a16:creationId xmlns:a16="http://schemas.microsoft.com/office/drawing/2014/main" id="{5DA2B50B-1141-4D32-B5AB-41A295B32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305300" y="3562350"/>
            <a:ext cx="76200" cy="762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B5442E"/>
            </a:solidFill>
          </a:ln>
        </p:spPr>
        <p:txBody xmlns:a="http://schemas.openxmlformats.org/drawingml/2006/main">
          <a:bodyPr/>
          <a:p/>
        </p:txBody>
      </p:sp>
      <p:sp>
        <p:nvSpPr>
          <p:cNvPr id="27" name="TextBox 27">
            <a:extLst xmlns:a="http://schemas.openxmlformats.org/drawingml/2006/main">
              <a:ext uri="{FF2B5EF4-FFF2-40B4-BE49-F238E27FC236}">
                <a16:creationId xmlns:a16="http://schemas.microsoft.com/office/drawing/2014/main" id="{3171740B-347A-4ED4-8FD8-A592AF530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65142" y="3511868"/>
            <a:ext cx="1285875" cy="2640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50">
                <a:solidFill>
                  <a:srgbClr val="22302B"/>
                </a:solidFill>
                <a:latin typeface="Microsoft YaHei"/>
                <a:ea typeface="Microsoft YaHei"/>
                <a:cs typeface="Microsoft YaHei"/>
              </a:rPr>
              <a:t>访问频率限制</a:t>
            </a:r>
          </a:p>
        </p:txBody>
      </p:sp>
      <p:sp>
        <p:nvSpPr>
          <p:cNvPr id="28" name="Ellipse 28">
            <a:extLst xmlns:a="http://schemas.openxmlformats.org/drawingml/2006/main">
              <a:ext uri="{FF2B5EF4-FFF2-40B4-BE49-F238E27FC236}">
                <a16:creationId xmlns:a16="http://schemas.microsoft.com/office/drawing/2014/main" id="{BAC85132-82FF-4678-B4E6-C414A7DEC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305300" y="4019550"/>
            <a:ext cx="76200" cy="762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B5442E"/>
            </a:solidFill>
          </a:ln>
        </p:spPr>
        <p:txBody xmlns:a="http://schemas.openxmlformats.org/drawingml/2006/main">
          <a:bodyPr/>
          <a:p/>
        </p:txBody>
      </p:sp>
      <p:sp>
        <p:nvSpPr>
          <p:cNvPr id="29" name="TextBox 29">
            <a:extLst xmlns:a="http://schemas.openxmlformats.org/drawingml/2006/main">
              <a:ext uri="{FF2B5EF4-FFF2-40B4-BE49-F238E27FC236}">
                <a16:creationId xmlns:a16="http://schemas.microsoft.com/office/drawing/2014/main" id="{142239CF-F066-42E3-BFD1-C5D175C34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65142" y="3969068"/>
            <a:ext cx="740664" cy="2640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50">
                <a:solidFill>
                  <a:srgbClr val="22302B"/>
                </a:solidFill>
                <a:latin typeface="Microsoft YaHei"/>
                <a:ea typeface="Microsoft YaHei"/>
                <a:cs typeface="Microsoft YaHei"/>
              </a:rPr>
              <a:t>草稿列表</a:t>
            </a:r>
          </a:p>
        </p:txBody>
      </p:sp>
      <p:sp>
        <p:nvSpPr>
          <p:cNvPr id="31" name="Line 31">
            <a:extLst xmlns:a="http://schemas.openxmlformats.org/drawingml/2006/main">
              <a:ext uri="{FF2B5EF4-FFF2-40B4-BE49-F238E27FC236}">
                <a16:creationId xmlns:a16="http://schemas.microsoft.com/office/drawing/2014/main" id="{9A283FF3-3B6F-4FDD-802E-551652443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7924800" y="1714500"/>
            <a:ext cx="3352800" cy="9525"/>
          </a:xfrm>
          <a:custGeom xmlns:a="http://schemas.openxmlformats.org/drawingml/2006/main">
            <a:rect l="l" t="t" r="r" b="b"/>
            <a:pathLst>
              <a:path w="3352800" h="9525">
                <a:moveTo>
                  <a:pt x="0" y="0"/>
                </a:moveTo>
                <a:lnTo>
                  <a:pt x="33528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5E8C7B"/>
            </a:solidFill>
          </a:ln>
        </p:spPr>
        <p:txBody xmlns:a="http://schemas.openxmlformats.org/drawingml/2006/main">
          <a:bodyPr/>
          <a:p/>
        </p:txBody>
      </p:sp>
      <p:sp>
        <p:nvSpPr>
          <p:cNvPr id="32" name="Polygon 32">
            <a:extLst xmlns:a="http://schemas.openxmlformats.org/drawingml/2006/main">
              <a:ext uri="{FF2B5EF4-FFF2-40B4-BE49-F238E27FC236}">
                <a16:creationId xmlns:a16="http://schemas.microsoft.com/office/drawing/2014/main" id="{D436F141-52A0-4218-9BB0-6CB7BC0F9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7905750" y="1876425"/>
            <a:ext cx="190500" cy="190500"/>
          </a:xfrm>
          <a:custGeom xmlns:a="http://schemas.openxmlformats.org/drawingml/2006/main">
            <a:rect l="l" t="t" r="r" b="b"/>
            <a:pathLst>
              <a:path w="190500" h="190500">
                <a:moveTo>
                  <a:pt x="95250" y="0"/>
                </a:moveTo>
                <a:lnTo>
                  <a:pt x="190500" y="95250"/>
                </a:lnTo>
                <a:lnTo>
                  <a:pt x="95250" y="190500"/>
                </a:lnTo>
                <a:lnTo>
                  <a:pt x="0" y="9525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23812">
            <a:solidFill>
              <a:srgbClr val="5E8C7B"/>
            </a:solidFill>
          </a:ln>
        </p:spPr>
        <p:txBody xmlns:a="http://schemas.openxmlformats.org/drawingml/2006/main">
          <a:bodyPr/>
          <a:p/>
        </p:txBody>
      </p:sp>
      <p:sp>
        <p:nvSpPr>
          <p:cNvPr id="33" name="TextBox 33">
            <a:extLst xmlns:a="http://schemas.openxmlformats.org/drawingml/2006/main">
              <a:ext uri="{FF2B5EF4-FFF2-40B4-BE49-F238E27FC236}">
                <a16:creationId xmlns:a16="http://schemas.microsoft.com/office/drawing/2014/main" id="{C35D3766-BC8A-48C7-9511-05F1A9581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258556" y="1863090"/>
            <a:ext cx="1036015" cy="3520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22302B"/>
                </a:solidFill>
                <a:latin typeface="Microsoft YaHei"/>
                <a:ea typeface="Microsoft YaHei"/>
                <a:cs typeface="Microsoft YaHei"/>
              </a:rPr>
              <a:t>待补功能</a:t>
            </a:r>
          </a:p>
        </p:txBody>
      </p:sp>
      <p:sp>
        <p:nvSpPr>
          <p:cNvPr id="34" name="Polygon 34">
            <a:extLst xmlns:a="http://schemas.openxmlformats.org/drawingml/2006/main">
              <a:ext uri="{FF2B5EF4-FFF2-40B4-BE49-F238E27FC236}">
                <a16:creationId xmlns:a16="http://schemas.microsoft.com/office/drawing/2014/main" id="{C4E0FDFD-931C-43D3-8524-E8CC3FD10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7943850" y="2647950"/>
            <a:ext cx="114300" cy="114300"/>
          </a:xfrm>
          <a:custGeom xmlns:a="http://schemas.openxmlformats.org/drawingml/2006/main">
            <a:rect l="l" t="t" r="r" b="b"/>
            <a:pathLst>
              <a:path w="114300" h="114300">
                <a:moveTo>
                  <a:pt x="57150" y="0"/>
                </a:moveTo>
                <a:lnTo>
                  <a:pt x="114300" y="57150"/>
                </a:lnTo>
                <a:lnTo>
                  <a:pt x="57150" y="114300"/>
                </a:lnTo>
                <a:lnTo>
                  <a:pt x="0" y="5715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5E8C7B"/>
            </a:solidFill>
          </a:ln>
        </p:spPr>
        <p:txBody xmlns:a="http://schemas.openxmlformats.org/drawingml/2006/main">
          <a:bodyPr/>
          <a:p/>
        </p:txBody>
      </p:sp>
      <p:sp>
        <p:nvSpPr>
          <p:cNvPr id="35" name="TextBox 35">
            <a:extLst xmlns:a="http://schemas.openxmlformats.org/drawingml/2006/main">
              <a:ext uri="{FF2B5EF4-FFF2-40B4-BE49-F238E27FC236}">
                <a16:creationId xmlns:a16="http://schemas.microsoft.com/office/drawing/2014/main" id="{033892B2-9DF4-4BF4-B757-7FA304020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222742" y="2597468"/>
            <a:ext cx="1313136" cy="2640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50">
                <a:solidFill>
                  <a:srgbClr val="22302B"/>
                </a:solidFill>
                <a:latin typeface="Microsoft YaHei"/>
                <a:ea typeface="Microsoft YaHei"/>
                <a:cs typeface="Microsoft YaHei"/>
              </a:rPr>
              <a:t>视觉实测与语音</a:t>
            </a:r>
          </a:p>
        </p:txBody>
      </p:sp>
      <p:sp>
        <p:nvSpPr>
          <p:cNvPr id="36" name="Polygon 36">
            <a:extLst xmlns:a="http://schemas.openxmlformats.org/drawingml/2006/main">
              <a:ext uri="{FF2B5EF4-FFF2-40B4-BE49-F238E27FC236}">
                <a16:creationId xmlns:a16="http://schemas.microsoft.com/office/drawing/2014/main" id="{23F1D492-2330-45EA-9608-4E5BD242A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7943850" y="3105150"/>
            <a:ext cx="114300" cy="114300"/>
          </a:xfrm>
          <a:custGeom xmlns:a="http://schemas.openxmlformats.org/drawingml/2006/main">
            <a:rect l="l" t="t" r="r" b="b"/>
            <a:pathLst>
              <a:path w="114300" h="114300">
                <a:moveTo>
                  <a:pt x="57150" y="0"/>
                </a:moveTo>
                <a:lnTo>
                  <a:pt x="114300" y="57150"/>
                </a:lnTo>
                <a:lnTo>
                  <a:pt x="57150" y="114300"/>
                </a:lnTo>
                <a:lnTo>
                  <a:pt x="0" y="5715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5E8C7B"/>
            </a:solidFill>
          </a:ln>
        </p:spPr>
        <p:txBody xmlns:a="http://schemas.openxmlformats.org/drawingml/2006/main">
          <a:bodyPr/>
          <a:p/>
        </p:txBody>
      </p:sp>
      <p:sp>
        <p:nvSpPr>
          <p:cNvPr id="37" name="TextBox 37">
            <a:extLst xmlns:a="http://schemas.openxmlformats.org/drawingml/2006/main">
              <a:ext uri="{FF2B5EF4-FFF2-40B4-BE49-F238E27FC236}">
                <a16:creationId xmlns:a16="http://schemas.microsoft.com/office/drawing/2014/main" id="{40D0238D-00E1-4248-97DF-E33CF7BB5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222742" y="3054668"/>
            <a:ext cx="1285875" cy="2640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50">
                <a:solidFill>
                  <a:srgbClr val="22302B"/>
                </a:solidFill>
                <a:latin typeface="Microsoft YaHei"/>
                <a:ea typeface="Microsoft YaHei"/>
                <a:cs typeface="Microsoft YaHei"/>
              </a:rPr>
              <a:t>微信等渠道接入</a:t>
            </a:r>
          </a:p>
        </p:txBody>
      </p:sp>
      <p:sp>
        <p:nvSpPr>
          <p:cNvPr id="38" name="Polygon 38">
            <a:extLst xmlns:a="http://schemas.openxmlformats.org/drawingml/2006/main">
              <a:ext uri="{FF2B5EF4-FFF2-40B4-BE49-F238E27FC236}">
                <a16:creationId xmlns:a16="http://schemas.microsoft.com/office/drawing/2014/main" id="{DD79A089-7003-4DE9-BA5C-B25FDF8A8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7943850" y="3562350"/>
            <a:ext cx="114300" cy="114300"/>
          </a:xfrm>
          <a:custGeom xmlns:a="http://schemas.openxmlformats.org/drawingml/2006/main">
            <a:rect l="l" t="t" r="r" b="b"/>
            <a:pathLst>
              <a:path w="114300" h="114300">
                <a:moveTo>
                  <a:pt x="57150" y="0"/>
                </a:moveTo>
                <a:lnTo>
                  <a:pt x="114300" y="57150"/>
                </a:lnTo>
                <a:lnTo>
                  <a:pt x="57150" y="114300"/>
                </a:lnTo>
                <a:lnTo>
                  <a:pt x="0" y="5715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5E8C7B"/>
            </a:solidFill>
          </a:ln>
        </p:spPr>
        <p:txBody xmlns:a="http://schemas.openxmlformats.org/drawingml/2006/main">
          <a:bodyPr/>
          <a:p/>
        </p:txBody>
      </p:sp>
      <p:sp>
        <p:nvSpPr>
          <p:cNvPr id="39" name="TextBox 39">
            <a:extLst xmlns:a="http://schemas.openxmlformats.org/drawingml/2006/main">
              <a:ext uri="{FF2B5EF4-FFF2-40B4-BE49-F238E27FC236}">
                <a16:creationId xmlns:a16="http://schemas.microsoft.com/office/drawing/2014/main" id="{36483E9F-BC5C-4150-AABF-A163076CF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222742" y="3511868"/>
            <a:ext cx="2007108" cy="2640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50">
                <a:solidFill>
                  <a:srgbClr val="22302B"/>
                </a:solidFill>
                <a:latin typeface="Microsoft YaHei"/>
                <a:ea typeface="Microsoft YaHei"/>
                <a:cs typeface="Microsoft YaHei"/>
              </a:rPr>
              <a:t>语义检索（</a:t>
            </a:r>
            <a:r>
              <a:rPr sz="1350">
                <a:solidFill>
                  <a:srgbClr val="22302B"/>
                </a:solidFill>
                <a:latin typeface="Arial"/>
                <a:ea typeface="Arial"/>
                <a:cs typeface="Arial"/>
              </a:rPr>
              <a:t>Embedding</a:t>
            </a:r>
            <a:r>
              <a:rPr sz="1350">
                <a:solidFill>
                  <a:srgbClr val="22302B"/>
                </a:solidFill>
                <a:latin typeface="Microsoft YaHei"/>
                <a:ea typeface="Microsoft YaHei"/>
                <a:cs typeface="Microsoft YaHei"/>
              </a:rPr>
              <a:t>）</a:t>
            </a:r>
          </a:p>
        </p:txBody>
      </p:sp>
      <p:sp>
        <p:nvSpPr>
          <p:cNvPr id="41" name="Line 41">
            <a:extLst xmlns:a="http://schemas.openxmlformats.org/drawingml/2006/main">
              <a:ext uri="{FF2B5EF4-FFF2-40B4-BE49-F238E27FC236}">
                <a16:creationId xmlns:a16="http://schemas.microsoft.com/office/drawing/2014/main" id="{8AF4E55B-EDED-437D-9177-1CC61DE1E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114800" y="1714500"/>
            <a:ext cx="9525" cy="2762250"/>
          </a:xfrm>
          <a:custGeom xmlns:a="http://schemas.openxmlformats.org/drawingml/2006/main">
            <a:rect l="l" t="t" r="r" b="b"/>
            <a:pathLst>
              <a:path w="9525" h="2762250">
                <a:moveTo>
                  <a:pt x="0" y="0"/>
                </a:moveTo>
                <a:lnTo>
                  <a:pt x="0" y="276225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D8DED6"/>
            </a:solidFill>
          </a:ln>
        </p:spPr>
        <p:txBody xmlns:a="http://schemas.openxmlformats.org/drawingml/2006/main">
          <a:bodyPr/>
          <a:p/>
        </p:txBody>
      </p:sp>
      <p:sp>
        <p:nvSpPr>
          <p:cNvPr id="42" name="Line 42">
            <a:extLst xmlns:a="http://schemas.openxmlformats.org/drawingml/2006/main">
              <a:ext uri="{FF2B5EF4-FFF2-40B4-BE49-F238E27FC236}">
                <a16:creationId xmlns:a16="http://schemas.microsoft.com/office/drawing/2014/main" id="{D65E07CF-4125-4D70-AE01-6D2BE3E79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7772400" y="1714500"/>
            <a:ext cx="9525" cy="2762250"/>
          </a:xfrm>
          <a:custGeom xmlns:a="http://schemas.openxmlformats.org/drawingml/2006/main">
            <a:rect l="l" t="t" r="r" b="b"/>
            <a:pathLst>
              <a:path w="9525" h="2762250">
                <a:moveTo>
                  <a:pt x="0" y="0"/>
                </a:moveTo>
                <a:lnTo>
                  <a:pt x="0" y="276225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D8DED6"/>
            </a:solidFill>
          </a:ln>
        </p:spPr>
        <p:txBody xmlns:a="http://schemas.openxmlformats.org/drawingml/2006/main">
          <a:bodyPr/>
          <a:p/>
        </p:txBody>
      </p:sp>
      <p:sp>
        <p:nvSpPr>
          <p:cNvPr id="44" name="Line 44">
            <a:extLst xmlns:a="http://schemas.openxmlformats.org/drawingml/2006/main">
              <a:ext uri="{FF2B5EF4-FFF2-40B4-BE49-F238E27FC236}">
                <a16:creationId xmlns:a16="http://schemas.microsoft.com/office/drawing/2014/main" id="{A4892D02-B33E-4528-9F07-D4A500375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9600" y="4953000"/>
            <a:ext cx="10972800" cy="9525"/>
          </a:xfrm>
          <a:custGeom xmlns:a="http://schemas.openxmlformats.org/drawingml/2006/main"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D8DED6"/>
            </a:solidFill>
          </a:ln>
        </p:spPr>
        <p:txBody xmlns:a="http://schemas.openxmlformats.org/drawingml/2006/main">
          <a:bodyPr/>
          <a:p/>
        </p:txBody>
      </p:sp>
      <p:sp>
        <p:nvSpPr>
          <p:cNvPr id="45" name="TextBox 45">
            <a:extLst xmlns:a="http://schemas.openxmlformats.org/drawingml/2006/main">
              <a:ext uri="{FF2B5EF4-FFF2-40B4-BE49-F238E27FC236}">
                <a16:creationId xmlns:a16="http://schemas.microsoft.com/office/drawing/2014/main" id="{2CC4F9EE-8AEB-4A65-882B-35F9C4BBC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99694" y="5218748"/>
            <a:ext cx="5120640" cy="3813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50">
                <a:solidFill>
                  <a:srgbClr val="1E4D40"/>
                </a:solidFill>
                <a:latin typeface="SimSun"/>
                <a:ea typeface="SimSun"/>
                <a:cs typeface="SimSun"/>
              </a:rPr>
              <a:t>图片可上传；一条 StepFun 合成图片已到达 Review。</a:t>
            </a:r>
          </a:p>
        </p:txBody>
      </p:sp>
      <p:sp>
        <p:nvSpPr>
          <p:cNvPr id="46" name="TextBox 46">
            <a:extLst xmlns:a="http://schemas.openxmlformats.org/drawingml/2006/main">
              <a:ext uri="{FF2B5EF4-FFF2-40B4-BE49-F238E27FC236}">
                <a16:creationId xmlns:a16="http://schemas.microsoft.com/office/drawing/2014/main" id="{D62523FD-4940-4FA8-AE2E-BD5C820BE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2742" y="5721668"/>
            <a:ext cx="9100566" cy="2640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50">
                <a:solidFill>
                  <a:srgbClr val="5C6B64"/>
                </a:solidFill>
                <a:latin typeface="Microsoft YaHei"/>
                <a:ea typeface="Microsoft YaHei"/>
                <a:cs typeface="Microsoft YaHei"/>
              </a:rPr>
              <a:t>图片支持预览、保存和恢复；Mock 不能识别图片，语音暂未支持。只使用合成数据演示。</a:t>
            </a:r>
            <a:r>
              <a:rPr sz="1350">
                <a:solidFill>
                  <a:srgbClr val="5C6B64"/>
                </a:solidFill>
                <a:latin typeface="Arial"/>
                <a:ea typeface="Arial"/>
                <a:cs typeface="Arial"/>
              </a:rPr>
              <a:t/>
            </a:r>
            <a:r>
              <a:rPr sz="1350">
                <a:solidFill>
                  <a:srgbClr val="5C6B64"/>
                </a:solidFill>
                <a:latin typeface="Microsoft YaHei"/>
                <a:ea typeface="Microsoft YaHei"/>
                <a:cs typeface="Microsoft YaHei"/>
              </a:rPr>
              <a:t/>
            </a:r>
          </a:p>
        </p:txBody>
      </p:sp>
      <p:sp>
        <p:nvSpPr>
          <p:cNvPr id="48" name="TextBox 48">
            <a:extLst xmlns:a="http://schemas.openxmlformats.org/drawingml/2006/main">
              <a:ext uri="{FF2B5EF4-FFF2-40B4-BE49-F238E27FC236}">
                <a16:creationId xmlns:a16="http://schemas.microsoft.com/office/drawing/2014/main" id="{11BFA683-742D-46E1-979C-C1AA92B7B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3504" y="6480810"/>
            <a:ext cx="1522432" cy="2346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>
                <a:solidFill>
                  <a:srgbClr val="8A968F"/>
                </a:solidFill>
                <a:latin typeface="Arial"/>
                <a:ea typeface="Arial"/>
                <a:cs typeface="Arial"/>
              </a:rPr>
              <a:t>OneCase · </a:t>
            </a:r>
            <a:r>
              <a:rPr sz="1200">
                <a:solidFill>
                  <a:srgbClr val="8A968F"/>
                </a:solidFill>
                <a:latin typeface="Microsoft YaHei"/>
                <a:ea typeface="Microsoft YaHei"/>
                <a:cs typeface="Microsoft YaHei"/>
              </a:rPr>
              <a:t>初赛路演</a:t>
            </a:r>
          </a:p>
        </p:txBody>
      </p:sp>
      <p:sp>
        <p:nvSpPr>
          <p:cNvPr id="49" name="TextBox 49">
            <a:extLst xmlns:a="http://schemas.openxmlformats.org/drawingml/2006/main">
              <a:ext uri="{FF2B5EF4-FFF2-40B4-BE49-F238E27FC236}">
                <a16:creationId xmlns:a16="http://schemas.microsoft.com/office/drawing/2014/main" id="{0C4D1CA7-0A6A-47F2-A890-14557E85C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035132" y="6480810"/>
            <a:ext cx="553364" cy="2346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200">
                <a:solidFill>
                  <a:srgbClr val="8A968F"/>
                </a:solidFill>
                <a:latin typeface="Arial"/>
                <a:ea typeface="Arial"/>
                <a:cs typeface="Arial"/>
              </a:rPr>
              <a:t>12 / 14</a:t>
            </a:r>
          </a:p>
        </p:txBody>
      </p:sp>
    </p:spTree>
    <p:extLst>
      <p:ext uri="{BB962C8B-B14F-4D97-AF65-F5344CB8AC3E}">
        <p14:creationId xmlns:p14="http://schemas.microsoft.com/office/powerpoint/2010/main" val="1796068681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2">
            <a:extLst xmlns:a="http://schemas.openxmlformats.org/drawingml/2006/main">
              <a:ext uri="{FF2B5EF4-FFF2-40B4-BE49-F238E27FC236}">
                <a16:creationId xmlns:a16="http://schemas.microsoft.com/office/drawing/2014/main" id="{BF601840-17AB-49DE-AA8A-218C71E01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7"/>
          </a:solidFill>
          <a:ln xmlns:a="http://schemas.openxmlformats.org/drawingml/2006/main">
            <a:noFill/>
          </a:ln>
        </p:spPr>
      </p:sp>
      <p:sp>
        <p:nvSpPr>
          <p:cNvPr id="3" name="TextBox 3">
            <a:extLst xmlns:a="http://schemas.openxmlformats.org/drawingml/2006/main">
              <a:ext uri="{FF2B5EF4-FFF2-40B4-BE49-F238E27FC236}">
                <a16:creationId xmlns:a16="http://schemas.microsoft.com/office/drawing/2014/main" id="{10611D54-1DEC-46D2-A777-198C9130E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3504" y="594360"/>
            <a:ext cx="1548072" cy="2346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 spc="300">
                <a:solidFill>
                  <a:srgbClr val="D97B29"/>
                </a:solidFill>
                <a:latin typeface="Microsoft YaHei"/>
                <a:ea typeface="Microsoft YaHei"/>
                <a:cs typeface="Microsoft YaHei"/>
              </a:rPr>
              <a:t>开发</a:t>
            </a:r>
            <a:r>
              <a:rPr sz="1200" b="1" spc="300">
                <a:solidFill>
                  <a:srgbClr val="D97B29"/>
                </a:solidFill>
                <a:latin typeface="Arial"/>
                <a:ea typeface="Arial"/>
                <a:cs typeface="Arial"/>
              </a:rPr>
              <a:t> · </a:t>
            </a:r>
            <a:r>
              <a:rPr sz="1200" b="1" spc="300">
                <a:solidFill>
                  <a:srgbClr val="D97B29"/>
                </a:solidFill>
                <a:latin typeface="Microsoft YaHei"/>
                <a:ea typeface="Microsoft YaHei"/>
                <a:cs typeface="Microsoft YaHei"/>
              </a:rPr>
              <a:t>开源说明</a:t>
            </a:r>
          </a:p>
        </p:txBody>
      </p:sp>
      <p:sp>
        <p:nvSpPr>
          <p:cNvPr id="4" name="TextBox 4">
            <a:extLst xmlns:a="http://schemas.openxmlformats.org/drawingml/2006/main">
              <a:ext uri="{FF2B5EF4-FFF2-40B4-BE49-F238E27FC236}">
                <a16:creationId xmlns:a16="http://schemas.microsoft.com/office/drawing/2014/main" id="{C5A49E27-AACB-4AA6-A21E-C12A95986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93598" y="783908"/>
            <a:ext cx="6618427" cy="6160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150" b="1">
                <a:solidFill>
                  <a:srgbClr val="1E4D40"/>
                </a:solidFill>
                <a:latin typeface="SimSun"/>
                <a:ea typeface="SimSun"/>
                <a:cs typeface="SimSun"/>
              </a:rPr>
              <a:t>开发分工与开源组件</a:t>
            </a:r>
          </a:p>
        </p:txBody>
      </p:sp>
      <p:sp>
        <p:nvSpPr>
          <p:cNvPr id="5" name="Line 5">
            <a:extLst xmlns:a="http://schemas.openxmlformats.org/drawingml/2006/main">
              <a:ext uri="{FF2B5EF4-FFF2-40B4-BE49-F238E27FC236}">
                <a16:creationId xmlns:a16="http://schemas.microsoft.com/office/drawing/2014/main" id="{AF83E742-DF5C-4AC3-A4A6-D026E24DE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9600" y="1352550"/>
            <a:ext cx="10972800" cy="9525"/>
          </a:xfrm>
          <a:custGeom xmlns:a="http://schemas.openxmlformats.org/drawingml/2006/main"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D8DED6"/>
            </a:solidFill>
          </a:ln>
        </p:spPr>
      </p:sp>
      <p:sp>
        <p:nvSpPr>
          <p:cNvPr id="7" name="Freeform 7">
            <a:extLst xmlns:a="http://schemas.openxmlformats.org/drawingml/2006/main">
              <a:ext uri="{FF2B5EF4-FFF2-40B4-BE49-F238E27FC236}">
                <a16:creationId xmlns:a16="http://schemas.microsoft.com/office/drawing/2014/main" id="{7986665E-0D9D-4427-AA75-0890E5F98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92944" y="1876425"/>
            <a:ext cx="119062" cy="9525"/>
          </a:xfrm>
          <a:custGeom xmlns:a="http://schemas.openxmlformats.org/drawingml/2006/main">
            <a:rect l="l" t="t" r="r" b="b"/>
            <a:pathLst>
              <a:path w="119062" h="9525">
                <a:moveTo>
                  <a:pt x="0" y="0"/>
                </a:moveTo>
                <a:lnTo>
                  <a:pt x="119062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E4D40"/>
            </a:solidFill>
          </a:ln>
        </p:spPr>
      </p:sp>
      <p:sp>
        <p:nvSpPr>
          <p:cNvPr id="8" name="Freeform 8">
            <a:extLst xmlns:a="http://schemas.openxmlformats.org/drawingml/2006/main">
              <a:ext uri="{FF2B5EF4-FFF2-40B4-BE49-F238E27FC236}">
                <a16:creationId xmlns:a16="http://schemas.microsoft.com/office/drawing/2014/main" id="{061E5ECF-DA16-4E1F-9609-A3E50FC9A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81038" y="1697831"/>
            <a:ext cx="142875" cy="11906"/>
          </a:xfrm>
          <a:custGeom xmlns:a="http://schemas.openxmlformats.org/drawingml/2006/main">
            <a:rect l="l" t="t" r="r" b="b"/>
            <a:pathLst>
              <a:path w="142875" h="11906">
                <a:moveTo>
                  <a:pt x="0" y="11906"/>
                </a:moveTo>
                <a:lnTo>
                  <a:pt x="71438" y="0"/>
                </a:lnTo>
                <a:lnTo>
                  <a:pt x="142875" y="11906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E4D40"/>
            </a:solidFill>
          </a:ln>
        </p:spPr>
      </p:sp>
      <p:sp>
        <p:nvSpPr>
          <p:cNvPr id="9" name="Freeform 9">
            <a:extLst xmlns:a="http://schemas.openxmlformats.org/drawingml/2006/main">
              <a:ext uri="{FF2B5EF4-FFF2-40B4-BE49-F238E27FC236}">
                <a16:creationId xmlns:a16="http://schemas.microsoft.com/office/drawing/2014/main" id="{DCD3BD4F-3D5C-46C6-A9B1-F7CE735DD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752475" y="1674019"/>
            <a:ext cx="9525" cy="202406"/>
          </a:xfrm>
          <a:custGeom xmlns:a="http://schemas.openxmlformats.org/drawingml/2006/main">
            <a:rect l="l" t="t" r="r" b="b"/>
            <a:pathLst>
              <a:path w="9525" h="202406">
                <a:moveTo>
                  <a:pt x="0" y="0"/>
                </a:moveTo>
                <a:lnTo>
                  <a:pt x="0" y="202406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E4D40"/>
            </a:solidFill>
          </a:ln>
        </p:spPr>
      </p:sp>
      <p:sp>
        <p:nvSpPr>
          <p:cNvPr id="10" name="Freeform 10">
            <a:extLst xmlns:a="http://schemas.openxmlformats.org/drawingml/2006/main">
              <a:ext uri="{FF2B5EF4-FFF2-40B4-BE49-F238E27FC236}">
                <a16:creationId xmlns:a16="http://schemas.microsoft.com/office/drawing/2014/main" id="{D7724EF1-9054-4A93-B503-91876490C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45319" y="1709738"/>
            <a:ext cx="71438" cy="107156"/>
          </a:xfrm>
          <a:custGeom xmlns:a="http://schemas.openxmlformats.org/drawingml/2006/main">
            <a:rect l="l" t="t" r="r" b="b"/>
            <a:pathLst>
              <a:path w="71438" h="107156">
                <a:moveTo>
                  <a:pt x="71438" y="71438"/>
                </a:moveTo>
                <a:lnTo>
                  <a:pt x="35719" y="0"/>
                </a:lnTo>
                <a:lnTo>
                  <a:pt x="0" y="71438"/>
                </a:lnTo>
                <a:cubicBezTo>
                  <a:pt x="0" y="91164"/>
                  <a:pt x="15992" y="107156"/>
                  <a:pt x="35719" y="107156"/>
                </a:cubicBezTo>
                <a:cubicBezTo>
                  <a:pt x="55446" y="107156"/>
                  <a:pt x="71438" y="91164"/>
                  <a:pt x="71438" y="71438"/>
                </a:cubicBez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E4D40"/>
            </a:solidFill>
          </a:ln>
        </p:spPr>
      </p:sp>
      <p:sp>
        <p:nvSpPr>
          <p:cNvPr id="11" name="Freeform 11">
            <a:extLst xmlns:a="http://schemas.openxmlformats.org/drawingml/2006/main">
              <a:ext uri="{FF2B5EF4-FFF2-40B4-BE49-F238E27FC236}">
                <a16:creationId xmlns:a16="http://schemas.microsoft.com/office/drawing/2014/main" id="{E7C207D6-0156-4B41-97A0-1B70A2E0F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788194" y="1709738"/>
            <a:ext cx="71438" cy="107156"/>
          </a:xfrm>
          <a:custGeom xmlns:a="http://schemas.openxmlformats.org/drawingml/2006/main">
            <a:rect l="l" t="t" r="r" b="b"/>
            <a:pathLst>
              <a:path w="71438" h="107156">
                <a:moveTo>
                  <a:pt x="71438" y="71438"/>
                </a:moveTo>
                <a:lnTo>
                  <a:pt x="35719" y="0"/>
                </a:lnTo>
                <a:lnTo>
                  <a:pt x="0" y="71438"/>
                </a:lnTo>
                <a:cubicBezTo>
                  <a:pt x="0" y="91164"/>
                  <a:pt x="15992" y="107156"/>
                  <a:pt x="35719" y="107156"/>
                </a:cubicBezTo>
                <a:cubicBezTo>
                  <a:pt x="55446" y="107156"/>
                  <a:pt x="71438" y="91164"/>
                  <a:pt x="71438" y="71438"/>
                </a:cubicBez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E4D40"/>
            </a:solidFill>
          </a:ln>
        </p:spPr>
      </p:sp>
      <p:sp>
        <p:nvSpPr>
          <p:cNvPr id="13" name="TextBox 13">
            <a:extLst xmlns:a="http://schemas.openxmlformats.org/drawingml/2006/main">
              <a:ext uri="{FF2B5EF4-FFF2-40B4-BE49-F238E27FC236}">
                <a16:creationId xmlns:a16="http://schemas.microsoft.com/office/drawing/2014/main" id="{AEB7AE6E-D184-4AC2-B5B9-F2DD2377A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40130" y="1704975"/>
            <a:ext cx="1703794" cy="2933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1">
                <a:solidFill>
                  <a:srgbClr val="22302B"/>
                </a:solidFill>
                <a:latin typeface="Microsoft YaHei"/>
                <a:ea typeface="Microsoft YaHei"/>
                <a:cs typeface="Microsoft YaHei"/>
              </a:rPr>
              <a:t>开源组件</a:t>
            </a:r>
            <a:r>
              <a:rPr sz="1500" b="1">
                <a:solidFill>
                  <a:srgbClr val="22302B"/>
                </a:solidFill>
                <a:latin typeface="Arial"/>
                <a:ea typeface="Arial"/>
                <a:cs typeface="Arial"/>
              </a:rPr>
              <a:t> License</a:t>
            </a:r>
          </a:p>
        </p:txBody>
      </p:sp>
      <p:sp>
        <p:nvSpPr>
          <p:cNvPr id="14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8B6CEEE1-B751-44B9-8B4A-43623A5F6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9600" y="2095500"/>
            <a:ext cx="5905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2ED"/>
          </a:solidFill>
          <a:ln xmlns:a="http://schemas.openxmlformats.org/drawingml/2006/main">
            <a:noFill/>
          </a:ln>
        </p:spPr>
      </p:sp>
      <p:sp>
        <p:nvSpPr>
          <p:cNvPr id="15" name="TextBox 15">
            <a:extLst xmlns:a="http://schemas.openxmlformats.org/drawingml/2006/main">
              <a:ext uri="{FF2B5EF4-FFF2-40B4-BE49-F238E27FC236}">
                <a16:creationId xmlns:a16="http://schemas.microsoft.com/office/drawing/2014/main" id="{47863BFE-40BE-4BC5-9B45-BA3FD0A0D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31342" y="2235518"/>
            <a:ext cx="395364" cy="2640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50" b="1">
                <a:solidFill>
                  <a:srgbClr val="1E4D40"/>
                </a:solidFill>
                <a:latin typeface="Microsoft YaHei"/>
                <a:ea typeface="Microsoft YaHei"/>
                <a:cs typeface="Microsoft YaHei"/>
              </a:rPr>
              <a:t>组件</a:t>
            </a:r>
          </a:p>
        </p:txBody>
      </p:sp>
      <p:sp>
        <p:nvSpPr>
          <p:cNvPr id="16" name="TextBox 16">
            <a:extLst xmlns:a="http://schemas.openxmlformats.org/drawingml/2006/main">
              <a:ext uri="{FF2B5EF4-FFF2-40B4-BE49-F238E27FC236}">
                <a16:creationId xmlns:a16="http://schemas.microsoft.com/office/drawing/2014/main" id="{50F226B7-1132-480D-8A54-E2D047BCB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184142" y="2235518"/>
            <a:ext cx="706237" cy="2640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50" b="1">
                <a:solidFill>
                  <a:srgbClr val="1E4D40"/>
                </a:solidFill>
                <a:latin typeface="Arial"/>
                <a:ea typeface="Arial"/>
                <a:cs typeface="Arial"/>
              </a:rPr>
              <a:t>License</a:t>
            </a:r>
          </a:p>
        </p:txBody>
      </p:sp>
      <p:sp>
        <p:nvSpPr>
          <p:cNvPr id="17" name="TextBox 17">
            <a:extLst xmlns:a="http://schemas.openxmlformats.org/drawingml/2006/main">
              <a:ext uri="{FF2B5EF4-FFF2-40B4-BE49-F238E27FC236}">
                <a16:creationId xmlns:a16="http://schemas.microsoft.com/office/drawing/2014/main" id="{A64D37BF-053A-4D92-AE5F-3155730CB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31342" y="2749868"/>
            <a:ext cx="1908312" cy="2640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50">
                <a:solidFill>
                  <a:srgbClr val="22302B"/>
                </a:solidFill>
                <a:latin typeface="Consolas"/>
                <a:ea typeface="Consolas"/>
                <a:cs typeface="Consolas"/>
              </a:rPr>
              <a:t>Next.js/React/Zod</a:t>
            </a:r>
          </a:p>
        </p:txBody>
      </p:sp>
      <p:sp>
        <p:nvSpPr>
          <p:cNvPr id="18" name="TextBox 18">
            <a:extLst xmlns:a="http://schemas.openxmlformats.org/drawingml/2006/main">
              <a:ext uri="{FF2B5EF4-FFF2-40B4-BE49-F238E27FC236}">
                <a16:creationId xmlns:a16="http://schemas.microsoft.com/office/drawing/2014/main" id="{9E317B72-B949-4765-89F9-C7AC1B982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184142" y="2749868"/>
            <a:ext cx="320954" cy="2640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50">
                <a:solidFill>
                  <a:srgbClr val="22302B"/>
                </a:solidFill>
                <a:latin typeface="Consolas"/>
                <a:ea typeface="Consolas"/>
                <a:cs typeface="Consolas"/>
              </a:rPr>
              <a:t>MIT</a:t>
            </a:r>
          </a:p>
        </p:txBody>
      </p:sp>
      <p:sp>
        <p:nvSpPr>
          <p:cNvPr id="19" name="Line 19">
            <a:extLst xmlns:a="http://schemas.openxmlformats.org/drawingml/2006/main">
              <a:ext uri="{FF2B5EF4-FFF2-40B4-BE49-F238E27FC236}">
                <a16:creationId xmlns:a16="http://schemas.microsoft.com/office/drawing/2014/main" id="{1F645F4B-51CD-4943-8E75-117A47837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9600" y="3048000"/>
            <a:ext cx="5905500" cy="9525"/>
          </a:xfrm>
          <a:custGeom xmlns:a="http://schemas.openxmlformats.org/drawingml/2006/main">
            <a:rect l="l" t="t" r="r" b="b"/>
            <a:pathLst>
              <a:path w="5905500" h="9525">
                <a:moveTo>
                  <a:pt x="0" y="0"/>
                </a:moveTo>
                <a:lnTo>
                  <a:pt x="59055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E4E8E1"/>
            </a:solidFill>
          </a:ln>
        </p:spPr>
      </p:sp>
      <p:sp>
        <p:nvSpPr>
          <p:cNvPr id="20" name="TextBox 20">
            <a:extLst xmlns:a="http://schemas.openxmlformats.org/drawingml/2006/main">
              <a:ext uri="{FF2B5EF4-FFF2-40B4-BE49-F238E27FC236}">
                <a16:creationId xmlns:a16="http://schemas.microsoft.com/office/drawing/2014/main" id="{D0E024EE-B91D-4629-95FC-A33514CEF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31342" y="3359468"/>
            <a:ext cx="609933" cy="2640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50">
                <a:solidFill>
                  <a:srgbClr val="22302B"/>
                </a:solidFill>
                <a:latin typeface="Consolas"/>
                <a:ea typeface="Consolas"/>
                <a:cs typeface="Consolas"/>
              </a:rPr>
              <a:t>Prisma</a:t>
            </a:r>
          </a:p>
        </p:txBody>
      </p:sp>
      <p:sp>
        <p:nvSpPr>
          <p:cNvPr id="21" name="TextBox 21">
            <a:extLst xmlns:a="http://schemas.openxmlformats.org/drawingml/2006/main">
              <a:ext uri="{FF2B5EF4-FFF2-40B4-BE49-F238E27FC236}">
                <a16:creationId xmlns:a16="http://schemas.microsoft.com/office/drawing/2014/main" id="{2A251623-67D6-49BA-B3A3-D9C7CE6FF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184142" y="3359468"/>
            <a:ext cx="1022699" cy="2640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50">
                <a:solidFill>
                  <a:srgbClr val="22302B"/>
                </a:solidFill>
                <a:latin typeface="Consolas"/>
                <a:ea typeface="Consolas"/>
                <a:cs typeface="Consolas"/>
              </a:rPr>
              <a:t>Apache-2.0</a:t>
            </a:r>
          </a:p>
        </p:txBody>
      </p:sp>
      <p:sp>
        <p:nvSpPr>
          <p:cNvPr id="22" name="Line 22">
            <a:extLst xmlns:a="http://schemas.openxmlformats.org/drawingml/2006/main">
              <a:ext uri="{FF2B5EF4-FFF2-40B4-BE49-F238E27FC236}">
                <a16:creationId xmlns:a16="http://schemas.microsoft.com/office/drawing/2014/main" id="{35C9505D-A2E4-4FAB-883A-77FB136AF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9600" y="3657600"/>
            <a:ext cx="5905500" cy="9525"/>
          </a:xfrm>
          <a:custGeom xmlns:a="http://schemas.openxmlformats.org/drawingml/2006/main">
            <a:rect l="l" t="t" r="r" b="b"/>
            <a:pathLst>
              <a:path w="5905500" h="9525">
                <a:moveTo>
                  <a:pt x="0" y="0"/>
                </a:moveTo>
                <a:lnTo>
                  <a:pt x="59055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E4E8E1"/>
            </a:solidFill>
          </a:ln>
        </p:spPr>
      </p:sp>
      <p:sp>
        <p:nvSpPr>
          <p:cNvPr id="23" name="TextBox 23">
            <a:extLst xmlns:a="http://schemas.openxmlformats.org/drawingml/2006/main">
              <a:ext uri="{FF2B5EF4-FFF2-40B4-BE49-F238E27FC236}">
                <a16:creationId xmlns:a16="http://schemas.microsoft.com/office/drawing/2014/main" id="{4F22C6D7-A9DF-44F2-9F96-6EF2FCF43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31342" y="3969068"/>
            <a:ext cx="1133721" cy="2640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50">
                <a:solidFill>
                  <a:srgbClr val="22302B"/>
                </a:solidFill>
                <a:latin typeface="Consolas"/>
                <a:ea typeface="Consolas"/>
                <a:cs typeface="Consolas"/>
              </a:rPr>
              <a:t>Lucide React</a:t>
            </a:r>
          </a:p>
        </p:txBody>
      </p:sp>
      <p:sp>
        <p:nvSpPr>
          <p:cNvPr id="24" name="TextBox 24">
            <a:extLst xmlns:a="http://schemas.openxmlformats.org/drawingml/2006/main">
              <a:ext uri="{FF2B5EF4-FFF2-40B4-BE49-F238E27FC236}">
                <a16:creationId xmlns:a16="http://schemas.microsoft.com/office/drawing/2014/main" id="{589C94C8-516D-4926-8A0F-296FFCF33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184142" y="3969068"/>
            <a:ext cx="282550" cy="2640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50">
                <a:solidFill>
                  <a:srgbClr val="22302B"/>
                </a:solidFill>
                <a:latin typeface="Consolas"/>
                <a:ea typeface="Consolas"/>
                <a:cs typeface="Consolas"/>
              </a:rPr>
              <a:t>ISC</a:t>
            </a:r>
          </a:p>
        </p:txBody>
      </p:sp>
      <p:sp>
        <p:nvSpPr>
          <p:cNvPr id="25" name="Line 25">
            <a:extLst xmlns:a="http://schemas.openxmlformats.org/drawingml/2006/main">
              <a:ext uri="{FF2B5EF4-FFF2-40B4-BE49-F238E27FC236}">
                <a16:creationId xmlns:a16="http://schemas.microsoft.com/office/drawing/2014/main" id="{07C78CC3-1EF0-472B-A5FA-B79DD4C56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9600" y="4267200"/>
            <a:ext cx="5905500" cy="9525"/>
          </a:xfrm>
          <a:custGeom xmlns:a="http://schemas.openxmlformats.org/drawingml/2006/main">
            <a:rect l="l" t="t" r="r" b="b"/>
            <a:pathLst>
              <a:path w="5905500" h="9525">
                <a:moveTo>
                  <a:pt x="0" y="0"/>
                </a:moveTo>
                <a:lnTo>
                  <a:pt x="59055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E4D40"/>
            </a:solidFill>
          </a:ln>
        </p:spPr>
      </p:sp>
      <p:sp>
        <p:nvSpPr>
          <p:cNvPr id="26" name="TextBox 26">
            <a:extLst xmlns:a="http://schemas.openxmlformats.org/drawingml/2006/main">
              <a:ext uri="{FF2B5EF4-FFF2-40B4-BE49-F238E27FC236}">
                <a16:creationId xmlns:a16="http://schemas.microsoft.com/office/drawing/2014/main" id="{A650EC4A-3CE0-4D2D-9329-CCDD4DB68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3504" y="4556760"/>
            <a:ext cx="6284976" cy="2346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>
                <a:solidFill>
                  <a:srgbClr val="8A968F"/>
                </a:solidFill>
                <a:latin typeface="Arial"/>
                <a:ea typeface="Arial"/>
                <a:cs typeface="Arial"/>
              </a:rPr>
              <a:t>2026-08-31 </a:t>
            </a:r>
            <a:r>
              <a:rPr sz="1200">
                <a:solidFill>
                  <a:srgbClr val="8A968F"/>
                </a:solidFill>
                <a:latin typeface="Microsoft YaHei"/>
                <a:ea typeface="Microsoft YaHei"/>
                <a:cs typeface="Microsoft YaHei"/>
              </a:rPr>
              <a:t>核对</a:t>
            </a:r>
            <a:r>
              <a:rPr sz="1200">
                <a:solidFill>
                  <a:srgbClr val="8A968F"/>
                </a:solidFill>
                <a:latin typeface="Arial"/>
                <a:ea typeface="Arial"/>
                <a:cs typeface="Arial"/>
              </a:rPr>
              <a:t> 27 </a:t>
            </a:r>
            <a:r>
              <a:rPr sz="1200">
                <a:solidFill>
                  <a:srgbClr val="8A968F"/>
                </a:solidFill>
                <a:latin typeface="Microsoft YaHei"/>
                <a:ea typeface="Microsoft YaHei"/>
                <a:cs typeface="Microsoft YaHei"/>
              </a:rPr>
              <a:t>个直接依赖（含开发工具）：</a:t>
            </a:r>
            <a:r>
              <a:rPr sz="1200">
                <a:solidFill>
                  <a:srgbClr val="8A968F"/>
                </a:solidFill>
                <a:latin typeface="Arial"/>
                <a:ea typeface="Arial"/>
                <a:cs typeface="Arial"/>
              </a:rPr>
              <a:t>MIT</a:t>
            </a:r>
            <a:r>
              <a:rPr sz="1200">
                <a:solidFill>
                  <a:srgbClr val="8A968F"/>
                </a:solidFill>
                <a:latin typeface="Microsoft YaHei"/>
                <a:ea typeface="Microsoft YaHei"/>
                <a:cs typeface="Microsoft YaHei"/>
              </a:rPr>
              <a:t>、</a:t>
            </a:r>
            <a:r>
              <a:rPr sz="1200">
                <a:solidFill>
                  <a:srgbClr val="8A968F"/>
                </a:solidFill>
                <a:latin typeface="Arial"/>
                <a:ea typeface="Arial"/>
                <a:cs typeface="Arial"/>
              </a:rPr>
              <a:t>Apache-2.0</a:t>
            </a:r>
            <a:r>
              <a:rPr sz="1200">
                <a:solidFill>
                  <a:srgbClr val="8A968F"/>
                </a:solidFill>
                <a:latin typeface="Microsoft YaHei"/>
                <a:ea typeface="Microsoft YaHei"/>
                <a:cs typeface="Microsoft YaHei"/>
              </a:rPr>
              <a:t>、</a:t>
            </a:r>
            <a:r>
              <a:rPr sz="1200">
                <a:solidFill>
                  <a:srgbClr val="8A968F"/>
                </a:solidFill>
                <a:latin typeface="Arial"/>
                <a:ea typeface="Arial"/>
                <a:cs typeface="Arial"/>
              </a:rPr>
              <a:t>ISC</a:t>
            </a:r>
            <a:r>
              <a:rPr sz="1200">
                <a:solidFill>
                  <a:srgbClr val="8A968F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</p:txBody>
      </p:sp>
      <p:sp>
        <p:nvSpPr>
          <p:cNvPr id="28" name="Freeform 28">
            <a:extLst xmlns:a="http://schemas.openxmlformats.org/drawingml/2006/main">
              <a:ext uri="{FF2B5EF4-FFF2-40B4-BE49-F238E27FC236}">
                <a16:creationId xmlns:a16="http://schemas.microsoft.com/office/drawing/2014/main" id="{50158394-AC3A-41B9-891B-BB857BFED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7068151" y="1674019"/>
            <a:ext cx="232508" cy="212479"/>
          </a:xfrm>
          <a:custGeom xmlns:a="http://schemas.openxmlformats.org/drawingml/2006/main">
            <a:rect l="l" t="t" r="r" b="b"/>
            <a:pathLst>
              <a:path w="232508" h="212479">
                <a:moveTo>
                  <a:pt x="116795" y="212479"/>
                </a:moveTo>
                <a:cubicBezTo>
                  <a:pt x="42208" y="189358"/>
                  <a:pt x="0" y="110638"/>
                  <a:pt x="22021" y="35719"/>
                </a:cubicBezTo>
                <a:cubicBezTo>
                  <a:pt x="59115" y="37416"/>
                  <a:pt x="95413" y="24605"/>
                  <a:pt x="123224" y="0"/>
                </a:cubicBezTo>
                <a:cubicBezTo>
                  <a:pt x="151035" y="24605"/>
                  <a:pt x="187333" y="37416"/>
                  <a:pt x="224427" y="35719"/>
                </a:cubicBezTo>
                <a:cubicBezTo>
                  <a:pt x="232508" y="63212"/>
                  <a:pt x="232135" y="92499"/>
                  <a:pt x="223356" y="119777"/>
                </a:cubicBez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E4D40"/>
            </a:solidFill>
          </a:ln>
        </p:spPr>
      </p:sp>
      <p:sp>
        <p:nvSpPr>
          <p:cNvPr id="29" name="Freeform 29">
            <a:extLst xmlns:a="http://schemas.openxmlformats.org/drawingml/2006/main">
              <a:ext uri="{FF2B5EF4-FFF2-40B4-BE49-F238E27FC236}">
                <a16:creationId xmlns:a16="http://schemas.microsoft.com/office/drawing/2014/main" id="{E3DC645F-CC36-4741-A759-498385250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7227094" y="1840706"/>
            <a:ext cx="71438" cy="47625"/>
          </a:xfrm>
          <a:custGeom xmlns:a="http://schemas.openxmlformats.org/drawingml/2006/main">
            <a:rect l="l" t="t" r="r" b="b"/>
            <a:pathLst>
              <a:path w="71438" h="47625">
                <a:moveTo>
                  <a:pt x="0" y="23812"/>
                </a:moveTo>
                <a:lnTo>
                  <a:pt x="23812" y="47625"/>
                </a:lnTo>
                <a:lnTo>
                  <a:pt x="71438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E4D40"/>
            </a:solidFill>
          </a:ln>
        </p:spPr>
      </p:sp>
      <p:sp>
        <p:nvSpPr>
          <p:cNvPr id="31" name="TextBox 31">
            <a:extLst xmlns:a="http://schemas.openxmlformats.org/drawingml/2006/main">
              <a:ext uri="{FF2B5EF4-FFF2-40B4-BE49-F238E27FC236}">
                <a16:creationId xmlns:a16="http://schemas.microsoft.com/office/drawing/2014/main" id="{517F26A6-E58F-4D04-A3E8-87A023EFC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7479030" y="1704975"/>
            <a:ext cx="863346" cy="2933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1">
                <a:solidFill>
                  <a:srgbClr val="22302B"/>
                </a:solidFill>
                <a:latin typeface="Microsoft YaHei"/>
                <a:ea typeface="Microsoft YaHei"/>
                <a:cs typeface="Microsoft YaHei"/>
              </a:rPr>
              <a:t>开发工作</a:t>
            </a:r>
          </a:p>
        </p:txBody>
      </p:sp>
      <p:sp>
        <p:nvSpPr>
          <p:cNvPr id="32" name="TextBox 32">
            <a:extLst xmlns:a="http://schemas.openxmlformats.org/drawingml/2006/main">
              <a:ext uri="{FF2B5EF4-FFF2-40B4-BE49-F238E27FC236}">
                <a16:creationId xmlns:a16="http://schemas.microsoft.com/office/drawing/2014/main" id="{D9D7A2E0-C9F2-4A35-9E88-0F18793ED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7041642" y="2216468"/>
            <a:ext cx="3830193" cy="2640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50">
                <a:solidFill>
                  <a:srgbClr val="5C6B64"/>
                </a:solidFill>
                <a:latin typeface="Arial"/>
                <a:ea typeface="Arial"/>
                <a:cs typeface="Arial"/>
              </a:rPr>
              <a:t>OneCase </a:t>
            </a:r>
            <a:r>
              <a:rPr sz="1350">
                <a:solidFill>
                  <a:srgbClr val="5C6B64"/>
                </a:solidFill>
                <a:latin typeface="Microsoft YaHei"/>
                <a:ea typeface="Microsoft YaHei"/>
                <a:cs typeface="Microsoft YaHei"/>
              </a:rPr>
              <a:t>由参赛者独立开发，</a:t>
            </a:r>
          </a:p>
        </p:txBody>
      </p:sp>
      <p:sp>
        <p:nvSpPr>
          <p:cNvPr id="33" name="TextBox 33">
            <a:extLst xmlns:a="http://schemas.openxmlformats.org/drawingml/2006/main">
              <a:ext uri="{FF2B5EF4-FFF2-40B4-BE49-F238E27FC236}">
                <a16:creationId xmlns:a16="http://schemas.microsoft.com/office/drawing/2014/main" id="{4453283C-55B8-490C-B4CF-509635960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7041642" y="2502218"/>
            <a:ext cx="4011930" cy="2640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50">
                <a:solidFill>
                  <a:srgbClr val="5C6B64"/>
                </a:solidFill>
                <a:latin typeface="Microsoft YaHei"/>
                <a:ea typeface="Microsoft YaHei"/>
                <a:cs typeface="Microsoft YaHei"/>
              </a:rPr>
              <a:t>负责产品设计、业务规则、代码和测试。</a:t>
            </a:r>
          </a:p>
        </p:txBody>
      </p:sp>
      <p:sp>
        <p:nvSpPr>
          <p:cNvPr id="34" name="Line 34">
            <a:extLst xmlns:a="http://schemas.openxmlformats.org/drawingml/2006/main">
              <a:ext uri="{FF2B5EF4-FFF2-40B4-BE49-F238E27FC236}">
                <a16:creationId xmlns:a16="http://schemas.microsoft.com/office/drawing/2014/main" id="{F91E6F3C-9711-4C9A-9599-8CDE6309C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7048500" y="3143250"/>
            <a:ext cx="4533900" cy="9525"/>
          </a:xfrm>
          <a:custGeom xmlns:a="http://schemas.openxmlformats.org/drawingml/2006/main">
            <a:rect l="l" t="t" r="r" b="b"/>
            <a:pathLst>
              <a:path w="4533900" h="9525">
                <a:moveTo>
                  <a:pt x="0" y="0"/>
                </a:moveTo>
                <a:lnTo>
                  <a:pt x="45339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D8DED6"/>
            </a:solidFill>
          </a:ln>
        </p:spPr>
      </p:sp>
      <p:sp>
        <p:nvSpPr>
          <p:cNvPr id="36" name="TextBox 36">
            <a:extLst xmlns:a="http://schemas.openxmlformats.org/drawingml/2006/main">
              <a:ext uri="{FF2B5EF4-FFF2-40B4-BE49-F238E27FC236}">
                <a16:creationId xmlns:a16="http://schemas.microsoft.com/office/drawing/2014/main" id="{1BF50E7B-E10F-4CF0-A5CC-B1417C168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7040880" y="3457575"/>
            <a:ext cx="1617040" cy="2933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1">
                <a:solidFill>
                  <a:srgbClr val="22302B"/>
                </a:solidFill>
                <a:latin typeface="Arial"/>
                <a:ea typeface="Arial"/>
                <a:cs typeface="Arial"/>
              </a:rPr>
              <a:t>AI </a:t>
            </a:r>
            <a:r>
              <a:rPr sz="1500" b="1">
                <a:solidFill>
                  <a:srgbClr val="22302B"/>
                </a:solidFill>
                <a:latin typeface="Microsoft YaHei"/>
                <a:ea typeface="Microsoft YaHei"/>
                <a:cs typeface="Microsoft YaHei"/>
              </a:rPr>
              <a:t>辅助开发</a:t>
            </a:r>
          </a:p>
        </p:txBody>
      </p:sp>
      <p:sp>
        <p:nvSpPr>
          <p:cNvPr id="37" name="TextBox 37">
            <a:extLst xmlns:a="http://schemas.openxmlformats.org/drawingml/2006/main">
              <a:ext uri="{FF2B5EF4-FFF2-40B4-BE49-F238E27FC236}">
                <a16:creationId xmlns:a16="http://schemas.microsoft.com/office/drawing/2014/main" id="{C12E0799-C811-419F-8F35-567BBA9F0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7041642" y="3969068"/>
            <a:ext cx="3556559" cy="2640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50">
                <a:solidFill>
                  <a:srgbClr val="5C6B64"/>
                </a:solidFill>
                <a:latin typeface="Arial"/>
                <a:ea typeface="Arial"/>
                <a:cs typeface="Arial"/>
              </a:rPr>
              <a:t>AI </a:t>
            </a:r>
            <a:r>
              <a:rPr sz="1350">
                <a:solidFill>
                  <a:srgbClr val="5C6B64"/>
                </a:solidFill>
                <a:latin typeface="Microsoft YaHei"/>
                <a:ea typeface="Microsoft YaHei"/>
                <a:cs typeface="Microsoft YaHei"/>
              </a:rPr>
              <a:t>编程工具用于辅助写代码和测试；</a:t>
            </a:r>
          </a:p>
        </p:txBody>
      </p:sp>
      <p:sp>
        <p:nvSpPr>
          <p:cNvPr id="38" name="TextBox 38">
            <a:extLst xmlns:a="http://schemas.openxmlformats.org/drawingml/2006/main">
              <a:ext uri="{FF2B5EF4-FFF2-40B4-BE49-F238E27FC236}">
                <a16:creationId xmlns:a16="http://schemas.microsoft.com/office/drawing/2014/main" id="{ABAD04DB-8405-4164-8DF7-A6A9824EA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7041642" y="4254818"/>
            <a:ext cx="3648456" cy="2640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50">
                <a:solidFill>
                  <a:srgbClr val="5C6B64"/>
                </a:solidFill>
                <a:latin typeface="Microsoft YaHei"/>
                <a:ea typeface="Microsoft YaHei"/>
                <a:cs typeface="Microsoft YaHei"/>
              </a:rPr>
              <a:t>需求、方案和最终检查由开发者负责。</a:t>
            </a:r>
          </a:p>
        </p:txBody>
      </p:sp>
      <p:sp>
        <p:nvSpPr>
          <p:cNvPr id="39" name="TextBox 39">
            <a:extLst xmlns:a="http://schemas.openxmlformats.org/drawingml/2006/main">
              <a:ext uri="{FF2B5EF4-FFF2-40B4-BE49-F238E27FC236}">
                <a16:creationId xmlns:a16="http://schemas.microsoft.com/office/drawing/2014/main" id="{AF511F9C-9945-4363-BBF2-63F98F7A9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7041642" y="4540568"/>
            <a:ext cx="3648456" cy="2640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50">
                <a:solidFill>
                  <a:srgbClr val="5C6B64"/>
                </a:solidFill>
                <a:latin typeface="Microsoft YaHei"/>
                <a:ea typeface="Microsoft YaHei"/>
                <a:cs typeface="Microsoft YaHei"/>
              </a:rPr>
              <a:t>框架、模型和第三方代码注明来源。</a:t>
            </a:r>
          </a:p>
        </p:txBody>
      </p:sp>
      <p:sp>
        <p:nvSpPr>
          <p:cNvPr id="41" name="Line 41">
            <a:extLst xmlns:a="http://schemas.openxmlformats.org/drawingml/2006/main">
              <a:ext uri="{FF2B5EF4-FFF2-40B4-BE49-F238E27FC236}">
                <a16:creationId xmlns:a16="http://schemas.microsoft.com/office/drawing/2014/main" id="{71467D33-EDA5-42A0-8A45-E38AE3395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9600" y="5143500"/>
            <a:ext cx="10972800" cy="9525"/>
          </a:xfrm>
          <a:custGeom xmlns:a="http://schemas.openxmlformats.org/drawingml/2006/main"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D8DED6"/>
            </a:solidFill>
          </a:ln>
        </p:spPr>
      </p:sp>
      <p:sp>
        <p:nvSpPr>
          <p:cNvPr id="42" name="TextBox 42">
            <a:extLst xmlns:a="http://schemas.openxmlformats.org/drawingml/2006/main">
              <a:ext uri="{FF2B5EF4-FFF2-40B4-BE49-F238E27FC236}">
                <a16:creationId xmlns:a16="http://schemas.microsoft.com/office/drawing/2014/main" id="{20DFDF2C-F512-444D-89B4-947389C10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98932" y="5488305"/>
            <a:ext cx="9012326" cy="41071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00">
                <a:solidFill>
                  <a:srgbClr val="1E4D40"/>
                </a:solidFill>
                <a:latin typeface="SimSun"/>
                <a:ea typeface="SimSun"/>
                <a:cs typeface="SimSun"/>
              </a:rPr>
              <a:t>这里列出主要组件及开发分工，不把第三方代码算作自己的成果。</a:t>
            </a:r>
          </a:p>
        </p:txBody>
      </p:sp>
      <p:sp>
        <p:nvSpPr>
          <p:cNvPr id="44" name="TextBox 44">
            <a:extLst xmlns:a="http://schemas.openxmlformats.org/drawingml/2006/main">
              <a:ext uri="{FF2B5EF4-FFF2-40B4-BE49-F238E27FC236}">
                <a16:creationId xmlns:a16="http://schemas.microsoft.com/office/drawing/2014/main" id="{F169CEFA-5C91-4585-93BE-DFCA92752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3504" y="6480810"/>
            <a:ext cx="1522432" cy="2346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>
                <a:solidFill>
                  <a:srgbClr val="8A968F"/>
                </a:solidFill>
                <a:latin typeface="Arial"/>
                <a:ea typeface="Arial"/>
                <a:cs typeface="Arial"/>
              </a:rPr>
              <a:t>OneCase · </a:t>
            </a:r>
            <a:r>
              <a:rPr sz="1200">
                <a:solidFill>
                  <a:srgbClr val="8A968F"/>
                </a:solidFill>
                <a:latin typeface="Microsoft YaHei"/>
                <a:ea typeface="Microsoft YaHei"/>
                <a:cs typeface="Microsoft YaHei"/>
              </a:rPr>
              <a:t>初赛路演</a:t>
            </a:r>
          </a:p>
        </p:txBody>
      </p:sp>
      <p:sp>
        <p:nvSpPr>
          <p:cNvPr id="45" name="TextBox 45">
            <a:extLst xmlns:a="http://schemas.openxmlformats.org/drawingml/2006/main">
              <a:ext uri="{FF2B5EF4-FFF2-40B4-BE49-F238E27FC236}">
                <a16:creationId xmlns:a16="http://schemas.microsoft.com/office/drawing/2014/main" id="{E66EEAF4-5FA7-4699-90C6-AC6809583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035132" y="6480810"/>
            <a:ext cx="553364" cy="2346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200">
                <a:solidFill>
                  <a:srgbClr val="8A968F"/>
                </a:solidFill>
                <a:latin typeface="Arial"/>
                <a:ea typeface="Arial"/>
                <a:cs typeface="Arial"/>
              </a:rPr>
              <a:t>13 / 14</a:t>
            </a:r>
          </a:p>
        </p:txBody>
      </p:sp>
    </p:spTree>
    <p:extLst>
      <p:ext uri="{BB962C8B-B14F-4D97-AF65-F5344CB8AC3E}">
        <p14:creationId xmlns:p14="http://schemas.microsoft.com/office/powerpoint/2010/main" val="2106186556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2">
            <a:extLst xmlns:a="http://schemas.openxmlformats.org/drawingml/2006/main">
              <a:ext uri="{FF2B5EF4-FFF2-40B4-BE49-F238E27FC236}">
                <a16:creationId xmlns:a16="http://schemas.microsoft.com/office/drawing/2014/main" id="{573504AC-E022-44CA-8D38-EEE1F52BE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4D40"/>
          </a:solidFill>
          <a:ln xmlns:a="http://schemas.openxmlformats.org/drawingml/2006/main">
            <a:noFill/>
          </a:ln>
        </p:spPr>
      </p:sp>
      <p:sp>
        <p:nvSpPr>
          <p:cNvPr id="3" name="TextBox 3">
            <a:extLst xmlns:a="http://schemas.openxmlformats.org/drawingml/2006/main">
              <a:ext uri="{FF2B5EF4-FFF2-40B4-BE49-F238E27FC236}">
                <a16:creationId xmlns:a16="http://schemas.microsoft.com/office/drawing/2014/main" id="{812263BF-B5DC-49CD-9BC0-465D22EC4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94360" y="1295400"/>
            <a:ext cx="1956206" cy="5867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FAFAF7"/>
                </a:solidFill>
                <a:latin typeface="Georgia"/>
                <a:ea typeface="Georgia"/>
                <a:cs typeface="Georgia"/>
              </a:rPr>
              <a:t>OneCase</a:t>
            </a:r>
          </a:p>
        </p:txBody>
      </p:sp>
      <p:sp>
        <p:nvSpPr>
          <p:cNvPr id="4" name="Line 4">
            <a:extLst xmlns:a="http://schemas.openxmlformats.org/drawingml/2006/main">
              <a:ext uri="{FF2B5EF4-FFF2-40B4-BE49-F238E27FC236}">
                <a16:creationId xmlns:a16="http://schemas.microsoft.com/office/drawing/2014/main" id="{A60C9C2A-0C17-4EAD-9717-A19D162D4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9600" y="1943100"/>
            <a:ext cx="10972800" cy="9525"/>
          </a:xfrm>
          <a:custGeom xmlns:a="http://schemas.openxmlformats.org/drawingml/2006/main"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5E8C7B"/>
            </a:solidFill>
          </a:ln>
        </p:spPr>
      </p:sp>
      <p:sp>
        <p:nvSpPr>
          <p:cNvPr id="5" name="TextBox 5">
            <a:extLst xmlns:a="http://schemas.openxmlformats.org/drawingml/2006/main">
              <a:ext uri="{FF2B5EF4-FFF2-40B4-BE49-F238E27FC236}">
                <a16:creationId xmlns:a16="http://schemas.microsoft.com/office/drawing/2014/main" id="{7C4489B9-C530-4366-BB74-98CA98DC9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90550" y="2689860"/>
            <a:ext cx="9292697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4200" b="1">
                <a:solidFill>
                  <a:srgbClr val="FAFAF7"/>
                </a:solidFill>
                <a:latin typeface="Georgia"/>
                <a:ea typeface="Georgia"/>
                <a:cs typeface="Georgia"/>
              </a:rPr>
              <a:t>AI </a:t>
            </a:r>
            <a:r>
              <a:rPr sz="4200" b="1">
                <a:solidFill>
                  <a:srgbClr val="FAFAF7"/>
                </a:solidFill>
                <a:latin typeface="SimSun"/>
                <a:ea typeface="SimSun"/>
                <a:cs typeface="SimSun"/>
              </a:rPr>
              <a:t>先整理，</a:t>
            </a:r>
            <a:r>
              <a:rPr sz="4200" b="1">
                <a:solidFill>
                  <a:srgbClr val="D97B29"/>
                </a:solidFill>
                <a:latin typeface="SimSun"/>
                <a:ea typeface="SimSun"/>
                <a:cs typeface="SimSun"/>
              </a:rPr>
              <a:t>工作人员再确认。</a:t>
            </a:r>
          </a:p>
        </p:txBody>
      </p:sp>
      <p:sp>
        <p:nvSpPr>
          <p:cNvPr id="6" name="TextBox 6">
            <a:extLst xmlns:a="http://schemas.openxmlformats.org/drawingml/2006/main">
              <a:ext uri="{FF2B5EF4-FFF2-40B4-BE49-F238E27FC236}">
                <a16:creationId xmlns:a16="http://schemas.microsoft.com/office/drawing/2014/main" id="{6CD169A6-366E-4165-9B01-A4F397E4C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0456" y="3691890"/>
            <a:ext cx="4137660" cy="3520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>
                <a:solidFill>
                  <a:srgbClr val="F0F2ED"/>
                </a:solidFill>
                <a:latin typeface="Microsoft YaHei"/>
                <a:ea typeface="Microsoft YaHei"/>
                <a:cs typeface="Microsoft YaHei"/>
              </a:rPr>
              <a:t>保留反馈来源，跟进处理进度。</a:t>
            </a:r>
          </a:p>
        </p:txBody>
      </p:sp>
      <p:sp>
        <p:nvSpPr>
          <p:cNvPr id="8" name="TextBox 8">
            <a:extLst xmlns:a="http://schemas.openxmlformats.org/drawingml/2006/main">
              <a:ext uri="{FF2B5EF4-FFF2-40B4-BE49-F238E27FC236}">
                <a16:creationId xmlns:a16="http://schemas.microsoft.com/office/drawing/2014/main" id="{D7D6E522-5203-4C39-906F-2A5A88CD6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2742" y="4712018"/>
            <a:ext cx="867880" cy="2640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50" b="1" spc="225">
                <a:solidFill>
                  <a:srgbClr val="F0F2ED"/>
                </a:solidFill>
                <a:latin typeface="Microsoft YaHei"/>
                <a:ea typeface="Microsoft YaHei"/>
                <a:cs typeface="Microsoft YaHei"/>
              </a:rPr>
              <a:t>试用计划</a:t>
            </a:r>
          </a:p>
        </p:txBody>
      </p:sp>
      <p:sp>
        <p:nvSpPr>
          <p:cNvPr id="9" name="TextBox 9">
            <a:extLst xmlns:a="http://schemas.openxmlformats.org/drawingml/2006/main">
              <a:ext uri="{FF2B5EF4-FFF2-40B4-BE49-F238E27FC236}">
                <a16:creationId xmlns:a16="http://schemas.microsoft.com/office/drawing/2014/main" id="{409124F2-6690-4700-AF35-B807A7BAF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1980" y="5095875"/>
            <a:ext cx="2902839" cy="2933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>
                <a:solidFill>
                  <a:srgbClr val="F0F2ED"/>
                </a:solidFill>
                <a:latin typeface="Microsoft YaHei"/>
                <a:ea typeface="Microsoft YaHei"/>
                <a:cs typeface="Microsoft YaHei"/>
              </a:rPr>
              <a:t>了解流程</a:t>
            </a:r>
            <a:r>
              <a:rPr sz="1500">
                <a:solidFill>
                  <a:srgbClr val="F0F2ED"/>
                </a:solidFill>
                <a:latin typeface="Arial"/>
                <a:ea typeface="Arial"/>
                <a:cs typeface="Arial"/>
              </a:rPr>
              <a:t> · </a:t>
            </a:r>
            <a:r>
              <a:rPr sz="1500">
                <a:solidFill>
                  <a:srgbClr val="F0F2ED"/>
                </a:solidFill>
                <a:latin typeface="Microsoft YaHei"/>
                <a:ea typeface="Microsoft YaHei"/>
                <a:cs typeface="Microsoft YaHei"/>
              </a:rPr>
              <a:t>试用比较</a:t>
            </a:r>
          </a:p>
        </p:txBody>
      </p:sp>
      <p:sp>
        <p:nvSpPr>
          <p:cNvPr id="10" name="TextBox 10">
            <a:extLst xmlns:a="http://schemas.openxmlformats.org/drawingml/2006/main">
              <a:ext uri="{FF2B5EF4-FFF2-40B4-BE49-F238E27FC236}">
                <a16:creationId xmlns:a16="http://schemas.microsoft.com/office/drawing/2014/main" id="{86054D55-CA53-428D-934E-AC78A6C33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3504" y="5547360"/>
            <a:ext cx="3404616" cy="2346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>
                <a:solidFill>
                  <a:srgbClr val="F0F2ED"/>
                </a:solidFill>
                <a:latin typeface="Microsoft YaHei"/>
                <a:ea typeface="Microsoft YaHei"/>
                <a:cs typeface="Microsoft YaHei"/>
              </a:rPr>
              <a:t>希望和社区工作人员一起试用。欢迎提问。</a:t>
            </a:r>
          </a:p>
        </p:txBody>
      </p:sp>
      <p:sp>
        <p:nvSpPr>
          <p:cNvPr id="12" name="Line 12">
            <a:extLst xmlns:a="http://schemas.openxmlformats.org/drawingml/2006/main">
              <a:ext uri="{FF2B5EF4-FFF2-40B4-BE49-F238E27FC236}">
                <a16:creationId xmlns:a16="http://schemas.microsoft.com/office/drawing/2014/main" id="{FE097F39-30C5-4F96-9578-1C70CDED4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9600" y="6172200"/>
            <a:ext cx="10972800" cy="9525"/>
          </a:xfrm>
          <a:custGeom xmlns:a="http://schemas.openxmlformats.org/drawingml/2006/main"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5E8C7B"/>
            </a:solidFill>
          </a:ln>
        </p:spPr>
      </p:sp>
      <p:sp>
        <p:nvSpPr>
          <p:cNvPr id="13" name="TextBox 13">
            <a:extLst xmlns:a="http://schemas.openxmlformats.org/drawingml/2006/main">
              <a:ext uri="{FF2B5EF4-FFF2-40B4-BE49-F238E27FC236}">
                <a16:creationId xmlns:a16="http://schemas.microsoft.com/office/drawing/2014/main" id="{1B0FB05B-9465-403E-84B6-45DE87CBC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3504" y="6404610"/>
            <a:ext cx="2179930" cy="2346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>
                <a:solidFill>
                  <a:srgbClr val="F0F2ED"/>
                </a:solidFill>
                <a:latin typeface="Microsoft YaHei"/>
                <a:ea typeface="Microsoft YaHei"/>
                <a:cs typeface="Microsoft YaHei"/>
              </a:rPr>
              <a:t>个人参赛</a:t>
            </a:r>
            <a:r>
              <a:rPr sz="1200">
                <a:solidFill>
                  <a:srgbClr val="F0F2ED"/>
                </a:solidFill>
                <a:latin typeface="Arial"/>
                <a:ea typeface="Arial"/>
                <a:cs typeface="Arial"/>
              </a:rPr>
              <a:t> · AI+</a:t>
            </a:r>
            <a:r>
              <a:rPr sz="1200">
                <a:solidFill>
                  <a:srgbClr val="F0F2ED"/>
                </a:solidFill>
                <a:latin typeface="Microsoft YaHei"/>
                <a:ea typeface="Microsoft YaHei"/>
                <a:cs typeface="Microsoft YaHei"/>
              </a:rPr>
              <a:t>民生</a:t>
            </a:r>
          </a:p>
        </p:txBody>
      </p:sp>
      <p:sp>
        <p:nvSpPr>
          <p:cNvPr id="14" name="TextBox 14">
            <a:extLst xmlns:a="http://schemas.openxmlformats.org/drawingml/2006/main">
              <a:ext uri="{FF2B5EF4-FFF2-40B4-BE49-F238E27FC236}">
                <a16:creationId xmlns:a16="http://schemas.microsoft.com/office/drawing/2014/main" id="{7A5E3F2B-E737-4201-8B57-E4E49D6C3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390022" y="6404610"/>
            <a:ext cx="1198474" cy="2346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200">
                <a:solidFill>
                  <a:srgbClr val="F0F2ED"/>
                </a:solidFill>
                <a:latin typeface="Arial"/>
                <a:ea typeface="Arial"/>
                <a:cs typeface="Arial"/>
              </a:rPr>
              <a:t>Q &amp; A · 14 / 14</a:t>
            </a:r>
          </a:p>
        </p:txBody>
      </p:sp>
    </p:spTree>
    <p:extLst>
      <p:ext uri="{BB962C8B-B14F-4D97-AF65-F5344CB8AC3E}">
        <p14:creationId xmlns:p14="http://schemas.microsoft.com/office/powerpoint/2010/main" val="2127119567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2026-08-31T12:44:30.9180000Z</dcterms:created>
  <dcterms:modified xsi:type="dcterms:W3CDTF">2026-08-31T12:44:30.9180000Z</dcterms:modified>
</coreProperties>
</file>