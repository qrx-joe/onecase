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c4035a1f1e4dd4" /><Relationship Type="http://schemas.openxmlformats.org/officeDocument/2006/relationships/extended-properties" Target="/docProps/app.xml" Id="R006750f1428d4e9f" /><Relationship Type="http://schemas.openxmlformats.org/officeDocument/2006/relationships/officeDocument" Target="/ppt/presentation.xml" Id="Rc350c8e35dca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9dd483b3e468d"/>
  </p:sldMasterIdLst>
  <p:notesMasterIdLst>
    <p:notesMasterId xmlns:r="http://schemas.openxmlformats.org/officeDocument/2006/relationships" r:id="R9ab1f3be523244eb"/>
  </p:notesMasterIdLst>
  <p:sldIdLst>
    <p:sldId xmlns:r="http://schemas.openxmlformats.org/officeDocument/2006/relationships" id="256" r:id="R3fc05363b55846e6"/>
    <p:sldId xmlns:r="http://schemas.openxmlformats.org/officeDocument/2006/relationships" id="257" r:id="Rbee2401facaf4c88"/>
    <p:sldId xmlns:r="http://schemas.openxmlformats.org/officeDocument/2006/relationships" id="258" r:id="Rf50d097c11e14d13"/>
    <p:sldId xmlns:r="http://schemas.openxmlformats.org/officeDocument/2006/relationships" id="259" r:id="Ra94f2dd98aad4a06"/>
    <p:sldId xmlns:r="http://schemas.openxmlformats.org/officeDocument/2006/relationships" id="260" r:id="R68eabf86589f4a41"/>
    <p:sldId xmlns:r="http://schemas.openxmlformats.org/officeDocument/2006/relationships" id="261" r:id="R84d99c9ebf4f45d5"/>
    <p:sldId xmlns:r="http://schemas.openxmlformats.org/officeDocument/2006/relationships" id="262" r:id="R96d1743a52c641e9"/>
    <p:sldId xmlns:r="http://schemas.openxmlformats.org/officeDocument/2006/relationships" id="263" r:id="R09ab0932f51241c0"/>
    <p:sldId xmlns:r="http://schemas.openxmlformats.org/officeDocument/2006/relationships" id="264" r:id="R69c7405349ab42ee"/>
    <p:sldId xmlns:r="http://schemas.openxmlformats.org/officeDocument/2006/relationships" id="265" r:id="Rb7268ad673034d9d"/>
    <p:sldId xmlns:r="http://schemas.openxmlformats.org/officeDocument/2006/relationships" id="266" r:id="R7c021dc0cf1f4331"/>
    <p:sldId xmlns:r="http://schemas.openxmlformats.org/officeDocument/2006/relationships" id="267" r:id="R1c44b06487e04c26"/>
    <p:sldId xmlns:r="http://schemas.openxmlformats.org/officeDocument/2006/relationships" id="268" r:id="Rb255f11cd81a47ff"/>
    <p:sldId xmlns:r="http://schemas.openxmlformats.org/officeDocument/2006/relationships" id="269" r:id="R477707725c3445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a0f24506cc4d38" /><Relationship Type="http://schemas.openxmlformats.org/officeDocument/2006/relationships/slideMaster" Target="/ppt/slideMasters/slideMaster1.xml" Id="R2fb9dd483b3e468d" /><Relationship Type="http://schemas.openxmlformats.org/officeDocument/2006/relationships/notesMaster" Target="/ppt/notesMasters/notesMaster1.xml" Id="R9ab1f3be523244eb" /><Relationship Type="http://schemas.openxmlformats.org/officeDocument/2006/relationships/presProps" Target="/ppt/presProps.xml" Id="Rbe6ea7fec14541a5" /><Relationship Type="http://schemas.openxmlformats.org/officeDocument/2006/relationships/viewProps" Target="/ppt/viewProps.xml" Id="R0ade868b6ac54f1a" /><Relationship Type="http://schemas.openxmlformats.org/officeDocument/2006/relationships/tableStyles" Target="/ppt/tableStyles.xml" Id="Rab95d84ab33141cb" /><Relationship Type="http://schemas.openxmlformats.org/officeDocument/2006/relationships/slide" Target="/ppt/slides/slide1.xml" Id="R3fc05363b55846e6" /><Relationship Type="http://schemas.openxmlformats.org/officeDocument/2006/relationships/slide" Target="/ppt/slides/slide2.xml" Id="Rbee2401facaf4c88" /><Relationship Type="http://schemas.openxmlformats.org/officeDocument/2006/relationships/slide" Target="/ppt/slides/slide3.xml" Id="Rf50d097c11e14d13" /><Relationship Type="http://schemas.openxmlformats.org/officeDocument/2006/relationships/slide" Target="/ppt/slides/slide4.xml" Id="Ra94f2dd98aad4a06" /><Relationship Type="http://schemas.openxmlformats.org/officeDocument/2006/relationships/slide" Target="/ppt/slides/slide5.xml" Id="R68eabf86589f4a41" /><Relationship Type="http://schemas.openxmlformats.org/officeDocument/2006/relationships/slide" Target="/ppt/slides/slide6.xml" Id="R84d99c9ebf4f45d5" /><Relationship Type="http://schemas.openxmlformats.org/officeDocument/2006/relationships/slide" Target="/ppt/slides/slide7.xml" Id="R96d1743a52c641e9" /><Relationship Type="http://schemas.openxmlformats.org/officeDocument/2006/relationships/slide" Target="/ppt/slides/slide8.xml" Id="R09ab0932f51241c0" /><Relationship Type="http://schemas.openxmlformats.org/officeDocument/2006/relationships/slide" Target="/ppt/slides/slide9.xml" Id="R69c7405349ab42ee" /><Relationship Type="http://schemas.openxmlformats.org/officeDocument/2006/relationships/slide" Target="/ppt/slides/slide10.xml" Id="Rb7268ad673034d9d" /><Relationship Type="http://schemas.openxmlformats.org/officeDocument/2006/relationships/slide" Target="/ppt/slides/slide11.xml" Id="R7c021dc0cf1f4331" /><Relationship Type="http://schemas.openxmlformats.org/officeDocument/2006/relationships/slide" Target="/ppt/slides/slide12.xml" Id="R1c44b06487e04c26" /><Relationship Type="http://schemas.openxmlformats.org/officeDocument/2006/relationships/slide" Target="/ppt/slides/slide13.xml" Id="Rb255f11cd81a47ff" /><Relationship Type="http://schemas.openxmlformats.org/officeDocument/2006/relationships/slide" Target="/ppt/slides/slide14.xml" Id="R477707725c34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416494f4948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aadcbb9d04acc" /><Relationship Type="http://schemas.openxmlformats.org/officeDocument/2006/relationships/notesMaster" Target="/ppt/notesMasters/notesMaster1.xml" Id="R709ba6c30e81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9eb61baed04031" /><Relationship Type="http://schemas.openxmlformats.org/officeDocument/2006/relationships/notesMaster" Target="/ppt/notesMasters/notesMaster1.xml" Id="Rb27bfc514a3d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f1b211e0ec47a8" /><Relationship Type="http://schemas.openxmlformats.org/officeDocument/2006/relationships/notesMaster" Target="/ppt/notesMasters/notesMaster1.xml" Id="R0c09bbe5cc4d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b7917ab384309" /><Relationship Type="http://schemas.openxmlformats.org/officeDocument/2006/relationships/notesMaster" Target="/ppt/notesMasters/notesMaster1.xml" Id="R5c5dcb28b30f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6d04116b994a97" /><Relationship Type="http://schemas.openxmlformats.org/officeDocument/2006/relationships/notesMaster" Target="/ppt/notesMasters/notesMaster1.xml" Id="Rbda7c8ecf2fe47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21d9950484b4c" /><Relationship Type="http://schemas.openxmlformats.org/officeDocument/2006/relationships/notesMaster" Target="/ppt/notesMasters/notesMaster1.xml" Id="Rc9315fc8f1964f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c0b3a6a3214af5" /><Relationship Type="http://schemas.openxmlformats.org/officeDocument/2006/relationships/notesMaster" Target="/ppt/notesMasters/notesMaster1.xml" Id="R6bfa58a288324b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13925b08b14d3d" /><Relationship Type="http://schemas.openxmlformats.org/officeDocument/2006/relationships/notesMaster" Target="/ppt/notesMasters/notesMaster1.xml" Id="Rc335ebfe9ebd47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751bb26164ab1" /><Relationship Type="http://schemas.openxmlformats.org/officeDocument/2006/relationships/notesMaster" Target="/ppt/notesMasters/notesMaster1.xml" Id="R13d2f0e1b29547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8c8962f51248b5" /><Relationship Type="http://schemas.openxmlformats.org/officeDocument/2006/relationships/notesMaster" Target="/ppt/notesMasters/notesMaster1.xml" Id="R7c913ecc885048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ccf1ca991b48ed" /><Relationship Type="http://schemas.openxmlformats.org/officeDocument/2006/relationships/notesMaster" Target="/ppt/notesMasters/notesMaster1.xml" Id="R0f4804f2854547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a3877273b34b0e" /><Relationship Type="http://schemas.openxmlformats.org/officeDocument/2006/relationships/notesMaster" Target="/ppt/notesMasters/notesMaster1.xml" Id="Rbc5dfb7ce80948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19ed78a62041ba" /><Relationship Type="http://schemas.openxmlformats.org/officeDocument/2006/relationships/notesMaster" Target="/ppt/notesMasters/notesMaster1.xml" Id="R882cec863c2c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60e4398dc84ff2" /><Relationship Type="http://schemas.openxmlformats.org/officeDocument/2006/relationships/notesMaster" Target="/ppt/notesMasters/notesMaster1.xml" Id="R6f62476fb759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大家好，我以个人身份参加 AI+民生赛道，项目叫 OneCase。它帮社区工作人员整理居民的文字反馈：先生成草稿，由人检查，再新建事项或关联已有事项，之后继续跟进处理进度。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看这条合成的留言：灯坏了，垃圾也没人清。它是一条消息，但说了两件需要分别处理的事。如果另一位居民已经报过这盏灯，还要核对是不是同一个问题。OneCase 想帮忙做的，就是记入台账前的这段整理工作。不过，这类工作在真实社区有多频繁、花多少时间，我还需要去了解。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由我一个人开发。我先设计反馈如何拆分、什么时候需要确认、状态怎么变更，再实现页面、模型接口和数据存储，最后补测试和文档。目前我还缺少社区一线经验，所以接下来想找工作人员一起核对流程，看看这些设计是不是用得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分析完，系统不会直接创建正式事项。工作人员要先看草稿，必要时修改，再选择新建、关联或拒绝。原始反馈、草稿和正式事项分开保存，后面也能回看来源。这样，录入什么内容、关联哪件事，都要经过人的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是把一条反馈里的几个问题拆开，分别处理。右边是几条反馈都在说同一件事，经人工确认后，把来源关联到已有事项。系统根据标题词汇、地点、类别和时间列出候选，也会提示地点差异。这些提示只帮助判断，不保证没有误判，系统也不会自动合并事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演示使用合成数据，开始前我会说明当前用的是真实模型还是 Mock；Mock 只用于检查操作流程。先贴入灯坏了和垃圾没清的留言，再检查两个草稿和相似事项。接着把照明问题关联到已有事项，为清运问题新建一条记录。最后打开详情，看看新增的来源、处理记录和首页统计。具体结果以现场输出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草稿有错，可以先修改。新建事项使用修改后的字段；关联已有事项只增加反馈来源，不会直接改写原有内容。批量确认时，有草稿未处理就不提交这批记录，已经确认的反馈也不能重复提交。AI 失败后可以重试，符合条件时可以手动创建。这些规则有代码和测试，真实多人使用时仍需要进一步检查。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模型负责把反馈整理成结构化草稿，程序检查字段格式、相似候选、人工确认和状态变更。页面通过 API 读写数据库，原始反馈和处理记录都会保存。项目已有 Qwen、OpenAI 文字与图片接口，Mock 只用于文字流程测试；接口写好不代表真实模型效果已经测好。当前查重用的是词汇、地点、类别和时间，没有使用 Embedding。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docs/testing/image-intake.md (2026-08-31 scoped verification; 52 AI + 24 Web unit tests, local API and browser checks; no real vision model test)</a:t>
            </a:r>
          </a:p>
          <a:p xmlns:a="http://schemas.openxmlformats.org/drawingml/2006/main">
            <a:r>
              <a:t>- docs/competition/preliminary-2026/01-报名信息与提交清单.md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图片输入修复后，我重新跑了 AI 包的 52 项和 Web 包的 24 项单元测试，也在本地接口和浏览器里检查了图片上传、刷新恢复、重复提交和失败转人工。类型检查和 AI 包编译也通过了。这 76 项是本轮检查的范围，不是全仓测试总数。真实视觉模型还没有实测，目前只能说明上传和处理流程通过了这些检查，不能说明图片能识别多准，更不能代替社区使用效果。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docs/testing/image-intake.md (2026-08-31 scoped verification; 52 AI + 24 Web unit tests, local API and browser checks; no real vision model test)</a:t>
            </a:r>
          </a:p>
          <a:p xmlns:a="http://schemas.openxmlformats.org/drawingml/2006/main">
            <a:r>
              <a:t>- docs/competition/preliminary-2026/01-报名信息与提交清单.md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费方式还没有验证。我想先找一个愿意试用的社区服务方，把使用流程和需要补的条件理清楚，再做小范围比较。如果确实有用，再讨论部署配置和持续运维怎么收费。谁有预算、谁负责采购，以及模型调用和维护成本，都需要逐项确认；目前没有可验证的价格、合同或收入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我想先测两件事：整理一条反馈要多久，整理完有没有漏项或关联错事项。做法是用同一批经授权、脱敏的反馈，比较人工整理和 OneCase 辅助整理，记录中位耗时、字段错误和修改次数，同时算模型失败率、转人工次数和单次成本。什么结果算值得继续做，要和社区工作人员事先商量。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现在可以演示文字整理、草稿编辑、人工确认和事项跟踪，也能上传图片、查看预览、保存后刷新恢复。图片已经接到模型接口，但当前运行的是 Mock，不能识别图片，真实识别还需配置视觉模型并实测。语音入口已禁用，微信接入和语义检索也没做。真实试点前仍要补认证权限、组织数据隔离、访问频率限制和待确认草稿列表；现阶段只用合成数据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docs/testing/image-intake.md (2026-08-31 scoped verification; 52 AI + 24 Web unit tests, local API and browser checks; no real vision model test)</a:t>
            </a:r>
          </a:p>
          <a:p xmlns:a="http://schemas.openxmlformats.org/drawingml/2006/main">
            <a:r>
              <a:t>- docs/competition/preliminary-2026/01-报名信息与提交清单.md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这里列了主要开源组件及许可证。项目由我独立开发，产品设计、业务规则、代码和测试都由我负责，写代码和测试时使用 AI 编程工具辅助。需求怎么定、方案怎么选、结果是否可用，仍由我检查。框架、模型和第三方代码会注明来源，不算作自己的原创成果。直接依赖的核对不覆盖所有传递依赖和素材。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OneCase 目前做到了把文字反馈整理成草稿，由人确认后持续跟进。下一步，我希望和社区工作人员一起试用，用授权后的脱敏样本看看它能不能减少整理时间、会不会带来新的错误。谢谢，欢迎提问。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0a6a6dd0842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07885fe114e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b3a0b911348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337f31b9144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0cc602f134c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a233142ae4d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5cd8f24e043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eb8428b284b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fc16ff99c48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565ba844046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7c51db871461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CAD93D-BC5B-4903-A59F-5D4DFD399D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D595258-3854-4B37-9F97-8535E4031F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B47931-586D-47F6-BB08-9B8C9F1E1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1CDE92-7688-49AB-933B-EDD7382B3E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EE3AC1-7BDB-49ED-8F79-F45EE41D7D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74B9CE-CBF0-4995-86CB-D9D218379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4A90C7-F4FB-44FE-A0AD-168B2EF5F3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23BAE6-313A-4844-939E-88A0150ACB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46E837-0AE8-47B5-83D5-647790B91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8B281-F7D9-4866-B83C-3D741F304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E930C2-241B-4ACE-96C3-9F35B56C9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7C4C13-E7B5-471D-9E5E-8BFEEC1DF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438B16-0775-4CB7-AFF2-7EB40F379D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461465-6D53-4345-A73C-8F872A4A40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670840-0104-4D40-9385-E6C091948E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3BAF53-EEB1-41A1-A7EF-4A69420E0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4EC883-D615-4F53-9934-6D75B98904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A6269-F810-4528-870E-870F55818A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3F684F-520C-4DF6-BFB4-70335C9D94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A33089-E08E-41F9-8A08-E1D85BFDD7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579E504-F89E-41FC-AEA0-E8359372D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16F603-A1C7-470B-9A3C-D122FFF2B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E304B3-648F-4003-82E1-511BC32B1D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832472-E94B-4C3A-8919-3432D2A8A0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F355043-AE80-46E7-9D8D-B5B14D7B92F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AACCA6C-C8B6-48DE-81D3-8798F3F7123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A8AE19-8042-47D4-80AC-E86C6080F1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95A4C8C-E6A9-4D14-B55B-1BD8657396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091348C-61EC-4158-9DCF-432538EB9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87D9C9-DBE0-44F1-8FB9-E942F67E69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8D1DF63-155C-430D-A997-FB1752F63D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AA015BA-CE95-4ECD-8DDC-4E9A3AD7D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5FC2E0-8BE1-4DD1-B8EA-694010FEFD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4979213-296D-46E6-ADCB-3FEFFE370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A9F182C-0CA3-4BDF-9C41-C280A49E8F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9A51D6-B0C8-4FCC-BE4A-AAB48D1FC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3A7453-3641-463C-B5A1-61753F831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BA72AF-CA88-49D8-8188-0FC4F59FB5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7641F62-A1C6-4568-8DA5-345E368D6B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78C3BE-818B-4E67-97E8-21E0DF9765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62D5F5-69CB-48BA-816D-D94C12C41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DBF280-7BDC-4BE7-ADBF-127987593C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D3B571-9924-410B-ADE1-0FA326046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ACE869-403C-4CC1-B1E9-FAEDE5FB3DE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1F23EEB-336E-4364-8037-C689BBD939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8D8072B-CFA5-4A6D-B000-C3FC16B2F7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019035-3D80-4405-B49B-39C4131701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95494D-5F10-4B6D-97C5-A3FA89C26D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0932E-8BB4-4CD8-9AE3-7CE3F6A9A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800720-BA17-46FF-B2DA-9C5B24B55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D246F1-57D0-452C-A3DC-5B2285C937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605901-F870-42B0-A5CD-725DB40FF9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D0D16-419D-4075-8C04-FE9D4BC4A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B58176D-8F34-4A5F-A57D-7EDB63BFA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310FF8-0501-4604-977B-D35E27E187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CC8EAA-A714-4348-A514-941389CF8F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B7124A-A7D3-4010-A913-F33FDAC09D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BC474F-E973-4496-AF17-AF73EC9FA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7cdc76e994198" /><Relationship Type="http://schemas.openxmlformats.org/officeDocument/2006/relationships/slideLayout" Target="/ppt/slideLayouts/slideLayout1.xml" Id="Re348762c208f49f6" /><Relationship Type="http://schemas.openxmlformats.org/officeDocument/2006/relationships/slideLayout" Target="/ppt/slideLayouts/slideLayout2.xml" Id="R71c6620624d84a1b" /><Relationship Type="http://schemas.openxmlformats.org/officeDocument/2006/relationships/slideLayout" Target="/ppt/slideLayouts/slideLayout3.xml" Id="R8b517549705b4147" /><Relationship Type="http://schemas.openxmlformats.org/officeDocument/2006/relationships/slideLayout" Target="/ppt/slideLayouts/slideLayout4.xml" Id="R758d24c1aa454ca8" /><Relationship Type="http://schemas.openxmlformats.org/officeDocument/2006/relationships/slideLayout" Target="/ppt/slideLayouts/slideLayout5.xml" Id="Rec1b10a59f0841be" /><Relationship Type="http://schemas.openxmlformats.org/officeDocument/2006/relationships/slideLayout" Target="/ppt/slideLayouts/slideLayout6.xml" Id="Rc0d17be025ee4dfc" /><Relationship Type="http://schemas.openxmlformats.org/officeDocument/2006/relationships/slideLayout" Target="/ppt/slideLayouts/slideLayout7.xml" Id="R92c6a5cadae74151" /><Relationship Type="http://schemas.openxmlformats.org/officeDocument/2006/relationships/slideLayout" Target="/ppt/slideLayouts/slideLayout8.xml" Id="Rb3799a8c777e4a67" /><Relationship Type="http://schemas.openxmlformats.org/officeDocument/2006/relationships/slideLayout" Target="/ppt/slideLayouts/slideLayout9.xml" Id="Rd8149009135f41ad" /><Relationship Type="http://schemas.openxmlformats.org/officeDocument/2006/relationships/slideLayout" Target="/ppt/slideLayouts/slideLayout10.xml" Id="Rb7f5f850d8b44e8b" /><Relationship Type="http://schemas.openxmlformats.org/officeDocument/2006/relationships/slideLayout" Target="/ppt/slideLayouts/slideLayout11.xml" Id="R4bd53d29198f42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B99E911-0E7B-4247-9EF6-512AF687E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36E3FA-7542-460C-8EA3-EDF02F9AC4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4C8F60-8BAB-4661-B079-7FD68017BFF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3FB89-D893-49B2-B826-F937A5CB2E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F56CD5-2B53-4B89-82E6-778DF36721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8762c208f49f6"/>
    <p:sldLayoutId xmlns:r="http://schemas.openxmlformats.org/officeDocument/2006/relationships" id="2147483650" r:id="R71c6620624d84a1b"/>
    <p:sldLayoutId xmlns:r="http://schemas.openxmlformats.org/officeDocument/2006/relationships" id="2147483651" r:id="R8b517549705b4147"/>
    <p:sldLayoutId xmlns:r="http://schemas.openxmlformats.org/officeDocument/2006/relationships" id="2147483652" r:id="R758d24c1aa454ca8"/>
    <p:sldLayoutId xmlns:r="http://schemas.openxmlformats.org/officeDocument/2006/relationships" id="2147483653" r:id="Rec1b10a59f0841be"/>
    <p:sldLayoutId xmlns:r="http://schemas.openxmlformats.org/officeDocument/2006/relationships" id="2147483654" r:id="Rc0d17be025ee4dfc"/>
    <p:sldLayoutId xmlns:r="http://schemas.openxmlformats.org/officeDocument/2006/relationships" id="2147483655" r:id="R92c6a5cadae74151"/>
    <p:sldLayoutId xmlns:r="http://schemas.openxmlformats.org/officeDocument/2006/relationships" id="2147483656" r:id="Rb3799a8c777e4a67"/>
    <p:sldLayoutId xmlns:r="http://schemas.openxmlformats.org/officeDocument/2006/relationships" id="2147483657" r:id="Rd8149009135f41ad"/>
    <p:sldLayoutId xmlns:r="http://schemas.openxmlformats.org/officeDocument/2006/relationships" id="2147483658" r:id="Rb7f5f850d8b44e8b"/>
    <p:sldLayoutId xmlns:r="http://schemas.openxmlformats.org/officeDocument/2006/relationships" id="2147483659" r:id="R4bd53d29198f427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f5f51f524433a" /><Relationship Type="http://schemas.openxmlformats.org/officeDocument/2006/relationships/notesSlide" Target="/ppt/notesSlides/notesSlide1.xml" Id="R1aa15e9bd927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2d6f130f4dea" /><Relationship Type="http://schemas.openxmlformats.org/officeDocument/2006/relationships/notesSlide" Target="/ppt/notesSlides/notesSlide2.xml" Id="R99597305febc4c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8f97dab40440e" /><Relationship Type="http://schemas.openxmlformats.org/officeDocument/2006/relationships/notesSlide" Target="/ppt/notesSlides/notesSlide3.xml" Id="R350efd9b594c46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a64b1edec444e" /><Relationship Type="http://schemas.openxmlformats.org/officeDocument/2006/relationships/notesSlide" Target="/ppt/notesSlides/notesSlide4.xml" Id="R5620430ce2384a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ae9cc19be4ba8" /><Relationship Type="http://schemas.openxmlformats.org/officeDocument/2006/relationships/notesSlide" Target="/ppt/notesSlides/notesSlide5.xml" Id="R1b78d5bf5fe6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0ee62a7ce4d61" /><Relationship Type="http://schemas.openxmlformats.org/officeDocument/2006/relationships/notesSlide" Target="/ppt/notesSlides/notesSlide6.xml" Id="Rb5c3b6edf299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a41238364f0e" /><Relationship Type="http://schemas.openxmlformats.org/officeDocument/2006/relationships/notesSlide" Target="/ppt/notesSlides/notesSlide7.xml" Id="R9e6b02ec4f0b4c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9220ca7104eb9" /><Relationship Type="http://schemas.openxmlformats.org/officeDocument/2006/relationships/notesSlide" Target="/ppt/notesSlides/notesSlide8.xml" Id="R35897695c0b24e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adbd347e43dc" /><Relationship Type="http://schemas.openxmlformats.org/officeDocument/2006/relationships/notesSlide" Target="/ppt/notesSlides/notesSlide9.xml" Id="R1677cb04e5cf4c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c38075a994ac3" /><Relationship Type="http://schemas.openxmlformats.org/officeDocument/2006/relationships/notesSlide" Target="/ppt/notesSlides/notesSlide10.xml" Id="Ra61b6d56bc4c42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b3e6fb4554e92" /><Relationship Type="http://schemas.openxmlformats.org/officeDocument/2006/relationships/notesSlide" Target="/ppt/notesSlides/notesSlide11.xml" Id="R35fb05d82ee543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3de267b240be" /><Relationship Type="http://schemas.openxmlformats.org/officeDocument/2006/relationships/notesSlide" Target="/ppt/notesSlides/notesSlide12.xml" Id="R89a1363c386f4e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c10f55c64dfd" /><Relationship Type="http://schemas.openxmlformats.org/officeDocument/2006/relationships/notesSlide" Target="/ppt/notesSlides/notesSlide13.xml" Id="R4d06833498944a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39105f674622" /><Relationship Type="http://schemas.openxmlformats.org/officeDocument/2006/relationships/notesSlide" Target="/ppt/notesSlides/notesSlide14.xml" Id="Rb43f625b6e3941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8020B9-43B2-4932-B548-6B3012E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6813817-A4D8-4DE9-87DD-7FA0F57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289560"/>
            <a:ext cx="318333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spc="150">
                <a:solidFill>
                  <a:srgbClr val="5C6B64"/>
                </a:solidFill>
                <a:latin typeface="SimSun"/>
                <a:ea typeface="SimSun"/>
                <a:cs typeface="SimSun"/>
              </a:rPr>
              <a:t>江岸计划</a:t>
            </a:r>
            <a:r>
              <a:rPr sz="1200" spc="150">
                <a:solidFill>
                  <a:srgbClr val="5C6B64"/>
                </a:solidFill>
                <a:latin typeface="Georgia"/>
                <a:ea typeface="Georgia"/>
                <a:cs typeface="Georgia"/>
              </a:rPr>
              <a:t> · AI </a:t>
            </a:r>
            <a:r>
              <a:rPr sz="1200" spc="150">
                <a:solidFill>
                  <a:srgbClr val="5C6B64"/>
                </a:solidFill>
                <a:latin typeface="SimSun"/>
                <a:ea typeface="SimSun"/>
                <a:cs typeface="SimSun"/>
              </a:rPr>
              <a:t>黑客松创新大赛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3F06EEC-0F51-47CA-8813-7257785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548" y="289560"/>
            <a:ext cx="255894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spc="225">
                <a:solidFill>
                  <a:srgbClr val="5C6B64"/>
                </a:solidFill>
                <a:latin typeface="Georgia"/>
                <a:ea typeface="Georgia"/>
                <a:cs typeface="Georgia"/>
              </a:rPr>
              <a:t>PRELIMINARY · 2026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58DBCC40-68C9-4995-B515-4E67850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524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A76D6C61-4267-4EC0-BF6A-590D60A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286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E0482A1-5FE4-4C7F-9390-27D496C4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1203960"/>
            <a:ext cx="363376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75">
                <a:solidFill>
                  <a:srgbClr val="D97B29"/>
                </a:solidFill>
                <a:latin typeface="Arial"/>
                <a:ea typeface="Arial"/>
                <a:cs typeface="Arial"/>
              </a:rPr>
              <a:t>AI+</a:t>
            </a:r>
            <a:r>
              <a:rPr sz="1200" b="1" spc="375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民生赛道</a:t>
            </a:r>
            <a:r>
              <a:rPr sz="1200" b="1" spc="375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75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个人参赛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4F69BC-C3C2-4DC0-BB70-D9074F8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1912620"/>
            <a:ext cx="350440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OneCase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4EBB82-015E-4693-92EB-637F5B9E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08" y="2884170"/>
            <a:ext cx="5827776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>
                <a:solidFill>
                  <a:srgbClr val="22302B"/>
                </a:solidFill>
                <a:latin typeface="SimSun"/>
                <a:ea typeface="SimSun"/>
                <a:cs typeface="SimSun"/>
              </a:rPr>
              <a:t>把居民反馈整理成事项，跟进处理进度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41ECADA7-9215-4572-A5DA-F79F6E2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886200"/>
            <a:ext cx="9525" cy="990600"/>
          </a:xfrm>
          <a:custGeom xmlns:a="http://schemas.openxmlformats.org/drawingml/2006/main">
            <a:rect l="l" t="t" r="r" b="b"/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97B29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20BCDA2-A080-4552-88E6-B718E893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732" y="4002405"/>
            <a:ext cx="75486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22302B"/>
                </a:solidFill>
                <a:latin typeface="SimSun"/>
                <a:ea typeface="SimSun"/>
                <a:cs typeface="SimSun"/>
              </a:rPr>
              <a:t>“三栋二单元的灯又坏了……另外楼下垃圾今天也没人清。”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5070F4-BD3F-415D-9946-3AB1EF6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4540568"/>
            <a:ext cx="64312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合成示例：灯坏了、垃圾没人清，需要分别跟进。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D57CAC7C-B004-446D-9C28-711C9A4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1722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BCB3554-B302-4B94-8C9F-2FB6776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216072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个人参赛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3FAFFCC-5168-4CF7-882D-1D8B6B9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4717" y="6404610"/>
            <a:ext cx="143377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2026.09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南京</a:t>
            </a:r>
          </a:p>
        </p:txBody>
      </p:sp>
    </p:spTree>
    <p:extLst>
      <p:ext uri="{BB962C8B-B14F-4D97-AF65-F5344CB8AC3E}">
        <p14:creationId xmlns:p14="http://schemas.microsoft.com/office/powerpoint/2010/main" val="4880786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D53855-7458-40EB-A299-2A16A41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CEB3AE5-B40F-4B91-B303-34C991A4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259810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反馈如何记入台账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4FE26-C3A3-454E-BF1A-C468C635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567751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一条留言，说了两件事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6A81C628-3DDA-4FD6-8E7D-A074041A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829901E-1C19-416F-9DEB-8D74F25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08" y="176022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CC50D4C-504A-4530-9366-03735D8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6" y="17678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一条消息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E81DE17-4D9D-4539-8D46-E253E3FA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892" y="2140268"/>
            <a:ext cx="566573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灯坏了、垃圾没人清，需要分开记录和处理。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C982F341-FDF1-44E7-8A83-E4F06D2A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647950"/>
            <a:ext cx="7200900" cy="9525"/>
          </a:xfrm>
          <a:custGeom xmlns:a="http://schemas.openxmlformats.org/drawingml/2006/main"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94EA2AA-39B3-4C25-85EE-8A883CDF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08" y="309372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5892C0-4895-4176-B458-51AD502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6" y="31013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不同居民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51125C-9498-4FC6-96D8-7DC31AD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892" y="3473768"/>
            <a:ext cx="493878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可能反映同一个问题，记入台账前要先核对。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28503B88-5C5C-4966-86E2-1AD8EDB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981450"/>
            <a:ext cx="7200900" cy="9525"/>
          </a:xfrm>
          <a:custGeom xmlns:a="http://schemas.openxmlformats.org/drawingml/2006/main"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46AC5E-D1FD-418C-ACE8-AF93CD8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08" y="442722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A90720-B1CF-4633-A29E-F4C394CE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6" y="44348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工作人员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C62CB4D-6C93-466D-AE64-6535570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892" y="4807268"/>
            <a:ext cx="530226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需要拆开问题、核对重复，再记入台账。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D1D6ABE-3023-4BC1-985F-8108DCA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1714500"/>
            <a:ext cx="320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6636817-71B8-4C7E-8DBA-A4F4A041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8238" y="2024062"/>
            <a:ext cx="114300" cy="114300"/>
          </a:xfrm>
          <a:custGeom xmlns:a="http://schemas.openxmlformats.org/drawingml/2006/main">
            <a:rect l="l" t="t" r="r" b="b"/>
            <a:pathLst>
              <a:path w="114300" h="114300">
                <a:moveTo>
                  <a:pt x="0" y="57150"/>
                </a:moveTo>
                <a:cubicBezTo>
                  <a:pt x="0" y="88713"/>
                  <a:pt x="25587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7"/>
                  <a:pt x="88713" y="0"/>
                  <a:pt x="57150" y="0"/>
                </a:cubicBezTo>
                <a:cubicBezTo>
                  <a:pt x="25587" y="0"/>
                  <a:pt x="0" y="25587"/>
                  <a:pt x="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CA73853-53BF-4B2A-BBCF-1E9DFAE1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9662" y="2195512"/>
            <a:ext cx="171450" cy="85725"/>
          </a:xfrm>
          <a:custGeom xmlns:a="http://schemas.openxmlformats.org/drawingml/2006/main">
            <a:rect l="l" t="t" r="r" b="b"/>
            <a:pathLst>
              <a:path w="171450" h="85725">
                <a:moveTo>
                  <a:pt x="0" y="85725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cubicBezTo>
                  <a:pt x="145863" y="0"/>
                  <a:pt x="171450" y="25587"/>
                  <a:pt x="171450" y="57150"/>
                </a:cubicBezTo>
                <a:lnTo>
                  <a:pt x="1714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9B9E8E6-BC84-46FF-8D40-3ABB0993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0" y="2025920"/>
            <a:ext cx="42975" cy="110728"/>
          </a:xfrm>
          <a:custGeom xmlns:a="http://schemas.openxmlformats.org/drawingml/2006/main">
            <a:rect l="l" t="t" r="r" b="b"/>
            <a:pathLst>
              <a:path w="42975" h="110728">
                <a:moveTo>
                  <a:pt x="0" y="0"/>
                </a:moveTo>
                <a:cubicBezTo>
                  <a:pt x="25288" y="6475"/>
                  <a:pt x="42975" y="29261"/>
                  <a:pt x="42975" y="55364"/>
                </a:cubicBezTo>
                <a:cubicBezTo>
                  <a:pt x="42975" y="81467"/>
                  <a:pt x="25288" y="104253"/>
                  <a:pt x="0" y="1107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4EFA2F3-BD4B-4014-8B8B-FF79255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43975" y="2197656"/>
            <a:ext cx="42862" cy="83582"/>
          </a:xfrm>
          <a:custGeom xmlns:a="http://schemas.openxmlformats.org/drawingml/2006/main">
            <a:rect l="l" t="t" r="r" b="b"/>
            <a:pathLst>
              <a:path w="42862" h="83582">
                <a:moveTo>
                  <a:pt x="42862" y="83582"/>
                </a:moveTo>
                <a:lnTo>
                  <a:pt x="42862" y="55007"/>
                </a:lnTo>
                <a:cubicBezTo>
                  <a:pt x="42713" y="29069"/>
                  <a:pt x="25115" y="648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3C5A1D-DF16-4304-8123-4962B8CD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942" y="2597468"/>
            <a:ext cx="8375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1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直接用户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450C145-47FE-4AD8-AD98-CEC2D4E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7656" y="2891790"/>
            <a:ext cx="2600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社区工作人员</a:t>
            </a:r>
            <a:r>
              <a:rPr sz="18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网格员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68952A6-66FF-445F-B404-BDA848A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0704" y="3261360"/>
            <a:ext cx="227380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居民是信息来源，暂不需要操作</a:t>
            </a:r>
          </a:p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EB3BB594-2854-4DFD-A4E8-9D4F014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4000500"/>
            <a:ext cx="9525" cy="1333500"/>
          </a:xfrm>
          <a:custGeom xmlns:a="http://schemas.openxmlformats.org/drawingml/2006/main"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B29"/>
            </a:solidFill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5387962-850B-4B5E-BD2C-33AFC86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3742" y="4159568"/>
            <a:ext cx="8375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150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目前情况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D2EA896D-66E9-4239-BF4A-1D60C2C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3742" y="4502468"/>
            <a:ext cx="219456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整理反馈的频率和耗时，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1E884F9-FC97-407C-8130-6BDE0E6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3742" y="4769168"/>
            <a:ext cx="255803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还需要实地了解。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4651560-4182-4227-8FAE-0A30E29B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703A1F33-AF71-4077-85E1-CF7A0A3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046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2088489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73A86D-F91A-4BCA-8BCE-CA54E87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F2B87CC-A8D9-4BC6-BABD-431C12E1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团队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单人参赛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8118AE-0ED7-4878-9B3B-D8BADC2D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4736592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一个人的开发工作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324D7285-F302-4F35-9C4A-37BFB5D9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336450-1106-4288-8369-A515DBB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714500"/>
            <a:ext cx="3048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CD89E49-4834-45A7-AE13-114DA16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100" y="2109787"/>
            <a:ext cx="139700" cy="139700"/>
          </a:xfrm>
          <a:custGeom xmlns:a="http://schemas.openxmlformats.org/drawingml/2006/main">
            <a:rect l="l" t="t" r="r" b="b"/>
            <a:pathLst>
              <a:path w="139700" h="139700">
                <a:moveTo>
                  <a:pt x="0" y="69850"/>
                </a:moveTo>
                <a:cubicBezTo>
                  <a:pt x="0" y="108427"/>
                  <a:pt x="31273" y="139700"/>
                  <a:pt x="69850" y="139700"/>
                </a:cubicBezTo>
                <a:cubicBezTo>
                  <a:pt x="108427" y="139700"/>
                  <a:pt x="139700" y="108427"/>
                  <a:pt x="139700" y="69850"/>
                </a:cubicBezTo>
                <a:cubicBezTo>
                  <a:pt x="139700" y="31273"/>
                  <a:pt x="108427" y="0"/>
                  <a:pt x="69850" y="0"/>
                </a:cubicBezTo>
                <a:cubicBezTo>
                  <a:pt x="31273" y="0"/>
                  <a:pt x="0" y="31273"/>
                  <a:pt x="0" y="698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39F23A0-ED73-445C-A51E-596DC5C3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" y="2319337"/>
            <a:ext cx="209550" cy="104775"/>
          </a:xfrm>
          <a:custGeom xmlns:a="http://schemas.openxmlformats.org/drawingml/2006/main">
            <a:rect l="l" t="t" r="r" b="b"/>
            <a:pathLst>
              <a:path w="209550" h="104775">
                <a:moveTo>
                  <a:pt x="0" y="104775"/>
                </a:moveTo>
                <a:lnTo>
                  <a:pt x="0" y="69850"/>
                </a:lnTo>
                <a:cubicBezTo>
                  <a:pt x="0" y="31273"/>
                  <a:pt x="31273" y="0"/>
                  <a:pt x="69850" y="0"/>
                </a:cubicBezTo>
                <a:lnTo>
                  <a:pt x="139700" y="0"/>
                </a:lnTo>
                <a:cubicBezTo>
                  <a:pt x="178277" y="0"/>
                  <a:pt x="209550" y="31273"/>
                  <a:pt x="209550" y="69850"/>
                </a:cubicBezTo>
                <a:lnTo>
                  <a:pt x="20955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AB23FA-A7DA-49E0-9AC7-8039F6C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98" y="2669858"/>
            <a:ext cx="144338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1 </a:t>
            </a: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人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F92917B-F0BF-4672-B776-32B9F1C4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32451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个人参赛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 ·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独立开发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AE39789D-6613-4EC3-B445-09DED85C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3714750"/>
            <a:ext cx="2438400" cy="9525"/>
          </a:xfrm>
          <a:custGeom xmlns:a="http://schemas.openxmlformats.org/drawingml/2006/main"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9BC20C-5A10-4CD9-8C6D-3BC3C27C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3930968"/>
            <a:ext cx="20395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Arial"/>
                <a:ea typeface="Arial"/>
                <a:cs typeface="Arial"/>
              </a:rPr>
              <a:t>AI+</a:t>
            </a: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民生赛道</a:t>
            </a:r>
            <a:r>
              <a:rPr sz="1350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个人参赛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D604151-D05C-46B8-8D63-E141AAF2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43500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OneCase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由我独立开发，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313D91-3E1E-49A9-AFBC-D99EFF5C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4616768"/>
            <a:ext cx="219456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从产品设计、功能实现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6F1DAA-936C-4C36-8912-56A7D67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48834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到测试，都由我负责。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84B80F17-606E-4FCE-A528-88B5B88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190500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494FBE0-985B-48BC-AAE7-39D1173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558" y="223647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46625E2-2FC1-4310-BF14-47D1766E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7606" y="28155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E70D88-E488-4DB1-A21B-BC20030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9892" y="32832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社区事项整理的流程设计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411DCC6-27B7-4634-838F-AAD17955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9892" y="35499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以及状态变更规则、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7D3220-7774-4E6E-97C2-BCB639E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9892" y="38166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人工确认和查重方式。</a:t>
            </a:r>
          </a:p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B8BCDD45-6693-4BDF-8813-4D1A917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0" y="190500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DAD02D3-BD6A-4CCF-A5E2-C3F62978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6808" y="223647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0D8441-EB35-4F40-A335-67C2AFE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9856" y="28155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功能开发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913DE2-FB04-4722-ABB9-1B2AC006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2142" y="3283268"/>
            <a:ext cx="213084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Web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工作台、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Provider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FDAFCDE-94B1-4212-BB29-307AF75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2142" y="3549968"/>
            <a:ext cx="28968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适配（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Mock / Qwen / OpenAI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）、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4890C45-144C-408F-9C08-2F1AF5D5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2142" y="3816668"/>
            <a:ext cx="130027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数据层与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 API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9B145461-10F6-49EE-99B8-8D81D67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190500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85C5EF-A07F-49C0-8A94-73103296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89058" y="2236470"/>
            <a:ext cx="41867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EA222DB-D553-4B15-9B07-DFE4CF5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106" y="28155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测试与文档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9C35262-6162-4CF8-A972-52F7C93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4392" y="32832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单元测试、业务不变量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22D3C843-D5DA-47EE-8819-BF3AF9A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4392" y="35499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测试、端到端流程测试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35C5216-F1F2-48DD-BEB0-5A1B23E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4392" y="3816668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与产品文档。</a:t>
            </a:r>
          </a:p>
        </p:txBody>
      </p:sp>
      <p:sp>
        <p:nvSpPr>
          <p:cNvPr id="40" name="Line 40">
            <a:extLst xmlns:a="http://schemas.openxmlformats.org/drawingml/2006/main">
              <a:ext uri="{FF2B5EF4-FFF2-40B4-BE49-F238E27FC236}">
                <a16:creationId xmlns:a16="http://schemas.microsoft.com/office/drawing/2014/main" id="{E4574122-E191-4079-99AB-18E5917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1800" y="1714500"/>
            <a:ext cx="9525" cy="2476500"/>
          </a:xfrm>
          <a:custGeom xmlns:a="http://schemas.openxmlformats.org/drawingml/2006/main">
            <a:rect l="l" t="t" r="r" b="b"/>
            <a:pathLst>
              <a:path w="9525" h="2476500">
                <a:moveTo>
                  <a:pt x="0" y="0"/>
                </a:moveTo>
                <a:lnTo>
                  <a:pt x="0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1" name="Line 41">
            <a:extLst xmlns:a="http://schemas.openxmlformats.org/drawingml/2006/main">
              <a:ext uri="{FF2B5EF4-FFF2-40B4-BE49-F238E27FC236}">
                <a16:creationId xmlns:a16="http://schemas.microsoft.com/office/drawing/2014/main" id="{FB7B2BBA-3187-4C65-9AFF-6FB258C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4050" y="1714500"/>
            <a:ext cx="9525" cy="2476500"/>
          </a:xfrm>
          <a:custGeom xmlns:a="http://schemas.openxmlformats.org/drawingml/2006/main">
            <a:rect l="l" t="t" r="r" b="b"/>
            <a:pathLst>
              <a:path w="9525" h="2476500">
                <a:moveTo>
                  <a:pt x="0" y="0"/>
                </a:moveTo>
                <a:lnTo>
                  <a:pt x="0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2" name="Line 42">
            <a:extLst xmlns:a="http://schemas.openxmlformats.org/drawingml/2006/main">
              <a:ext uri="{FF2B5EF4-FFF2-40B4-BE49-F238E27FC236}">
                <a16:creationId xmlns:a16="http://schemas.microsoft.com/office/drawing/2014/main" id="{51856030-5556-49AB-9D7D-25DA90FE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4476750"/>
            <a:ext cx="7105650" cy="9525"/>
          </a:xfrm>
          <a:custGeom xmlns:a="http://schemas.openxmlformats.org/drawingml/2006/main">
            <a:rect l="l" t="t" r="r" b="b"/>
            <a:pathLst>
              <a:path w="7105650" h="9525">
                <a:moveTo>
                  <a:pt x="0" y="0"/>
                </a:moveTo>
                <a:lnTo>
                  <a:pt x="7105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3DDF2F5-ABEB-43F7-9AAB-0CF3967D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6082" y="4650105"/>
            <a:ext cx="599541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先把反馈整理、确认和跟踪做完。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83943D74-00BC-4432-A37A-F1A0841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9892" y="5150168"/>
            <a:ext cx="766484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我还缺少社区业务经验，希望和一线工作人员一起核对流程、安排试用。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CDDF6C6-2647-4082-AC4A-24F7D98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07258BE-D093-4327-99EA-B6C1E1B0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046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3500198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F2B62C-3FAF-4F3B-862A-DCEFCFF4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F76F6FD-8E18-4579-BF7D-B0C047A6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94360"/>
            <a:ext cx="175807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流程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141B198-73B9-43A1-B31E-D203CA8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021205"/>
            <a:ext cx="5726331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1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AI </a:t>
            </a:r>
            <a:r>
              <a:rPr sz="510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先整理，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5B784-8914-4557-8012-08284BD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973705"/>
            <a:ext cx="4608271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100" b="1">
                <a:solidFill>
                  <a:srgbClr val="D97B29"/>
                </a:solidFill>
                <a:latin typeface="SimSun"/>
                <a:ea typeface="SimSun"/>
                <a:cs typeface="SimSun"/>
              </a:rPr>
              <a:t>人检查后确认。</a:t>
            </a:r>
          </a:p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1367C0A4-BF8A-4B73-A1C2-08F2D14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000500"/>
            <a:ext cx="3200400" cy="9525"/>
          </a:xfrm>
          <a:custGeom xmlns:a="http://schemas.openxmlformats.org/drawingml/2006/main"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EF58CA8-CEFB-4E55-80A3-A95F136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282440"/>
            <a:ext cx="73120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</a:t>
            </a:r>
            <a:r>
              <a:rPr sz="18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分析完成后，仍要由工作人员检查，再决定新建或关联。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CDB9F07-77CC-4CC8-814D-EF9D6F44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712018"/>
            <a:ext cx="522716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原始反馈、</a:t>
            </a:r>
            <a:r>
              <a:rPr sz="1350">
                <a:solidFill>
                  <a:srgbClr val="8A968F"/>
                </a:solidFill>
                <a:latin typeface="Arial"/>
                <a:ea typeface="Arial"/>
                <a:cs typeface="Arial"/>
              </a:rPr>
              <a:t>AI </a:t>
            </a:r>
            <a:r>
              <a:rPr sz="135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草稿和正式事项分开保存，方便回看来源。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8832D3-18A7-4EDF-B652-9809160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509260"/>
            <a:ext cx="78154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225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处理流程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F1807FA8-4DC3-4277-A0FC-6E70F16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8102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06E745-378D-4371-9032-A19DEDEB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6064568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居民文字反馈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51000887-90BF-4D6A-9D14-0E6FB6D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6153150"/>
            <a:ext cx="381000" cy="9525"/>
          </a:xfrm>
          <a:custGeom xmlns:a="http://schemas.openxmlformats.org/drawingml/2006/main"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A187CA-A1E2-40EC-9B0F-81A8E52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7742" y="6064568"/>
            <a:ext cx="100264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事项草稿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E82F5BD-D991-4835-8779-2C639FB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6153150"/>
            <a:ext cx="381000" cy="9525"/>
          </a:xfrm>
          <a:custGeom xmlns:a="http://schemas.openxmlformats.org/drawingml/2006/main"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8992C9-EEF5-4980-B323-831E4E2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2742" y="606456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人工检查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0A3837B7-2AEB-4D72-97E2-3647E71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6153150"/>
            <a:ext cx="381000" cy="9525"/>
          </a:xfrm>
          <a:custGeom xmlns:a="http://schemas.openxmlformats.org/drawingml/2006/main"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58E9F53-55C9-4FF8-98D0-3CBF6DEB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7242" y="6064568"/>
            <a:ext cx="9678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新建或关联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6B1097EA-F0AA-403B-965E-FF4B61F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6650" y="6153150"/>
            <a:ext cx="381000" cy="9525"/>
          </a:xfrm>
          <a:custGeom xmlns:a="http://schemas.openxmlformats.org/drawingml/2006/main"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7AD209-583C-4B16-91D2-F390713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4142" y="60645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持续跟踪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3E0D6E5D-CB80-4F36-90A8-499AF061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3796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8B349B4-8B8A-417B-BE74-52BBA16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53796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114152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CDFA54-3858-43BB-A333-96FA33C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13E4A4F-34E4-46FF-ABF7-6C97170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75807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机制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拆分与关联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D0FC069-4B88-4386-931D-BAD6AC4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4266133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问题拆开，来源保留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AC8176AB-DB11-4466-914C-2CB138B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40DB0C7-1CAC-4CBE-B414-DDE14919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938" y="1771650"/>
            <a:ext cx="200026" cy="55563"/>
          </a:xfrm>
          <a:custGeom xmlns:a="http://schemas.openxmlformats.org/drawingml/2006/main">
            <a:rect l="l" t="t" r="r" b="b"/>
            <a:pathLst>
              <a:path w="200026" h="55563">
                <a:moveTo>
                  <a:pt x="200026" y="55563"/>
                </a:moveTo>
                <a:lnTo>
                  <a:pt x="140051" y="55563"/>
                </a:lnTo>
                <a:cubicBezTo>
                  <a:pt x="121920" y="55561"/>
                  <a:pt x="104931" y="46714"/>
                  <a:pt x="94534" y="31860"/>
                </a:cubicBezTo>
                <a:lnTo>
                  <a:pt x="88822" y="23703"/>
                </a:lnTo>
                <a:cubicBezTo>
                  <a:pt x="78426" y="8849"/>
                  <a:pt x="61436" y="1"/>
                  <a:pt x="43306" y="0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19E15EF-6662-454F-99CF-1A34A6E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938" y="1716087"/>
            <a:ext cx="200026" cy="55563"/>
          </a:xfrm>
          <a:custGeom xmlns:a="http://schemas.openxmlformats.org/drawingml/2006/main">
            <a:rect l="l" t="t" r="r" b="b"/>
            <a:pathLst>
              <a:path w="200026" h="55563">
                <a:moveTo>
                  <a:pt x="200026" y="1"/>
                </a:moveTo>
                <a:lnTo>
                  <a:pt x="140073" y="1"/>
                </a:lnTo>
                <a:cubicBezTo>
                  <a:pt x="121931" y="0"/>
                  <a:pt x="104930" y="8857"/>
                  <a:pt x="94534" y="23726"/>
                </a:cubicBezTo>
                <a:lnTo>
                  <a:pt x="88867" y="31838"/>
                </a:lnTo>
                <a:cubicBezTo>
                  <a:pt x="78473" y="46704"/>
                  <a:pt x="61478" y="55561"/>
                  <a:pt x="43339" y="55563"/>
                </a:cubicBez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7B5F36B-BBE6-4FB9-99C9-0F9F21F2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6" y="1682750"/>
            <a:ext cx="33338" cy="66675"/>
          </a:xfrm>
          <a:custGeom xmlns:a="http://schemas.openxmlformats.org/drawingml/2006/main">
            <a:rect l="l" t="t" r="r" b="b"/>
            <a:pathLst>
              <a:path w="33338" h="66675">
                <a:moveTo>
                  <a:pt x="0" y="66675"/>
                </a:moveTo>
                <a:lnTo>
                  <a:pt x="33338" y="333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0AABF18-6E2C-42F5-A111-1150CBE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6" y="1793875"/>
            <a:ext cx="33338" cy="66675"/>
          </a:xfrm>
          <a:custGeom xmlns:a="http://schemas.openxmlformats.org/drawingml/2006/main">
            <a:rect l="l" t="t" r="r" b="b"/>
            <a:pathLst>
              <a:path w="33338" h="66675">
                <a:moveTo>
                  <a:pt x="0" y="66675"/>
                </a:moveTo>
                <a:lnTo>
                  <a:pt x="33338" y="333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D1E2A57-FB7D-43C3-8006-2DEF186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742" y="1702118"/>
            <a:ext cx="274249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拆开</a:t>
            </a:r>
            <a:r>
              <a:rPr sz="135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一条反馈</a:t>
            </a:r>
            <a:r>
              <a:rPr sz="135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→ </a:t>
            </a: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多个事项草稿</a:t>
            </a:r>
          </a:p>
        </p:txBody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572A65-F051-4C3A-9696-CF288EE2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00300" y="21145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BBF0F1-9E74-4900-9DEF-84E81A9B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4907" y="2314575"/>
            <a:ext cx="105003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居民反馈</a:t>
            </a:r>
            <a:r>
              <a:rPr sz="1500">
                <a:solidFill>
                  <a:srgbClr val="22302B"/>
                </a:solidFill>
                <a:latin typeface="Arial"/>
                <a:ea typeface="Arial"/>
                <a:cs typeface="Arial"/>
              </a:rPr>
              <a:t> A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5F74493-F3AC-4A32-9CE3-542DCB6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905000" y="2686050"/>
            <a:ext cx="1047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3EF72944-C883-4AB9-8415-1CD0D154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7100" y="2686050"/>
            <a:ext cx="1047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7845FF5-1046-46F8-9104-1CFB3891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925" y="40386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EDF2B78-6AEF-4F5A-A64A-FC64EBD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6731" y="4254818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草稿</a:t>
            </a:r>
            <a:r>
              <a:rPr sz="1350">
                <a:solidFill>
                  <a:srgbClr val="FAFAF7"/>
                </a:solidFill>
                <a:latin typeface="Arial"/>
                <a:ea typeface="Arial"/>
                <a:cs typeface="Arial"/>
              </a:rPr>
              <a:t> 1 · </a:t>
            </a: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照明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4F378E7-4116-49C9-BAF8-B93CC646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0386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5980666-8C0A-4130-968E-BADAB6D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981" y="4254818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草稿</a:t>
            </a:r>
            <a:r>
              <a:rPr sz="1350">
                <a:solidFill>
                  <a:srgbClr val="FAFAF7"/>
                </a:solidFill>
                <a:latin typeface="Arial"/>
                <a:ea typeface="Arial"/>
                <a:cs typeface="Arial"/>
              </a:rPr>
              <a:t> 2 · </a:t>
            </a: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清运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5DB0753-1E49-4976-8C28-9010F53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5613" y="1738313"/>
            <a:ext cx="66675" cy="66675"/>
          </a:xfrm>
          <a:custGeom xmlns:a="http://schemas.openxmlformats.org/drawingml/2006/main">
            <a:rect l="l" t="t" r="r" b="b"/>
            <a:pathLst>
              <a:path w="66675" h="66675">
                <a:moveTo>
                  <a:pt x="0" y="66675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73F6B12-1BB0-449A-B65C-4905A86E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7838" y="1677321"/>
            <a:ext cx="105426" cy="105442"/>
          </a:xfrm>
          <a:custGeom xmlns:a="http://schemas.openxmlformats.org/drawingml/2006/main">
            <a:rect l="l" t="t" r="r" b="b"/>
            <a:pathLst>
              <a:path w="105426" h="105442">
                <a:moveTo>
                  <a:pt x="0" y="27655"/>
                </a:moveTo>
                <a:lnTo>
                  <a:pt x="5145" y="21698"/>
                </a:lnTo>
                <a:cubicBezTo>
                  <a:pt x="26847" y="0"/>
                  <a:pt x="62029" y="2"/>
                  <a:pt x="83727" y="21704"/>
                </a:cubicBezTo>
                <a:cubicBezTo>
                  <a:pt x="105426" y="43405"/>
                  <a:pt x="105423" y="78588"/>
                  <a:pt x="83722" y="100286"/>
                </a:cubicBezTo>
                <a:lnTo>
                  <a:pt x="77788" y="10544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B3844DB-9872-4FB0-AF1F-28719233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50049" y="1760538"/>
            <a:ext cx="100014" cy="105419"/>
          </a:xfrm>
          <a:custGeom xmlns:a="http://schemas.openxmlformats.org/drawingml/2006/main">
            <a:rect l="l" t="t" r="r" b="b"/>
            <a:pathLst>
              <a:path w="100014" h="105419">
                <a:moveTo>
                  <a:pt x="100014" y="77788"/>
                </a:moveTo>
                <a:lnTo>
                  <a:pt x="95603" y="83722"/>
                </a:lnTo>
                <a:cubicBezTo>
                  <a:pt x="73661" y="105419"/>
                  <a:pt x="38345" y="105419"/>
                  <a:pt x="16404" y="83722"/>
                </a:cubicBezTo>
                <a:cubicBezTo>
                  <a:pt x="5907" y="73343"/>
                  <a:pt x="0" y="59195"/>
                  <a:pt x="0" y="44433"/>
                </a:cubicBezTo>
                <a:cubicBezTo>
                  <a:pt x="0" y="29672"/>
                  <a:pt x="5907" y="15524"/>
                  <a:pt x="16404" y="5145"/>
                </a:cubicBezTo>
                <a:lnTo>
                  <a:pt x="222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81C7BF9-9BEC-4B89-962C-D42DE1D4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9742" y="1702118"/>
            <a:ext cx="23608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关联</a:t>
            </a:r>
            <a:r>
              <a:rPr sz="135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多条反馈</a:t>
            </a:r>
            <a:r>
              <a:rPr sz="135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→ </a:t>
            </a: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同一事项</a:t>
            </a:r>
          </a:p>
        </p:txBody>
      </p:sp>
      <p:sp>
        <p:nvSpPr>
          <p:cNvPr id="2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3BF1027-F253-47B0-B2C3-3DB2696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1800" y="21145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BCB595-AD35-4C81-87ED-6103129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9767" y="2314575"/>
            <a:ext cx="62331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反馈</a:t>
            </a:r>
            <a:r>
              <a:rPr sz="1500">
                <a:solidFill>
                  <a:srgbClr val="22302B"/>
                </a:solidFill>
                <a:latin typeface="Arial"/>
                <a:ea typeface="Arial"/>
                <a:cs typeface="Arial"/>
              </a:rPr>
              <a:t> A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A3DB636-CFDB-445E-8F92-57FFFF8F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05950" y="21145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28CBE93-FF36-4B94-B624-CFAEE04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3917" y="2314575"/>
            <a:ext cx="62331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反馈</a:t>
            </a:r>
            <a:r>
              <a:rPr sz="1500">
                <a:solidFill>
                  <a:srgbClr val="22302B"/>
                </a:solidFill>
                <a:latin typeface="Arial"/>
                <a:ea typeface="Arial"/>
                <a:cs typeface="Arial"/>
              </a:rPr>
              <a:t> B</a:t>
            </a:r>
          </a:p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0EBDC628-C033-4AE7-81A3-6CE5938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2686050"/>
            <a:ext cx="8572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197448DB-3F62-4DD6-AADE-4814760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9144000" y="2686050"/>
            <a:ext cx="8572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181828-E81F-4254-B47B-AE1D4C9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6737" y="3223260"/>
            <a:ext cx="69067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6A5E006-6A07-431E-B09B-44A7AAE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403860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5B566B6-1E2F-4EA7-B3F8-B509FD79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5507" y="4254818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同一事项</a:t>
            </a:r>
            <a:r>
              <a:rPr sz="1350">
                <a:solidFill>
                  <a:srgbClr val="FAFAF7"/>
                </a:solidFill>
                <a:latin typeface="Arial"/>
                <a:ea typeface="Arial"/>
                <a:cs typeface="Arial"/>
              </a:rPr>
              <a:t> + </a:t>
            </a: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E43741AC-E76B-4A29-A998-763A80B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638300"/>
            <a:ext cx="9525" cy="3124200"/>
          </a:xfrm>
          <a:custGeom xmlns:a="http://schemas.openxmlformats.org/drawingml/2006/main">
            <a:rect l="l" t="t" r="r" b="b"/>
            <a:pathLst>
              <a:path w="9525" h="3124200">
                <a:moveTo>
                  <a:pt x="0" y="0"/>
                </a:moveTo>
                <a:lnTo>
                  <a:pt x="0" y="3124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BF332781-B3DE-4B83-A07C-51B9267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006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5994826-8ADE-4779-BB99-9098342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433060"/>
            <a:ext cx="75125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150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候选依据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20F788F-E85A-4E6F-B757-A448E2BC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7340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792A5384-DBD2-4EF8-BEA7-6FA1ECA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616" y="5823585"/>
            <a:ext cx="65836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标题词汇</a:t>
            </a:r>
          </a:p>
        </p:txBody>
      </p:sp>
      <p:sp>
        <p:nvSpPr>
          <p:cNvPr id="4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A56AD5F-6930-4760-8432-B34B042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300" y="57340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49A5F3D-B330-4017-9FFF-35214F1C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5460" y="5823585"/>
            <a:ext cx="33528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地点</a:t>
            </a:r>
          </a:p>
        </p:txBody>
      </p:sp>
      <p:sp>
        <p:nvSpPr>
          <p:cNvPr id="45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6C6E869-F3A4-4770-B86E-830B7AB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200" y="57340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B87CE16-7F8B-4769-B83F-E460864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9360" y="5823585"/>
            <a:ext cx="33528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4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8AD68D9B-01B9-4756-9CE5-0F6F00F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6100" y="57340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DE3AD40B-46B8-4EEE-BB98-7AFC5CF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3260" y="5823585"/>
            <a:ext cx="33528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81C7FD1A-3EC8-4301-BA02-A6DA6987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5721668"/>
            <a:ext cx="348489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候选会列出匹配依据，地点不同时会提醒。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5927E6C2-4068-4FFE-8C65-9865168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5988368"/>
            <a:ext cx="273977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由工作人员核对，系统不自动合并。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9EE0E92-3C9E-4236-BE83-53A5441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3796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49211B6-D12B-492A-B251-FD69C27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53796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6421676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16E743-A8CC-4D81-87F4-ED89B6F9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F8A53FD-A414-487D-9CFA-D9A2C2D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演示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操作步骤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A7C2FD9-B2BE-4C10-B336-8BB3EF9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6147968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现场演示：关联一件，新建一件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70717C52-C659-42E4-9E24-1BFAEE5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A286F985-0856-479F-9008-E89B0CB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3250" y="2114550"/>
            <a:ext cx="285750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ADB2BFF4-91D8-40B2-ADDF-C64D86A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4075" y="2114550"/>
            <a:ext cx="285750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143A3E44-5B29-4667-86D9-BA970F5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4900" y="2114550"/>
            <a:ext cx="285750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  <a:tailEnd type="triangle" w="lg" len="lg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3D3E52-7D29-4B4B-8BB7-34E6B07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187833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5E8C7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8CC97B2F-3ED8-45A8-99A8-38F4F03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53365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DA1C5CF-0AAC-4FE3-AB26-142A3E76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281559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粘贴一段反馈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E17B9C-1825-4A70-B2E1-71790BF9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32832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同时包含照明与清运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B267E1D-F39F-4A62-8655-21559D6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35499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两个问题的一段原文。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2D6B08-5168-40B0-902F-B71237C8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2137" y="187833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5E8C7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01DDA14D-B666-4B04-B8F1-4A24E80A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0425" y="253365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086BBD6-404F-42E8-9D10-CB74BDF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1281" y="28155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检查草稿与候选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FE1A0F9-6E3D-4050-9F96-8FDAE16D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3567" y="32832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两个草稿，各带相似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8953B6-396C-4892-BE49-4B39168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3567" y="3549968"/>
            <a:ext cx="14676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事项候选与依据。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BFE55B7-4B1A-40D4-87F1-F6B62352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962" y="187833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D97B2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6E929B3A-6CA1-4657-80D1-2DE15FDD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53365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B29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143D038-F34B-4D16-94EE-4FC5F376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2106" y="281559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关联或新建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6ABD9EB-5B51-4E1A-90B6-CFB673DE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4392" y="32832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照明关联已有事项；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0DAB03E-35E6-4B97-9649-22AAFB1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4392" y="35499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清运问题新建事项。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6E3EF69-F9A8-40F3-8A8C-3A65FE8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3787" y="187833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5E8C7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BE246798-C715-4E3B-B177-DED04E8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075" y="2533650"/>
            <a:ext cx="571500" cy="9525"/>
          </a:xfrm>
          <a:custGeom xmlns:a="http://schemas.openxmlformats.org/drawingml/2006/main"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16588C8B-3280-4FF1-A94F-DA8AECD3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931" y="281559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查看处理结果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94CC5268-040F-4590-8B2E-5BFCC0E8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5217" y="3283268"/>
            <a:ext cx="14676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来源、处理记录与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CD0F408-32D9-4768-B9FA-71C41D33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5217" y="35499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首页统计变化。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390271C-EB60-41B1-9E9A-25945125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476750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8E083E0-3AE9-48B0-9694-804DBF22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5642" y="4845368"/>
            <a:ext cx="8375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150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演示说明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70BFFE0D-0BF0-447B-A3B2-4280B69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5642" y="5207318"/>
            <a:ext cx="794799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演示使用合成数据，现场说明使用真实模型还是</a:t>
            </a:r>
            <a:r>
              <a:rPr sz="1350">
                <a:solidFill>
                  <a:srgbClr val="22302B"/>
                </a:solidFill>
                <a:latin typeface="Arial"/>
                <a:ea typeface="Arial"/>
                <a:cs typeface="Arial"/>
              </a:rPr>
              <a:t> Mock</a:t>
            </a: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350">
                <a:solidFill>
                  <a:srgbClr val="22302B"/>
                </a:solidFill>
                <a:latin typeface="Arial"/>
                <a:ea typeface="Arial"/>
                <a:cs typeface="Arial"/>
              </a:rPr>
              <a:t>Mock </a:t>
            </a: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只检查操作流程，不代表模型效果。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E00F110-D104-439A-A6C3-561564F4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E8EA853F-EE04-4FFC-9A3E-AEF60D4D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046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273180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2B559B-895B-42A9-B535-7746E79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F74EB97-95DD-4F56-A3C2-38B0D9C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259810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容错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修改、重试与手动处理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17C9C3-C14F-4975-8FD7-D090EB59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6147968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草稿能修改，分析失败可重试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68DE1660-8691-4E9C-A325-B9119F5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8E0CCF08-2EEA-4181-AE6E-E9F93622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714500"/>
            <a:ext cx="9525" cy="4191000"/>
          </a:xfrm>
          <a:custGeom xmlns:a="http://schemas.openxmlformats.org/drawingml/2006/main"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3C327997-DFFE-44DC-89FB-E92B4BE0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810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899D921-6821-4965-94E2-783154F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400" y="1846522"/>
            <a:ext cx="198178" cy="198178"/>
          </a:xfrm>
          <a:custGeom xmlns:a="http://schemas.openxmlformats.org/drawingml/2006/main">
            <a:rect l="l" t="t" r="r" b="b"/>
            <a:pathLst>
              <a:path w="198178" h="198178">
                <a:moveTo>
                  <a:pt x="0" y="198178"/>
                </a:moveTo>
                <a:lnTo>
                  <a:pt x="50800" y="198178"/>
                </a:lnTo>
                <a:lnTo>
                  <a:pt x="184150" y="64828"/>
                </a:lnTo>
                <a:cubicBezTo>
                  <a:pt x="198178" y="50800"/>
                  <a:pt x="198178" y="28056"/>
                  <a:pt x="184150" y="14028"/>
                </a:cubicBezTo>
                <a:cubicBezTo>
                  <a:pt x="170122" y="0"/>
                  <a:pt x="147378" y="0"/>
                  <a:pt x="133350" y="14028"/>
                </a:cubicBezTo>
                <a:lnTo>
                  <a:pt x="0" y="147378"/>
                </a:lnTo>
                <a:lnTo>
                  <a:pt x="0" y="19817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8181969-4CB4-4D5A-8637-E950DD1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1873250"/>
            <a:ext cx="50800" cy="50800"/>
          </a:xfrm>
          <a:custGeom xmlns:a="http://schemas.openxmlformats.org/drawingml/2006/main"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DCD235D-2454-4142-ADCB-D79C921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656" y="18440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草稿可修改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0EA1BD-4D7B-4D03-BA72-3AD36FC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2387918"/>
            <a:ext cx="401193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新建事项采用人工确认后的标题、地点、优先级，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A4C408E-94A9-412B-A305-9C5C1DEB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2673668"/>
            <a:ext cx="14676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并留下修改记录。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10A6CC2-2AB0-4E81-A485-C0D90A3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32" y="3202305"/>
            <a:ext cx="36633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29D0F3C-2945-4D23-9B6B-63CE4EA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9100" y="1841500"/>
            <a:ext cx="152400" cy="203199"/>
          </a:xfrm>
          <a:custGeom xmlns:a="http://schemas.openxmlformats.org/drawingml/2006/main">
            <a:rect l="l" t="t" r="r" b="b"/>
            <a:pathLst>
              <a:path w="152400" h="203199">
                <a:moveTo>
                  <a:pt x="58610" y="203199"/>
                </a:moveTo>
                <a:lnTo>
                  <a:pt x="25400" y="203199"/>
                </a:lnTo>
                <a:cubicBezTo>
                  <a:pt x="11372" y="203199"/>
                  <a:pt x="0" y="191828"/>
                  <a:pt x="0" y="177800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27000" y="0"/>
                </a:lnTo>
                <a:cubicBezTo>
                  <a:pt x="141028" y="0"/>
                  <a:pt x="152400" y="11372"/>
                  <a:pt x="152400" y="25400"/>
                </a:cubicBezTo>
                <a:lnTo>
                  <a:pt x="152400" y="127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EF5DA5D-D115-4336-B4E4-C44A8DD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3400" y="2006599"/>
            <a:ext cx="76200" cy="50800"/>
          </a:xfrm>
          <a:custGeom xmlns:a="http://schemas.openxmlformats.org/drawingml/2006/main">
            <a:rect l="l" t="t" r="r" b="b"/>
            <a:pathLst>
              <a:path w="76200" h="50800">
                <a:moveTo>
                  <a:pt x="0" y="25400"/>
                </a:moveTo>
                <a:lnTo>
                  <a:pt x="25400" y="508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E973192-5FF6-4F5C-B57D-7A6756D0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9900" y="1892300"/>
            <a:ext cx="50800" cy="9525"/>
          </a:xfrm>
          <a:custGeom xmlns:a="http://schemas.openxmlformats.org/drawingml/2006/main">
            <a:rect l="l" t="t" r="r" b="b"/>
            <a:pathLst>
              <a:path w="50800" h="9525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C2A48CC-2FC5-45B2-97E6-68A0AECD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9900" y="1943100"/>
            <a:ext cx="25400" cy="9525"/>
          </a:xfrm>
          <a:custGeom xmlns:a="http://schemas.openxmlformats.org/drawingml/2006/main">
            <a:rect l="l" t="t" r="r" b="b"/>
            <a:pathLst>
              <a:path w="25400" h="9525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F1FDD1E-B2DB-4E3B-9C12-BA54810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656" y="18440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批量确认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21797C6-263D-406E-B7CC-D409D8C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2387918"/>
            <a:ext cx="310324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新建、关联和处理记录一起保存；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4C8571E-E21B-415B-9795-32044269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26736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草稿未处理完就不提交。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5F6F779-E638-4FDC-9876-4A1AA34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4932" y="3202305"/>
            <a:ext cx="36633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BC30539-98BD-4510-9530-DB336F87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4114800"/>
            <a:ext cx="228599" cy="228599"/>
          </a:xfrm>
          <a:custGeom xmlns:a="http://schemas.openxmlformats.org/drawingml/2006/main">
            <a:rect l="l" t="t" r="r" b="b"/>
            <a:pathLst>
              <a:path w="228599" h="228599">
                <a:moveTo>
                  <a:pt x="0" y="114300"/>
                </a:moveTo>
                <a:cubicBezTo>
                  <a:pt x="0" y="177426"/>
                  <a:pt x="51174" y="228599"/>
                  <a:pt x="114300" y="228599"/>
                </a:cubicBezTo>
                <a:cubicBezTo>
                  <a:pt x="177426" y="228599"/>
                  <a:pt x="228599" y="177426"/>
                  <a:pt x="228599" y="114300"/>
                </a:cubicBezTo>
                <a:cubicBezTo>
                  <a:pt x="228599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D77C732A-DF63-4FA9-98DC-AC7D334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203700"/>
            <a:ext cx="76200" cy="50800"/>
          </a:xfrm>
          <a:custGeom xmlns:a="http://schemas.openxmlformats.org/drawingml/2006/main">
            <a:rect l="l" t="t" r="r" b="b"/>
            <a:pathLst>
              <a:path w="76200" h="50800">
                <a:moveTo>
                  <a:pt x="0" y="25400"/>
                </a:moveTo>
                <a:lnTo>
                  <a:pt x="25400" y="508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4F066F1-D939-4493-95F5-9137BA1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656" y="41300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防重复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4F7FA99-E458-4FD7-B74A-EA5BFF5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673918"/>
            <a:ext cx="237629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已确认的反馈拒绝重复确认；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4A1229F0-5333-406F-98F9-302E72A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9596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状态只能按规定顺序变更。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CCF0E7C-FE38-4F80-B8C3-EA9C365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32" y="5469255"/>
            <a:ext cx="36633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0FE628C-12F4-457B-81B7-6FFB348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56400" y="4122600"/>
            <a:ext cx="203199" cy="93800"/>
          </a:xfrm>
          <a:custGeom xmlns:a="http://schemas.openxmlformats.org/drawingml/2006/main">
            <a:rect l="l" t="t" r="r" b="b"/>
            <a:pathLst>
              <a:path w="203199" h="93800">
                <a:moveTo>
                  <a:pt x="203199" y="93800"/>
                </a:moveTo>
                <a:cubicBezTo>
                  <a:pt x="196815" y="47858"/>
                  <a:pt x="160475" y="11871"/>
                  <a:pt x="114473" y="5936"/>
                </a:cubicBezTo>
                <a:cubicBezTo>
                  <a:pt x="68472" y="0"/>
                  <a:pt x="24187" y="25584"/>
                  <a:pt x="6350" y="68400"/>
                </a:cubicBezTo>
                <a:moveTo>
                  <a:pt x="0" y="17600"/>
                </a:moveTo>
                <a:lnTo>
                  <a:pt x="0" y="68400"/>
                </a:lnTo>
                <a:lnTo>
                  <a:pt x="50800" y="68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18C73448-A985-4C04-8B23-205F6E0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56400" y="4241800"/>
            <a:ext cx="203199" cy="93800"/>
          </a:xfrm>
          <a:custGeom xmlns:a="http://schemas.openxmlformats.org/drawingml/2006/main">
            <a:rect l="l" t="t" r="r" b="b"/>
            <a:pathLst>
              <a:path w="203199" h="93800">
                <a:moveTo>
                  <a:pt x="0" y="0"/>
                </a:moveTo>
                <a:cubicBezTo>
                  <a:pt x="6385" y="45942"/>
                  <a:pt x="42724" y="81928"/>
                  <a:pt x="88726" y="87864"/>
                </a:cubicBezTo>
                <a:cubicBezTo>
                  <a:pt x="134728" y="93800"/>
                  <a:pt x="179012" y="68216"/>
                  <a:pt x="196850" y="25400"/>
                </a:cubicBezTo>
                <a:moveTo>
                  <a:pt x="203199" y="76200"/>
                </a:moveTo>
                <a:lnTo>
                  <a:pt x="203199" y="25400"/>
                </a:lnTo>
                <a:lnTo>
                  <a:pt x="152400" y="25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F59CFFA-3100-44EA-968D-800BD82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656" y="41300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失败处理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DD4FEB6-F63F-4033-9235-2E8ACD8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4673918"/>
            <a:ext cx="17707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分析失败可重试；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798AAE-B461-4F56-9D10-328AAFB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4959668"/>
            <a:ext cx="292150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符合条件时，可以手动创建事项。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8B1AE47E-658A-4AFC-AC40-3B7CA7B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4932" y="5469255"/>
            <a:ext cx="36633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8DED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0EB09E86-22C2-4B87-9AD6-A0E10D9E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24160F86-D731-49BD-9FFD-C8BF562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046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20819204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7C7259-5C10-47B7-A535-C901DD5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CE5A919-6363-4A1D-A8CD-5B4890B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分层职责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191C39A-9604-44B0-9286-2D60ED01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6618427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模型整理反馈，程序检查规则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9AD3543E-549A-4027-827C-9EBAB811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3FB1B14-F0D9-41E1-9C75-0386723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002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1763AA2-AA49-485F-BE2C-6EFCF41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5098" y="1767840"/>
            <a:ext cx="31400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7FA9F5A-1AF5-46A9-99F7-CAECC04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8440" y="2102168"/>
            <a:ext cx="96732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Arial"/>
                <a:ea typeface="Arial"/>
                <a:cs typeface="Arial"/>
              </a:rPr>
              <a:t>Web </a:t>
            </a: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0B75F28-A124-42B9-B5B3-5F47F0A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0" y="1600200"/>
            <a:ext cx="8915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>
              <a:alpha val="50000"/>
            </a:srgbClr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B8C3DB-00B3-473A-9087-EACEC16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6205" y="19497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FE1CF3E0-59B1-4025-9CD3-FD13F433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8800" y="16002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80E2D6-3BC9-4A3F-985A-AECF9A1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6268" y="19497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草稿检查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39874F3F-6FB0-4B65-AEF0-A4A544A0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0600" y="16002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7180605-E685-4984-828E-15DA383E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8068" y="19497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事项跟踪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0DB322E-8508-4FBB-BEAE-A09A27F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5908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E792DD8-A6F9-4730-A758-A2BB9AF9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4313" y="2760663"/>
            <a:ext cx="155575" cy="155575"/>
          </a:xfrm>
          <a:custGeom xmlns:a="http://schemas.openxmlformats.org/drawingml/2006/main">
            <a:rect l="l" t="t" r="r" b="b"/>
            <a:pathLst>
              <a:path w="155575" h="155575">
                <a:moveTo>
                  <a:pt x="0" y="11113"/>
                </a:moveTo>
                <a:cubicBezTo>
                  <a:pt x="0" y="4975"/>
                  <a:pt x="4975" y="0"/>
                  <a:pt x="11113" y="0"/>
                </a:cubicBezTo>
                <a:lnTo>
                  <a:pt x="144463" y="0"/>
                </a:lnTo>
                <a:cubicBezTo>
                  <a:pt x="150600" y="0"/>
                  <a:pt x="155575" y="4975"/>
                  <a:pt x="155575" y="11113"/>
                </a:cubicBezTo>
                <a:lnTo>
                  <a:pt x="155575" y="144463"/>
                </a:lnTo>
                <a:cubicBezTo>
                  <a:pt x="155575" y="150600"/>
                  <a:pt x="150600" y="155575"/>
                  <a:pt x="144463" y="155575"/>
                </a:cubicBezTo>
                <a:lnTo>
                  <a:pt x="11113" y="155575"/>
                </a:lnTo>
                <a:cubicBezTo>
                  <a:pt x="4975" y="155575"/>
                  <a:pt x="0" y="150600"/>
                  <a:pt x="0" y="144463"/>
                </a:cubicBezTo>
                <a:lnTo>
                  <a:pt x="0" y="111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CE41DB4-8348-4AB3-8774-AC7C017F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763" y="2805113"/>
            <a:ext cx="66675" cy="66675"/>
          </a:xfrm>
          <a:custGeom xmlns:a="http://schemas.openxmlformats.org/drawingml/2006/main">
            <a:rect l="l" t="t" r="r" b="b"/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  <a:lnTo>
                  <a:pt x="0" y="66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38E6E9B-0FBA-43C7-BB79-68250EF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088" y="2816225"/>
            <a:ext cx="22225" cy="9525"/>
          </a:xfrm>
          <a:custGeom xmlns:a="http://schemas.openxmlformats.org/drawingml/2006/main">
            <a:rect l="l" t="t" r="r" b="b"/>
            <a:pathLst>
              <a:path w="22225" h="9525">
                <a:moveTo>
                  <a:pt x="0" y="0"/>
                </a:moveTo>
                <a:lnTo>
                  <a:pt x="2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A5E1B94-BC7B-49D6-B81B-AB3DB4B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088" y="2860675"/>
            <a:ext cx="22225" cy="9525"/>
          </a:xfrm>
          <a:custGeom xmlns:a="http://schemas.openxmlformats.org/drawingml/2006/main">
            <a:rect l="l" t="t" r="r" b="b"/>
            <a:pathLst>
              <a:path w="22225" h="9525">
                <a:moveTo>
                  <a:pt x="0" y="0"/>
                </a:moveTo>
                <a:lnTo>
                  <a:pt x="2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2B10DEE-04F6-4475-A5DA-3407553D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9875" y="2738438"/>
            <a:ext cx="9525" cy="22225"/>
          </a:xfrm>
          <a:custGeom xmlns:a="http://schemas.openxmlformats.org/drawingml/2006/main">
            <a:rect l="l" t="t" r="r" b="b"/>
            <a:pathLst>
              <a:path w="9525" h="22225">
                <a:moveTo>
                  <a:pt x="0" y="0"/>
                </a:moveTo>
                <a:lnTo>
                  <a:pt x="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4477105-D9A4-4F76-9A35-6F5047EC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4325" y="2738438"/>
            <a:ext cx="9525" cy="22225"/>
          </a:xfrm>
          <a:custGeom xmlns:a="http://schemas.openxmlformats.org/drawingml/2006/main">
            <a:rect l="l" t="t" r="r" b="b"/>
            <a:pathLst>
              <a:path w="9525" h="22225">
                <a:moveTo>
                  <a:pt x="0" y="0"/>
                </a:moveTo>
                <a:lnTo>
                  <a:pt x="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20152E4-AB40-406F-874E-30C3C57D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9888" y="2816225"/>
            <a:ext cx="22225" cy="9525"/>
          </a:xfrm>
          <a:custGeom xmlns:a="http://schemas.openxmlformats.org/drawingml/2006/main">
            <a:rect l="l" t="t" r="r" b="b"/>
            <a:pathLst>
              <a:path w="22225" h="9525">
                <a:moveTo>
                  <a:pt x="22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A856E5A-6255-49B4-AF1E-8F02BB5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9888" y="2860675"/>
            <a:ext cx="22225" cy="9525"/>
          </a:xfrm>
          <a:custGeom xmlns:a="http://schemas.openxmlformats.org/drawingml/2006/main">
            <a:rect l="l" t="t" r="r" b="b"/>
            <a:pathLst>
              <a:path w="22225" h="9525">
                <a:moveTo>
                  <a:pt x="22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B7EB554-A85C-4E42-A1AB-E693806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4325" y="2916238"/>
            <a:ext cx="9525" cy="22225"/>
          </a:xfrm>
          <a:custGeom xmlns:a="http://schemas.openxmlformats.org/drawingml/2006/main">
            <a:rect l="l" t="t" r="r" b="b"/>
            <a:pathLst>
              <a:path w="9525" h="22225">
                <a:moveTo>
                  <a:pt x="0" y="22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2D3623B-4C2C-4DB5-98FA-A413FAB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9875" y="2916238"/>
            <a:ext cx="9525" cy="22225"/>
          </a:xfrm>
          <a:custGeom xmlns:a="http://schemas.openxmlformats.org/drawingml/2006/main">
            <a:rect l="l" t="t" r="r" b="b"/>
            <a:pathLst>
              <a:path w="9525" h="22225">
                <a:moveTo>
                  <a:pt x="0" y="22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86B7A6-58E3-4E4F-8CEC-275C00C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2804" y="3168968"/>
            <a:ext cx="61859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Arial"/>
                <a:ea typeface="Arial"/>
                <a:cs typeface="Arial"/>
              </a:rPr>
              <a:t>AI </a:t>
            </a: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适配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6132711-4DD7-4CBA-B6BD-AAADBCCB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0" y="2590800"/>
            <a:ext cx="8915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>
              <a:alpha val="50000"/>
            </a:srgbClr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B12C88-FA4A-4710-9B47-FCBEE8A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6771" y="2940368"/>
            <a:ext cx="45605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Mock</a:t>
            </a:r>
          </a:p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4D4F33E9-690D-42F6-A472-732A60AA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8800" y="25908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696C48-F873-47F5-B191-4094AE14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0141" y="2940368"/>
            <a:ext cx="49291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Qwen</a:t>
            </a:r>
          </a:p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D3577A3D-4A24-40FD-835D-E8F283DA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0600" y="25908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BF1E401-3BA5-4B2A-AAC8-BB5117CE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7861" y="2940368"/>
            <a:ext cx="62107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OpenAI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A35F9DA-D557-4AE9-868F-71A2884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5814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0C6F914E-7A4B-4EBE-BFF9-E642DDEA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5098" y="3749040"/>
            <a:ext cx="31400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7AED0FA-A09C-4B9B-88F4-84F2297C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768" y="40833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业务控制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7FB742AA-3E8C-479D-889A-40F440B5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0" y="3581400"/>
            <a:ext cx="8915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>
              <a:alpha val="50000"/>
            </a:srgbClr>
          </a:solidFill>
          <a:ln xmlns:a="http://schemas.openxmlformats.org/drawingml/2006/main">
            <a:noFill/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3839F13-6676-4ECE-B886-B88F7FC8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6407" y="3930968"/>
            <a:ext cx="11309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Schema </a:t>
            </a: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42" name="Line 42">
            <a:extLst xmlns:a="http://schemas.openxmlformats.org/drawingml/2006/main">
              <a:ext uri="{FF2B5EF4-FFF2-40B4-BE49-F238E27FC236}">
                <a16:creationId xmlns:a16="http://schemas.microsoft.com/office/drawing/2014/main" id="{E00A6886-B444-46FC-B136-17214230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850" y="35814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A69FEAD-0335-4EB7-83C0-5E3D5766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2219" y="393096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44" name="Line 44">
            <a:extLst xmlns:a="http://schemas.openxmlformats.org/drawingml/2006/main">
              <a:ext uri="{FF2B5EF4-FFF2-40B4-BE49-F238E27FC236}">
                <a16:creationId xmlns:a16="http://schemas.microsoft.com/office/drawing/2014/main" id="{C391B161-8BBF-4324-B79C-5969A55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5600" y="35814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0EC06C-2EE6-4606-864F-0336594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6895" y="3930968"/>
            <a:ext cx="115865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46" name="Line 46">
            <a:extLst xmlns:a="http://schemas.openxmlformats.org/drawingml/2006/main">
              <a:ext uri="{FF2B5EF4-FFF2-40B4-BE49-F238E27FC236}">
                <a16:creationId xmlns:a16="http://schemas.microsoft.com/office/drawing/2014/main" id="{6EC18CCB-45EC-491F-BCC1-2D1FC485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0" y="35814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052DD9-413E-4D00-80A8-FD6C157E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4881" y="3930968"/>
            <a:ext cx="58618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49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E4F2A5FA-FE4D-4D8C-8B85-2851C93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37C9F32-EF1F-43BD-ACC9-4281049B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3200" y="4719638"/>
            <a:ext cx="177801" cy="66675"/>
          </a:xfrm>
          <a:custGeom xmlns:a="http://schemas.openxmlformats.org/drawingml/2006/main">
            <a:rect l="l" t="t" r="r" b="b"/>
            <a:pathLst>
              <a:path w="177801" h="66675">
                <a:moveTo>
                  <a:pt x="0" y="33338"/>
                </a:moveTo>
                <a:cubicBezTo>
                  <a:pt x="0" y="51749"/>
                  <a:pt x="39802" y="66675"/>
                  <a:pt x="88900" y="66675"/>
                </a:cubicBezTo>
                <a:cubicBezTo>
                  <a:pt x="137999" y="66675"/>
                  <a:pt x="177801" y="51749"/>
                  <a:pt x="177801" y="33338"/>
                </a:cubicBezTo>
                <a:cubicBezTo>
                  <a:pt x="177801" y="14926"/>
                  <a:pt x="137999" y="0"/>
                  <a:pt x="88900" y="0"/>
                </a:cubicBezTo>
                <a:cubicBezTo>
                  <a:pt x="39802" y="0"/>
                  <a:pt x="0" y="14926"/>
                  <a:pt x="0" y="333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77FC82A-753E-4B7D-887E-C473F10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3200" y="4752975"/>
            <a:ext cx="177801" cy="100013"/>
          </a:xfrm>
          <a:custGeom xmlns:a="http://schemas.openxmlformats.org/drawingml/2006/main">
            <a:rect l="l" t="t" r="r" b="b"/>
            <a:pathLst>
              <a:path w="177801" h="100013">
                <a:moveTo>
                  <a:pt x="0" y="0"/>
                </a:moveTo>
                <a:lnTo>
                  <a:pt x="0" y="66675"/>
                </a:lnTo>
                <a:cubicBezTo>
                  <a:pt x="0" y="85087"/>
                  <a:pt x="39802" y="100013"/>
                  <a:pt x="88900" y="100013"/>
                </a:cubicBezTo>
                <a:cubicBezTo>
                  <a:pt x="137999" y="100013"/>
                  <a:pt x="177801" y="85087"/>
                  <a:pt x="177801" y="66675"/>
                </a:cubicBezTo>
                <a:lnTo>
                  <a:pt x="1778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00D7E130-BB5F-411E-BC8B-38C875A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3200" y="4819650"/>
            <a:ext cx="177801" cy="100013"/>
          </a:xfrm>
          <a:custGeom xmlns:a="http://schemas.openxmlformats.org/drawingml/2006/main">
            <a:rect l="l" t="t" r="r" b="b"/>
            <a:pathLst>
              <a:path w="177801" h="100013">
                <a:moveTo>
                  <a:pt x="0" y="0"/>
                </a:moveTo>
                <a:lnTo>
                  <a:pt x="0" y="66675"/>
                </a:lnTo>
                <a:cubicBezTo>
                  <a:pt x="0" y="85087"/>
                  <a:pt x="39802" y="100013"/>
                  <a:pt x="88900" y="100013"/>
                </a:cubicBezTo>
                <a:cubicBezTo>
                  <a:pt x="137999" y="100013"/>
                  <a:pt x="177801" y="85087"/>
                  <a:pt x="177801" y="66675"/>
                </a:cubicBezTo>
                <a:lnTo>
                  <a:pt x="1778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AFAF7"/>
            </a:solidFill>
          </a:ln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4A7A675-3DA3-4C78-A27E-86A31640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768" y="51501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数据记录</a:t>
            </a:r>
          </a:p>
        </p:txBody>
      </p:sp>
      <p:sp>
        <p:nvSpPr>
          <p:cNvPr id="55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05130348-3EF2-4B9F-A09F-EDD4843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0" y="4572000"/>
            <a:ext cx="8915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>
              <a:alpha val="50000"/>
            </a:srgbClr>
          </a:solidFill>
          <a:ln xmlns:a="http://schemas.openxmlformats.org/drawingml/2006/main">
            <a:noFill/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AA5FF2C2-F90F-4F3A-9F83-2750D6CA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4843" y="49215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原始反馈</a:t>
            </a:r>
          </a:p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147BA492-52D6-4812-B2B8-9A809351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6225" y="45720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85177322-6654-44E3-8F1C-7E07B015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5805" y="49215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47B59C7A-65F6-4DF2-889B-6992145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2575" y="45720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7A6B1255-D762-4579-8C58-A64E053A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2155" y="49215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事项</a:t>
            </a:r>
          </a:p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F32BE719-8F23-41EE-BC55-EC1E766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925" y="45720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556EECF0-C999-40CB-B3A9-43C1BB17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8505" y="49215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96A4FA3D-8B2C-46BE-9EB1-94560A2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5275" y="4572000"/>
            <a:ext cx="9525" cy="838200"/>
          </a:xfrm>
          <a:custGeom xmlns:a="http://schemas.openxmlformats.org/drawingml/2006/main"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42CAF9-1C53-41EC-BE38-3FD00665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9368" y="49215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处理记录</a:t>
            </a:r>
          </a:p>
        </p:txBody>
      </p:sp>
      <p:sp>
        <p:nvSpPr>
          <p:cNvPr id="66" name="Line 66">
            <a:extLst xmlns:a="http://schemas.openxmlformats.org/drawingml/2006/main">
              <a:ext uri="{FF2B5EF4-FFF2-40B4-BE49-F238E27FC236}">
                <a16:creationId xmlns:a16="http://schemas.microsoft.com/office/drawing/2014/main" id="{EACF9D4B-E178-4858-B778-F09C9444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715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6E9D4056-0B04-43AD-8DB9-4EAAD82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66460"/>
            <a:ext cx="75125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150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技术基础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CB835214-AE73-4987-B1F8-6FD07F9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7642" y="5950268"/>
            <a:ext cx="471358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Next.js/React/TypeScript/Zod/Prisma/SQLite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5477AD9C-56D2-48FF-ACA1-BF97D19A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0528" y="5966460"/>
            <a:ext cx="380796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视觉模型待实测；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Mock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不识别图片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EB6C6A61-80B0-46D3-8F22-D78A48F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427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B9E7C243-0A2B-4016-A9C8-F56511A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427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9717230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931D83-9FF7-4BDD-8270-3C18E766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46F59B-FC77-4107-854F-34857211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背书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工程证据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5885ED3-8939-4311-9A90-84375A4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4736592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已完成的功能和测试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1D6878C1-8AB3-4D34-8F8C-AF7A7630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30970B68-95F0-4BDA-856C-3925990A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3A18677-719F-45DB-BF70-095F833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2164080"/>
            <a:ext cx="923727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52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4633ED9-B946-4734-8920-5ECD404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980" y="2867025"/>
            <a:ext cx="216730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项</a:t>
            </a:r>
            <a:r>
              <a:rPr sz="15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AI </a:t>
            </a: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3CD17E1-B128-42E2-AD69-7629F97D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3204210"/>
            <a:ext cx="264932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图片传参、输出校验与失败处理</a:t>
            </a:r>
          </a:p>
        </p:txBody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92515803-82B3-450D-A994-96133ABC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003C530-1D4F-48E2-B060-869EEADE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912" y="216408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FABC5D-8681-4CC0-A045-0893046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9580" y="2867025"/>
            <a:ext cx="237933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项</a:t>
            </a:r>
            <a:r>
              <a:rPr sz="15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Web </a:t>
            </a: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99C50B-6946-4108-9B42-47783304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1104" y="3204210"/>
            <a:ext cx="178917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上传边界、配置与查重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6D78DB23-FFF3-4B94-B992-4C973E7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48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B781D8-7B86-41D0-BF2B-FD97EEE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6512" y="2164080"/>
            <a:ext cx="62801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1E4D40"/>
                </a:solidFill>
                <a:latin typeface="Georgia"/>
                <a:ea typeface="Georgia"/>
                <a:cs typeface="Georgia"/>
              </a:rPr>
              <a:t>76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107D5E-0C00-4E5F-8FFE-C65C69D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7180" y="2867025"/>
            <a:ext cx="237933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项本轮单元测试通过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C4853B8-8D18-42F1-96F5-6E5F58E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8704" y="3204210"/>
            <a:ext cx="230794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范围：</a:t>
            </a:r>
            <a:r>
              <a:rPr sz="120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</a:t>
            </a: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200">
                <a:solidFill>
                  <a:srgbClr val="5C6B64"/>
                </a:solidFill>
                <a:latin typeface="Arial"/>
                <a:ea typeface="Arial"/>
                <a:cs typeface="Arial"/>
              </a:rPr>
              <a:t> Web</a:t>
            </a:r>
            <a:r>
              <a:rPr sz="120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，非全仓总数</a:t>
            </a:r>
          </a:p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21404166-2184-472C-A151-47AC0275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1714500"/>
            <a:ext cx="9525" cy="1714500"/>
          </a:xfrm>
          <a:custGeom xmlns:a="http://schemas.openxmlformats.org/drawingml/2006/main"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DC886CD8-4F8C-4F96-AAD8-BF4BEAC5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2400" y="1714500"/>
            <a:ext cx="9525" cy="1714500"/>
          </a:xfrm>
          <a:custGeom xmlns:a="http://schemas.openxmlformats.org/drawingml/2006/main"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3505917D-6135-48C7-9744-0F08669F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810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D8B2393-59E8-44A7-B7DB-D85E709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980" y="40862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项目成果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18D19F6-4287-4B2F-8C28-180C879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9142" y="4102418"/>
            <a:ext cx="575523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文字流程已实现；图片可上传、保存和恢复，失败后可转人工</a:t>
            </a:r>
          </a:p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7728447B-84C5-4CB5-AE43-5C64F46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729F3C0-9149-4048-AAB1-79E8760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175" y="4833938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BACC38F-979E-447E-976A-4ED99DEE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163" y="4833938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D0A96C-441B-4B96-B5FC-E93B26B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13" y="4900613"/>
            <a:ext cx="11113" cy="9525"/>
          </a:xfrm>
          <a:custGeom xmlns:a="http://schemas.openxmlformats.org/drawingml/2006/main">
            <a:rect l="l" t="t" r="r" b="b"/>
            <a:pathLst>
              <a:path w="11113" h="9525">
                <a:moveTo>
                  <a:pt x="0" y="0"/>
                </a:moveTo>
                <a:lnTo>
                  <a:pt x="111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021F340-DDB4-4FCF-A255-53556F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13" y="4945063"/>
            <a:ext cx="66675" cy="9525"/>
          </a:xfrm>
          <a:custGeom xmlns:a="http://schemas.openxmlformats.org/drawingml/2006/main">
            <a:rect l="l" t="t" r="r" b="b"/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1B753BF-5C28-4AF1-A851-275CBF52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13" y="4989513"/>
            <a:ext cx="66675" cy="9525"/>
          </a:xfrm>
          <a:custGeom xmlns:a="http://schemas.openxmlformats.org/drawingml/2006/main">
            <a:rect l="l" t="t" r="r" b="b"/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766474A-9A7F-4B79-8F5A-1CB93C19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2980" y="48482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流程验证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5B5FDAE-D2EF-427C-B627-ADB5F78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9142" y="4864418"/>
            <a:ext cx="455714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上传、刷新恢复、重复提交及原图核对通过</a:t>
            </a:r>
          </a:p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5434C636-1844-4714-8081-1AD783F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334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B40313B9-418F-47A1-B921-D5D4C5CB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980" y="56102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目前情况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C6AD0B2-A98F-4BB8-B7DB-C92F555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9142" y="5626418"/>
            <a:ext cx="639268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个人开发项目，尚无可展示的客户或合作数据；实际使用效果还需验证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B1BE2DA-53E1-4549-A681-2C8BF885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118860"/>
            <a:ext cx="619125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2026-08-31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图片修复后验证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未重跑完整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 E2E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，未调用真实视觉模型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70D6E2F-82C4-4102-8C2A-5564E53F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808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F6AD6B8-233A-453F-A2BF-017140C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808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6573360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43859C-4455-4B60-A453-008B35E4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1AA44DD-F741-4CC5-8EEA-B5C2F177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商业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落地路径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7BB7DCD-1767-4462-8857-0DD6CC05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4266133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先试用，再讨论收费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474B492A-BB4B-4C07-9A0F-02F64D46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Polygon 7">
            <a:extLst xmlns:a="http://schemas.openxmlformats.org/drawingml/2006/main">
              <a:ext uri="{FF2B5EF4-FFF2-40B4-BE49-F238E27FC236}">
                <a16:creationId xmlns:a16="http://schemas.microsoft.com/office/drawing/2014/main" id="{7553DD8A-49BE-4D03-9F6D-2B87020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714500"/>
            <a:ext cx="3905250" cy="666750"/>
          </a:xfrm>
          <a:custGeom xmlns:a="http://schemas.openxmlformats.org/drawingml/2006/main">
            <a:rect l="l" t="t" r="r" b="b"/>
            <a:pathLst>
              <a:path w="3905250" h="666750">
                <a:moveTo>
                  <a:pt x="0" y="0"/>
                </a:moveTo>
                <a:lnTo>
                  <a:pt x="3619500" y="0"/>
                </a:lnTo>
                <a:lnTo>
                  <a:pt x="3905250" y="333375"/>
                </a:lnTo>
                <a:lnTo>
                  <a:pt x="3619500" y="6667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F0F2ED"/>
          </a:solidFill>
          <a:ln xmlns:a="http://schemas.openxmlformats.org/drawingml/2006/main" w="14288">
            <a:solidFill>
              <a:srgbClr val="1E4D40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5F1A438-E2BB-409B-B360-28AB678C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6758" y="1889760"/>
            <a:ext cx="75468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spc="150">
                <a:solidFill>
                  <a:srgbClr val="5C6B64"/>
                </a:solidFill>
                <a:latin typeface="Arial"/>
                <a:ea typeface="Arial"/>
                <a:cs typeface="Arial"/>
              </a:rPr>
              <a:t>STEP 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F793FAF-3B02-4AF1-A1B5-C72D211B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427" y="21050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梳理流程</a:t>
            </a:r>
          </a:p>
        </p:txBody>
      </p:sp>
      <p:sp>
        <p:nvSpPr>
          <p:cNvPr id="10" name="Polygon 10">
            <a:extLst xmlns:a="http://schemas.openxmlformats.org/drawingml/2006/main">
              <a:ext uri="{FF2B5EF4-FFF2-40B4-BE49-F238E27FC236}">
                <a16:creationId xmlns:a16="http://schemas.microsoft.com/office/drawing/2014/main" id="{32BB0ACD-BE6C-49E1-BC8A-C5D5C83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100" y="1714500"/>
            <a:ext cx="3905250" cy="666750"/>
          </a:xfrm>
          <a:custGeom xmlns:a="http://schemas.openxmlformats.org/drawingml/2006/main">
            <a:rect l="l" t="t" r="r" b="b"/>
            <a:pathLst>
              <a:path w="3905250" h="666750">
                <a:moveTo>
                  <a:pt x="0" y="0"/>
                </a:moveTo>
                <a:lnTo>
                  <a:pt x="3619500" y="0"/>
                </a:lnTo>
                <a:lnTo>
                  <a:pt x="3905250" y="333375"/>
                </a:lnTo>
                <a:lnTo>
                  <a:pt x="3619500" y="666750"/>
                </a:lnTo>
                <a:lnTo>
                  <a:pt x="0" y="666750"/>
                </a:lnTo>
                <a:lnTo>
                  <a:pt x="285750" y="333375"/>
                </a:lnTo>
                <a:close/>
              </a:path>
            </a:pathLst>
          </a:custGeom>
          <a:solidFill xmlns:a="http://schemas.openxmlformats.org/drawingml/2006/main">
            <a:srgbClr val="F0F2ED"/>
          </a:solidFill>
          <a:ln xmlns:a="http://schemas.openxmlformats.org/drawingml/2006/main" w="14288">
            <a:solidFill>
              <a:srgbClr val="1E4D40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74C15C-1680-4846-B5DB-67375E2E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1508" y="1889760"/>
            <a:ext cx="75468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spc="150">
                <a:solidFill>
                  <a:srgbClr val="5C6B64"/>
                </a:solidFill>
                <a:latin typeface="Arial"/>
                <a:ea typeface="Arial"/>
                <a:cs typeface="Arial"/>
              </a:rPr>
              <a:t>STEP 02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647362-3B1D-40AD-BAA7-84AE39D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7177" y="21050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试用比较</a:t>
            </a:r>
          </a:p>
        </p:txBody>
      </p:sp>
      <p:sp>
        <p:nvSpPr>
          <p:cNvPr id="13" name="Polygon 13">
            <a:extLst xmlns:a="http://schemas.openxmlformats.org/drawingml/2006/main">
              <a:ext uri="{FF2B5EF4-FFF2-40B4-BE49-F238E27FC236}">
                <a16:creationId xmlns:a16="http://schemas.microsoft.com/office/drawing/2014/main" id="{39ED72C4-52BF-43B3-BCA2-70428F73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1714500"/>
            <a:ext cx="3733800" cy="666750"/>
          </a:xfrm>
          <a:custGeom xmlns:a="http://schemas.openxmlformats.org/drawingml/2006/main">
            <a:rect l="l" t="t" r="r" b="b"/>
            <a:pathLst>
              <a:path w="3733800" h="666750">
                <a:moveTo>
                  <a:pt x="0" y="0"/>
                </a:moveTo>
                <a:lnTo>
                  <a:pt x="3448050" y="0"/>
                </a:lnTo>
                <a:lnTo>
                  <a:pt x="3733800" y="333375"/>
                </a:lnTo>
                <a:lnTo>
                  <a:pt x="3448050" y="666750"/>
                </a:lnTo>
                <a:lnTo>
                  <a:pt x="0" y="666750"/>
                </a:lnTo>
                <a:lnTo>
                  <a:pt x="285750" y="333375"/>
                </a:lnTo>
                <a:close/>
              </a:path>
            </a:pathLst>
          </a:cu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0C1052-9EE2-4BE4-BCC9-2A003D6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2908" y="1889760"/>
            <a:ext cx="75468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spc="150">
                <a:solidFill>
                  <a:srgbClr val="5E8C7B"/>
                </a:solidFill>
                <a:latin typeface="Arial"/>
                <a:ea typeface="Arial"/>
                <a:cs typeface="Arial"/>
              </a:rPr>
              <a:t>STEP 03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4D21F53-2B5D-479B-BC51-7F7408D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8577" y="210502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AFAF7"/>
                </a:solidFill>
                <a:latin typeface="Microsoft YaHei"/>
                <a:ea typeface="Microsoft YaHei"/>
                <a:cs typeface="Microsoft YaHei"/>
              </a:rPr>
              <a:t>服务采购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345F6157-9F10-4055-AD6C-589E5513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857500"/>
            <a:ext cx="9525" cy="2857500"/>
          </a:xfrm>
          <a:custGeom xmlns:a="http://schemas.openxmlformats.org/drawingml/2006/main">
            <a:rect l="l" t="t" r="r" b="b"/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853080BC-AE88-4B06-87C3-F5CCCA5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2862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7EECACD-0B72-412A-9092-10315D7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31" y="3083719"/>
            <a:ext cx="95250" cy="95250"/>
          </a:xfrm>
          <a:custGeom xmlns:a="http://schemas.openxmlformats.org/drawingml/2006/main">
            <a:rect l="l" t="t" r="r" b="b"/>
            <a:pathLst>
              <a:path w="95250" h="95250">
                <a:moveTo>
                  <a:pt x="0" y="47625"/>
                </a:move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  <a:cubicBezTo>
                  <a:pt x="95250" y="21322"/>
                  <a:pt x="73928" y="0"/>
                  <a:pt x="47625" y="0"/>
                </a:cubicBezTo>
                <a:cubicBezTo>
                  <a:pt x="21322" y="0"/>
                  <a:pt x="0" y="21322"/>
                  <a:pt x="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C80DD0A6-2715-49DF-8CD8-35DE1FF3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19" y="3226594"/>
            <a:ext cx="142875" cy="71438"/>
          </a:xfrm>
          <a:custGeom xmlns:a="http://schemas.openxmlformats.org/drawingml/2006/main">
            <a:rect l="l" t="t" r="r" b="b"/>
            <a:pathLst>
              <a:path w="142875" h="71438">
                <a:moveTo>
                  <a:pt x="0" y="71438"/>
                </a:move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lnTo>
                  <a:pt x="95250" y="0"/>
                </a:lnTo>
                <a:cubicBezTo>
                  <a:pt x="121553" y="0"/>
                  <a:pt x="142875" y="21322"/>
                  <a:pt x="142875" y="47625"/>
                </a:cubicBezTo>
                <a:lnTo>
                  <a:pt x="142875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5F22FE0-1788-4F3C-8098-E29566F7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" y="3085267"/>
            <a:ext cx="35812" cy="92273"/>
          </a:xfrm>
          <a:custGeom xmlns:a="http://schemas.openxmlformats.org/drawingml/2006/main">
            <a:rect l="l" t="t" r="r" b="b"/>
            <a:pathLst>
              <a:path w="35812" h="92273">
                <a:moveTo>
                  <a:pt x="0" y="0"/>
                </a:moveTo>
                <a:cubicBezTo>
                  <a:pt x="21073" y="5396"/>
                  <a:pt x="35812" y="24384"/>
                  <a:pt x="35812" y="46137"/>
                </a:cubicBezTo>
                <a:cubicBezTo>
                  <a:pt x="35812" y="67890"/>
                  <a:pt x="21073" y="86878"/>
                  <a:pt x="0" y="922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96F6DCC-51D9-4A5F-87B6-16A7E31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3913" y="3228380"/>
            <a:ext cx="35719" cy="69652"/>
          </a:xfrm>
          <a:custGeom xmlns:a="http://schemas.openxmlformats.org/drawingml/2006/main">
            <a:rect l="l" t="t" r="r" b="b"/>
            <a:pathLst>
              <a:path w="35719" h="69652">
                <a:moveTo>
                  <a:pt x="35719" y="69652"/>
                </a:moveTo>
                <a:lnTo>
                  <a:pt x="35719" y="45839"/>
                </a:lnTo>
                <a:cubicBezTo>
                  <a:pt x="35594" y="24224"/>
                  <a:pt x="20929" y="540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7225DDD-6389-4B73-ADE6-7C2B3259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9368" y="3098482"/>
            <a:ext cx="71645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使用者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9B04BC9-8F0A-4872-BB1F-8989323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3588068"/>
            <a:ext cx="203099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社区工作人员与网格员，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A0D9665-2994-4CA3-ADC6-4031A04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38547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每天处理居民反馈的人。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A389AB4-3401-47A9-83F3-DF3EE606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7218" y="3098482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潜在付费方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8772D45-42CC-44F2-82F5-D7A1905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3588068"/>
            <a:ext cx="16675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社区服务运营方，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BF92CB4-E074-4C13-8FC3-E36CC64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38547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预算和采购流程待确认。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99FC080-C960-4440-B5EB-8A7F343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756" y="4702969"/>
            <a:ext cx="142875" cy="71438"/>
          </a:xfrm>
          <a:custGeom xmlns:a="http://schemas.openxmlformats.org/drawingml/2006/main">
            <a:rect l="l" t="t" r="r" b="b"/>
            <a:pathLst>
              <a:path w="142875" h="71438">
                <a:moveTo>
                  <a:pt x="0" y="35719"/>
                </a:moveTo>
                <a:cubicBezTo>
                  <a:pt x="0" y="55447"/>
                  <a:pt x="31980" y="71438"/>
                  <a:pt x="71438" y="71438"/>
                </a:cubicBezTo>
                <a:cubicBezTo>
                  <a:pt x="110895" y="71438"/>
                  <a:pt x="142875" y="55447"/>
                  <a:pt x="142875" y="35719"/>
                </a:cubicBezTo>
                <a:cubicBezTo>
                  <a:pt x="142875" y="15990"/>
                  <a:pt x="110895" y="0"/>
                  <a:pt x="71438" y="0"/>
                </a:cubicBezTo>
                <a:cubicBezTo>
                  <a:pt x="31980" y="0"/>
                  <a:pt x="0" y="15990"/>
                  <a:pt x="0" y="357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8C2E6BB-FFBC-487D-A449-596EB7A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756" y="4738688"/>
            <a:ext cx="142875" cy="83344"/>
          </a:xfrm>
          <a:custGeom xmlns:a="http://schemas.openxmlformats.org/drawingml/2006/main">
            <a:rect l="l" t="t" r="r" b="b"/>
            <a:pathLst>
              <a:path w="142875" h="83344">
                <a:moveTo>
                  <a:pt x="0" y="0"/>
                </a:moveTo>
                <a:lnTo>
                  <a:pt x="0" y="47625"/>
                </a:lnTo>
                <a:cubicBezTo>
                  <a:pt x="0" y="67342"/>
                  <a:pt x="31980" y="83344"/>
                  <a:pt x="71438" y="83344"/>
                </a:cubicBezTo>
                <a:cubicBezTo>
                  <a:pt x="110895" y="83344"/>
                  <a:pt x="142875" y="67342"/>
                  <a:pt x="142875" y="47625"/>
                </a:cubicBez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C185C6E-01E3-47C8-8FF0-FBB67158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19" y="4606123"/>
            <a:ext cx="142875" cy="74628"/>
          </a:xfrm>
          <a:custGeom xmlns:a="http://schemas.openxmlformats.org/drawingml/2006/main">
            <a:rect l="l" t="t" r="r" b="b"/>
            <a:pathLst>
              <a:path w="142875" h="74628">
                <a:moveTo>
                  <a:pt x="0" y="37314"/>
                </a:moveTo>
                <a:cubicBezTo>
                  <a:pt x="0" y="50078"/>
                  <a:pt x="13621" y="61865"/>
                  <a:pt x="35719" y="68247"/>
                </a:cubicBezTo>
                <a:cubicBezTo>
                  <a:pt x="57817" y="74628"/>
                  <a:pt x="85058" y="74628"/>
                  <a:pt x="107156" y="68247"/>
                </a:cubicBezTo>
                <a:cubicBezTo>
                  <a:pt x="129254" y="61865"/>
                  <a:pt x="142875" y="50078"/>
                  <a:pt x="142875" y="37314"/>
                </a:cubicBezTo>
                <a:cubicBezTo>
                  <a:pt x="142875" y="24551"/>
                  <a:pt x="129254" y="12764"/>
                  <a:pt x="107156" y="6382"/>
                </a:cubicBezTo>
                <a:cubicBezTo>
                  <a:pt x="85058" y="0"/>
                  <a:pt x="57817" y="0"/>
                  <a:pt x="35719" y="6382"/>
                </a:cubicBezTo>
                <a:cubicBezTo>
                  <a:pt x="13621" y="12764"/>
                  <a:pt x="0" y="24551"/>
                  <a:pt x="0" y="373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2B3E697-25B9-4FF0-86B5-9A9A087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19" y="4643438"/>
            <a:ext cx="23812" cy="142875"/>
          </a:xfrm>
          <a:custGeom xmlns:a="http://schemas.openxmlformats.org/drawingml/2006/main">
            <a:rect l="l" t="t" r="r" b="b"/>
            <a:pathLst>
              <a:path w="23812" h="142875">
                <a:moveTo>
                  <a:pt x="0" y="0"/>
                </a:moveTo>
                <a:lnTo>
                  <a:pt x="0" y="119062"/>
                </a:lnTo>
                <a:cubicBezTo>
                  <a:pt x="0" y="129635"/>
                  <a:pt x="9192" y="136327"/>
                  <a:pt x="23812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9C749709-DB0E-443F-94AD-6CCE66A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19" y="4702969"/>
            <a:ext cx="23812" cy="23812"/>
          </a:xfrm>
          <a:custGeom xmlns:a="http://schemas.openxmlformats.org/drawingml/2006/main">
            <a:rect l="l" t="t" r="r" b="b"/>
            <a:pathLst>
              <a:path w="23812" h="23812">
                <a:moveTo>
                  <a:pt x="0" y="0"/>
                </a:moveTo>
                <a:cubicBezTo>
                  <a:pt x="0" y="10573"/>
                  <a:pt x="9192" y="17264"/>
                  <a:pt x="23812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93E1AFA-6229-4112-8C47-9207A83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9368" y="46224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收费设想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61586ADB-225F-46A1-A8A0-EB225AAF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5112068"/>
            <a:ext cx="162208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部署与配置服务费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 +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BDE8A6A-E030-45BA-A972-7B8B2B35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5378768"/>
            <a:ext cx="14676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持续运维服务费。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9BD0DB6-561E-4791-BC33-672034D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092" y="4602492"/>
            <a:ext cx="224766" cy="224766"/>
          </a:xfrm>
          <a:custGeom xmlns:a="http://schemas.openxmlformats.org/drawingml/2006/main">
            <a:rect l="l" t="t" r="r" b="b"/>
            <a:pathLst>
              <a:path w="224766" h="224766">
                <a:moveTo>
                  <a:pt x="92440" y="20907"/>
                </a:moveTo>
                <a:cubicBezTo>
                  <a:pt x="97512" y="0"/>
                  <a:pt x="127254" y="0"/>
                  <a:pt x="132326" y="20907"/>
                </a:cubicBezTo>
                <a:cubicBezTo>
                  <a:pt x="133870" y="27278"/>
                  <a:pt x="138363" y="32528"/>
                  <a:pt x="144419" y="35037"/>
                </a:cubicBezTo>
                <a:cubicBezTo>
                  <a:pt x="150474" y="37546"/>
                  <a:pt x="157364" y="37012"/>
                  <a:pt x="162961" y="33599"/>
                </a:cubicBezTo>
                <a:cubicBezTo>
                  <a:pt x="181332" y="22408"/>
                  <a:pt x="202371" y="43434"/>
                  <a:pt x="191179" y="61817"/>
                </a:cubicBezTo>
                <a:cubicBezTo>
                  <a:pt x="187771" y="67411"/>
                  <a:pt x="187238" y="74296"/>
                  <a:pt x="189744" y="80348"/>
                </a:cubicBezTo>
                <a:cubicBezTo>
                  <a:pt x="192250" y="86400"/>
                  <a:pt x="197494" y="90892"/>
                  <a:pt x="203859" y="92440"/>
                </a:cubicBezTo>
                <a:cubicBezTo>
                  <a:pt x="224766" y="97512"/>
                  <a:pt x="224766" y="127254"/>
                  <a:pt x="203859" y="132326"/>
                </a:cubicBezTo>
                <a:cubicBezTo>
                  <a:pt x="197488" y="133870"/>
                  <a:pt x="192238" y="138363"/>
                  <a:pt x="189729" y="144419"/>
                </a:cubicBezTo>
                <a:cubicBezTo>
                  <a:pt x="187220" y="150474"/>
                  <a:pt x="187754" y="157364"/>
                  <a:pt x="191167" y="162961"/>
                </a:cubicBezTo>
                <a:cubicBezTo>
                  <a:pt x="202359" y="181332"/>
                  <a:pt x="181332" y="202371"/>
                  <a:pt x="162949" y="191179"/>
                </a:cubicBezTo>
                <a:cubicBezTo>
                  <a:pt x="157355" y="187771"/>
                  <a:pt x="150470" y="187238"/>
                  <a:pt x="144418" y="189744"/>
                </a:cubicBezTo>
                <a:cubicBezTo>
                  <a:pt x="138366" y="192250"/>
                  <a:pt x="133874" y="197494"/>
                  <a:pt x="132326" y="203859"/>
                </a:cubicBezTo>
                <a:cubicBezTo>
                  <a:pt x="127254" y="224766"/>
                  <a:pt x="97512" y="224766"/>
                  <a:pt x="92440" y="203859"/>
                </a:cubicBezTo>
                <a:cubicBezTo>
                  <a:pt x="90897" y="197488"/>
                  <a:pt x="86403" y="192238"/>
                  <a:pt x="80348" y="189729"/>
                </a:cubicBezTo>
                <a:cubicBezTo>
                  <a:pt x="74292" y="187220"/>
                  <a:pt x="67402" y="187754"/>
                  <a:pt x="61805" y="191167"/>
                </a:cubicBezTo>
                <a:cubicBezTo>
                  <a:pt x="43434" y="202359"/>
                  <a:pt x="22396" y="181332"/>
                  <a:pt x="33588" y="162949"/>
                </a:cubicBezTo>
                <a:cubicBezTo>
                  <a:pt x="36995" y="157355"/>
                  <a:pt x="37528" y="150470"/>
                  <a:pt x="35022" y="144418"/>
                </a:cubicBezTo>
                <a:cubicBezTo>
                  <a:pt x="32516" y="138366"/>
                  <a:pt x="27272" y="133874"/>
                  <a:pt x="20907" y="132326"/>
                </a:cubicBezTo>
                <a:cubicBezTo>
                  <a:pt x="0" y="127254"/>
                  <a:pt x="0" y="97512"/>
                  <a:pt x="20907" y="92440"/>
                </a:cubicBezTo>
                <a:cubicBezTo>
                  <a:pt x="27278" y="90897"/>
                  <a:pt x="32528" y="86403"/>
                  <a:pt x="35037" y="80348"/>
                </a:cubicBezTo>
                <a:cubicBezTo>
                  <a:pt x="37546" y="74292"/>
                  <a:pt x="37012" y="67402"/>
                  <a:pt x="33599" y="61805"/>
                </a:cubicBezTo>
                <a:cubicBezTo>
                  <a:pt x="22408" y="43434"/>
                  <a:pt x="43434" y="22396"/>
                  <a:pt x="61817" y="33588"/>
                </a:cubicBezTo>
                <a:cubicBezTo>
                  <a:pt x="73724" y="40827"/>
                  <a:pt x="89154" y="34421"/>
                  <a:pt x="92440" y="209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927F779-67F9-49FF-BC61-559FA72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2756" y="4679156"/>
            <a:ext cx="71438" cy="71438"/>
          </a:xfrm>
          <a:custGeom xmlns:a="http://schemas.openxmlformats.org/drawingml/2006/main">
            <a:rect l="l" t="t" r="r" b="b"/>
            <a:pathLst>
              <a:path w="71438" h="71438">
                <a:moveTo>
                  <a:pt x="0" y="35719"/>
                </a:moveTo>
                <a:cubicBezTo>
                  <a:pt x="0" y="55446"/>
                  <a:pt x="15992" y="71438"/>
                  <a:pt x="35719" y="71438"/>
                </a:cubicBezTo>
                <a:cubicBezTo>
                  <a:pt x="55446" y="71438"/>
                  <a:pt x="71438" y="55446"/>
                  <a:pt x="71438" y="35719"/>
                </a:cubicBezTo>
                <a:cubicBezTo>
                  <a:pt x="71438" y="15992"/>
                  <a:pt x="55446" y="0"/>
                  <a:pt x="35719" y="0"/>
                </a:cubicBezTo>
                <a:cubicBezTo>
                  <a:pt x="15992" y="0"/>
                  <a:pt x="0" y="15992"/>
                  <a:pt x="0" y="357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7A11298-D24A-4315-A388-6C479B3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5368" y="46224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主要成本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B48A6416-70F4-4EBB-ADC0-5A38C9A3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5112068"/>
            <a:ext cx="14676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模型调用、部署、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C9C1F16A-B28A-42CF-BA07-6315B9A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8742" y="53787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安全合规与用户支持。</a:t>
            </a:r>
          </a:p>
        </p:txBody>
      </p:sp>
      <p:sp>
        <p:nvSpPr>
          <p:cNvPr id="50" name="Line 50">
            <a:extLst xmlns:a="http://schemas.openxmlformats.org/drawingml/2006/main">
              <a:ext uri="{FF2B5EF4-FFF2-40B4-BE49-F238E27FC236}">
                <a16:creationId xmlns:a16="http://schemas.microsoft.com/office/drawing/2014/main" id="{E4C043BB-B162-46B6-943F-E2F49324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817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108898F4-98A8-4494-90BB-67FAE979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195060"/>
            <a:ext cx="745937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收费方式仍是设想。先确认实际使用价值，目前没有可验证的价格、合同或收入数据。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B5847619-28B3-4F45-899D-3E1A41CF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3796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2B36CD-F3BC-4C9B-8A6C-3A0423D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53796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1827357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82B17D-76D4-4554-AB94-715AC40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FF27137-FB0F-495C-9F9A-3BCAA2D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75807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下一步实验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3B294FB-C7A7-4FC9-8136-B746A6F9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5207051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能省多少时间，会不会出错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2D3BB492-6935-4550-948F-C2500C8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FCF0D4-2920-4297-A9A2-CBFF342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38300"/>
            <a:ext cx="1097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7CB4221-9E3C-48AE-A16E-613400F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304" y="1889760"/>
            <a:ext cx="75125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150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对照实验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CC31BDB-15EA-431E-9042-2CE5CD63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" y="2162175"/>
            <a:ext cx="6997891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用同一批经授权、脱敏的反馈，比较人工整理和</a:t>
            </a:r>
            <a:r>
              <a:rPr sz="1500">
                <a:solidFill>
                  <a:srgbClr val="22302B"/>
                </a:solidFill>
                <a:latin typeface="Arial"/>
                <a:ea typeface="Arial"/>
                <a:cs typeface="Arial"/>
              </a:rPr>
              <a:t> OneCase </a:t>
            </a:r>
            <a:r>
              <a:rPr sz="150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辅助整理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6E420B85-D1D9-4555-99BA-C09A363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95275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A74A04B-CE27-4B83-9ADF-6DF87EB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300" y="3340100"/>
            <a:ext cx="25400" cy="25400"/>
          </a:xfrm>
          <a:custGeom xmlns:a="http://schemas.openxmlformats.org/drawingml/2006/main">
            <a:rect l="l" t="t" r="r" b="b"/>
            <a:pathLst>
              <a:path w="25400" h="25400">
                <a:moveTo>
                  <a:pt x="0" y="12700"/>
                </a:moveTo>
                <a:cubicBezTo>
                  <a:pt x="0" y="19714"/>
                  <a:pt x="5686" y="25400"/>
                  <a:pt x="12700" y="25400"/>
                </a:cubicBezTo>
                <a:cubicBezTo>
                  <a:pt x="19714" y="25400"/>
                  <a:pt x="25400" y="19714"/>
                  <a:pt x="25400" y="12700"/>
                </a:cubicBezTo>
                <a:cubicBezTo>
                  <a:pt x="25400" y="5686"/>
                  <a:pt x="19714" y="0"/>
                  <a:pt x="12700" y="0"/>
                </a:cubicBezTo>
                <a:cubicBezTo>
                  <a:pt x="5686" y="0"/>
                  <a:pt x="0" y="5686"/>
                  <a:pt x="0" y="12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B3146AA-D9F9-4B69-A77D-73423AF0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500" y="3289300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0" y="63500"/>
                </a:moveTo>
                <a:cubicBezTo>
                  <a:pt x="0" y="98570"/>
                  <a:pt x="28430" y="127000"/>
                  <a:pt x="63500" y="127000"/>
                </a:cubicBezTo>
                <a:cubicBezTo>
                  <a:pt x="98570" y="127000"/>
                  <a:pt x="127000" y="98570"/>
                  <a:pt x="127000" y="63500"/>
                </a:cubicBezTo>
                <a:cubicBezTo>
                  <a:pt x="127000" y="28430"/>
                  <a:pt x="98570" y="0"/>
                  <a:pt x="63500" y="0"/>
                </a:cubicBezTo>
                <a:cubicBezTo>
                  <a:pt x="28430" y="0"/>
                  <a:pt x="0" y="28430"/>
                  <a:pt x="0" y="63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D036057-79D1-4BCF-932F-76AF1696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3238500"/>
            <a:ext cx="228599" cy="228599"/>
          </a:xfrm>
          <a:custGeom xmlns:a="http://schemas.openxmlformats.org/drawingml/2006/main">
            <a:rect l="l" t="t" r="r" b="b"/>
            <a:pathLst>
              <a:path w="228599" h="228599">
                <a:moveTo>
                  <a:pt x="0" y="114300"/>
                </a:moveTo>
                <a:cubicBezTo>
                  <a:pt x="0" y="177426"/>
                  <a:pt x="51174" y="228599"/>
                  <a:pt x="114300" y="228599"/>
                </a:cubicBezTo>
                <a:cubicBezTo>
                  <a:pt x="177426" y="228599"/>
                  <a:pt x="228599" y="177426"/>
                  <a:pt x="228599" y="114300"/>
                </a:cubicBezTo>
                <a:cubicBezTo>
                  <a:pt x="228599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26F3C3-84CA-4594-8822-7D30C95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3844290"/>
            <a:ext cx="18374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主要指标</a:t>
            </a:r>
            <a:r>
              <a:rPr sz="18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597656-3E66-48C7-9655-5B9F0FAA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3881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从原始反馈到确认事项的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958CABB-63D1-4C62-BA4E-CCCE1A2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673918"/>
            <a:ext cx="9224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中位耗时。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A1748C-519A-4F85-9D5F-767B53A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204460"/>
            <a:ext cx="11430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是否真的省时间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B1BC3AEC-9310-4202-B239-F8B51A7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95275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3106C7E-0CD0-497A-9B73-A0D2B96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3352800"/>
            <a:ext cx="76200" cy="101600"/>
          </a:xfrm>
          <a:custGeom xmlns:a="http://schemas.openxmlformats.org/drawingml/2006/main">
            <a:rect l="l" t="t" r="r" b="b"/>
            <a:pathLst>
              <a:path w="76200" h="1016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63500" y="0"/>
                </a:lnTo>
                <a:cubicBezTo>
                  <a:pt x="70514" y="0"/>
                  <a:pt x="76200" y="5686"/>
                  <a:pt x="76200" y="12700"/>
                </a:cubicBezTo>
                <a:lnTo>
                  <a:pt x="76200" y="88900"/>
                </a:lnTo>
                <a:cubicBezTo>
                  <a:pt x="76200" y="95914"/>
                  <a:pt x="70514" y="101600"/>
                  <a:pt x="63500" y="101600"/>
                </a:cubicBezTo>
                <a:lnTo>
                  <a:pt x="12700" y="101600"/>
                </a:lnTo>
                <a:cubicBezTo>
                  <a:pt x="5686" y="101600"/>
                  <a:pt x="0" y="95914"/>
                  <a:pt x="0" y="88900"/>
                </a:cubicBez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30B3D21-C5FA-4889-9F3B-49747231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3302000"/>
            <a:ext cx="76200" cy="152400"/>
          </a:xfrm>
          <a:custGeom xmlns:a="http://schemas.openxmlformats.org/drawingml/2006/main">
            <a:rect l="l" t="t" r="r" b="b"/>
            <a:pathLst>
              <a:path w="76200" h="152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63500" y="0"/>
                </a:lnTo>
                <a:cubicBezTo>
                  <a:pt x="70514" y="0"/>
                  <a:pt x="76200" y="5686"/>
                  <a:pt x="76200" y="12700"/>
                </a:cubicBezTo>
                <a:lnTo>
                  <a:pt x="76200" y="139700"/>
                </a:lnTo>
                <a:cubicBezTo>
                  <a:pt x="76200" y="146714"/>
                  <a:pt x="70514" y="152400"/>
                  <a:pt x="63500" y="152400"/>
                </a:cubicBezTo>
                <a:lnTo>
                  <a:pt x="12700" y="152400"/>
                </a:lnTo>
                <a:cubicBezTo>
                  <a:pt x="5686" y="152400"/>
                  <a:pt x="0" y="146714"/>
                  <a:pt x="0" y="139700"/>
                </a:cubicBez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2FDC928-D21D-4B3A-BDC7-DCFCE10D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1500" y="3251200"/>
            <a:ext cx="76200" cy="203199"/>
          </a:xfrm>
          <a:custGeom xmlns:a="http://schemas.openxmlformats.org/drawingml/2006/main">
            <a:rect l="l" t="t" r="r" b="b"/>
            <a:pathLst>
              <a:path w="76200" h="203199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63500" y="0"/>
                </a:lnTo>
                <a:cubicBezTo>
                  <a:pt x="70514" y="0"/>
                  <a:pt x="76200" y="5686"/>
                  <a:pt x="76200" y="12700"/>
                </a:cubicBezTo>
                <a:lnTo>
                  <a:pt x="76200" y="190500"/>
                </a:lnTo>
                <a:cubicBezTo>
                  <a:pt x="76200" y="197514"/>
                  <a:pt x="70514" y="203199"/>
                  <a:pt x="63500" y="203199"/>
                </a:cubicBezTo>
                <a:lnTo>
                  <a:pt x="12700" y="203199"/>
                </a:lnTo>
                <a:cubicBezTo>
                  <a:pt x="5686" y="203199"/>
                  <a:pt x="0" y="197514"/>
                  <a:pt x="0" y="190500"/>
                </a:cubicBez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E254D31E-F559-4927-A1B0-178C21D5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8000" y="3454399"/>
            <a:ext cx="177800" cy="9525"/>
          </a:xfrm>
          <a:custGeom xmlns:a="http://schemas.openxmlformats.org/drawingml/2006/main">
            <a:rect l="l" t="t" r="r" b="b"/>
            <a:pathLst>
              <a:path w="177800" h="9525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A2A816-234B-410E-A278-56EF5679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8056" y="3844290"/>
            <a:ext cx="18374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质量指标</a:t>
            </a:r>
            <a:r>
              <a:rPr sz="18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准确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7AC119B-5143-4BB0-A742-9BF994AD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0342" y="43881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漏项、关键字段错误、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8D107AA-A85B-49BB-BCE1-B0EFB7D8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0342" y="467391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误关联、人工修改次数。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A3E52F9-890D-4DB8-B2A9-1668A07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1104" y="5204460"/>
            <a:ext cx="130454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是否引入新的错误</a:t>
            </a:r>
          </a:p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D5FAC713-2B61-4D30-B60E-D5301D7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4800" y="295275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4D40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5C5D1C2-1D39-4828-A8CA-A28057C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32385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01600" y="0"/>
                </a:moveTo>
                <a:lnTo>
                  <a:pt x="101600" y="88900"/>
                </a:lnTo>
                <a:lnTo>
                  <a:pt x="177800" y="88900"/>
                </a:lnTo>
                <a:lnTo>
                  <a:pt x="76200" y="228599"/>
                </a:lnTo>
                <a:lnTo>
                  <a:pt x="76200" y="139700"/>
                </a:lnTo>
                <a:lnTo>
                  <a:pt x="0" y="139700"/>
                </a:ln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6C2E71E-D74A-4119-B98E-34FF3EC3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5656" y="3844290"/>
            <a:ext cx="18374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运行指标</a:t>
            </a:r>
            <a:r>
              <a:rPr sz="18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· </a:t>
            </a: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F9BFE6-372A-4C48-9A83-41B3780D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7942" y="43881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模型失败率、转人工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951C8A5-26E0-472F-ACE1-74B731F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7942" y="467391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次数、单次使用成本。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DC7522B-C76B-44D2-AE76-221C5502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8704" y="5204460"/>
            <a:ext cx="98145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跑起来贵不贵</a:t>
            </a:r>
          </a:p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242B99E4-33FF-48D5-8149-CE2D520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2952750"/>
            <a:ext cx="9525" cy="2571750"/>
          </a:xfrm>
          <a:custGeom xmlns:a="http://schemas.openxmlformats.org/drawingml/2006/main"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0" name="Line 40">
            <a:extLst xmlns:a="http://schemas.openxmlformats.org/drawingml/2006/main">
              <a:ext uri="{FF2B5EF4-FFF2-40B4-BE49-F238E27FC236}">
                <a16:creationId xmlns:a16="http://schemas.microsoft.com/office/drawing/2014/main" id="{67A5D1B3-F14A-4E6A-A156-BC885BE2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2400" y="2952750"/>
            <a:ext cx="9525" cy="2571750"/>
          </a:xfrm>
          <a:custGeom xmlns:a="http://schemas.openxmlformats.org/drawingml/2006/main"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2" name="Line 42">
            <a:extLst xmlns:a="http://schemas.openxmlformats.org/drawingml/2006/main">
              <a:ext uri="{FF2B5EF4-FFF2-40B4-BE49-F238E27FC236}">
                <a16:creationId xmlns:a16="http://schemas.microsoft.com/office/drawing/2014/main" id="{F3C1DB40-284F-4097-A32A-DE862D0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8102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37882BD-8B88-4D3D-B206-1AE76797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6054090"/>
            <a:ext cx="7187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和社区工作人员商定试用标准，再看是否值得继续做。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11101C-64DC-4997-BA9D-44104D23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3796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666DAFB-3466-4E53-993C-9165D201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53796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353288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A3E856-AC62-4D2F-8C32-4C1EB64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7A8BE97-EB1F-4C2A-9ACD-402CEB1A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96808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进度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功能范围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D1F125D-8B9A-4E6B-BF7D-B3C7B73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3325216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已完成功能与待办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605CC150-C17F-49AE-B361-90DD874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3E44E934-9974-4956-A11A-33EDFFEE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5B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ACEE688-5073-4002-AF99-B3CF32D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1885950"/>
            <a:ext cx="171450" cy="133350"/>
          </a:xfrm>
          <a:custGeom xmlns:a="http://schemas.openxmlformats.org/drawingml/2006/main">
            <a:rect l="l" t="t" r="r" b="b"/>
            <a:pathLst>
              <a:path w="171450" h="133350">
                <a:moveTo>
                  <a:pt x="0" y="76200"/>
                </a:moveTo>
                <a:lnTo>
                  <a:pt x="57150" y="133350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5B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0664E32-426D-4BD7-8025-A880A3F5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18630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当前已实现</a:t>
            </a:r>
          </a:p>
        </p:txBody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107CD3D5-74BB-4577-A5E8-DE3C214C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0AC284-70AF-47B4-B5F0-418477C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25974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文字与图片输入</a:t>
            </a:r>
          </a:p>
        </p:txBody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48822192-97B2-4733-A144-314E2C1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D25F45-FC57-489B-A8B0-F21D389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30546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草稿与原图核对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007B9CF3-9383-4136-ACC2-91812BAE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F3ED5D-A44E-44F8-9D8B-326F9C85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351186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相似候选与人工确认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387207D2-569D-4C50-868D-18C6269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FE95601-3666-4600-B4BC-C24B5B29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542" y="39690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事项跟踪与统计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A6BFDC08-E32B-4FD6-BC2D-156496E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5442E"/>
            </a:solidFill>
          </a:ln>
        </p:spPr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43D8C6EC-91BB-404C-A839-5E4320E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675" y="18764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2">
            <a:solidFill>
              <a:srgbClr val="B5442E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25CA832-6678-433E-9081-41DAD0A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0956" y="18630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试点前补齐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D2A5F7EC-D901-4AC3-A2DC-BDBBAA8E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26479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5442E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E6E2203-45E0-4902-BCB0-2EF80CA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142" y="25974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身份认证与权限</a:t>
            </a:r>
          </a:p>
        </p:txBody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CA1DD249-DBE6-415B-B196-02EB72DA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31051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5442E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F93B4E-BD90-47EF-882E-BEC2E2D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142" y="3054668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组织数据隔离</a:t>
            </a:r>
          </a:p>
        </p:txBody>
      </p:sp>
      <p:sp>
        <p:nvSpPr>
          <p:cNvPr id="26" name="Ellipse 26">
            <a:extLst xmlns:a="http://schemas.openxmlformats.org/drawingml/2006/main">
              <a:ext uri="{FF2B5EF4-FFF2-40B4-BE49-F238E27FC236}">
                <a16:creationId xmlns:a16="http://schemas.microsoft.com/office/drawing/2014/main" id="{5DA2B50B-1141-4D32-B5AB-41A295B3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35623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5442E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171740B-347A-4ED4-8FD8-A592AF53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142" y="35118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访问频率限制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BAC85132-82FF-4678-B4E6-C414A7D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40195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5442E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42239CF-F066-42E3-BFD1-C5D175C3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142" y="39690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草稿列表</a:t>
            </a:r>
          </a:p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9A283FF3-3B6F-4FDD-802E-5516524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4800" y="1714500"/>
            <a:ext cx="3352800" cy="9525"/>
          </a:xfrm>
          <a:custGeom xmlns:a="http://schemas.openxmlformats.org/drawingml/2006/main">
            <a:rect l="l" t="t" r="r" b="b"/>
            <a:pathLst>
              <a:path w="3352800" h="952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8C7B"/>
            </a:solidFill>
          </a:ln>
        </p:spPr>
      </p:sp>
      <p:sp>
        <p:nvSpPr>
          <p:cNvPr id="32" name="Polygon 32">
            <a:extLst xmlns:a="http://schemas.openxmlformats.org/drawingml/2006/main">
              <a:ext uri="{FF2B5EF4-FFF2-40B4-BE49-F238E27FC236}">
                <a16:creationId xmlns:a16="http://schemas.microsoft.com/office/drawing/2014/main" id="{D436F141-52A0-4218-9BB0-6CB7BC0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1876425"/>
            <a:ext cx="190500" cy="190500"/>
          </a:xfrm>
          <a:custGeom xmlns:a="http://schemas.openxmlformats.org/drawingml/2006/main">
            <a:rect l="l" t="t" r="r" b="b"/>
            <a:pathLst>
              <a:path w="190500" h="190500">
                <a:moveTo>
                  <a:pt x="95250" y="0"/>
                </a:moveTo>
                <a:lnTo>
                  <a:pt x="190500" y="95250"/>
                </a:lnTo>
                <a:lnTo>
                  <a:pt x="95250" y="190500"/>
                </a:lnTo>
                <a:lnTo>
                  <a:pt x="0" y="952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5E8C7B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35D3766-BC8A-48C7-9511-05F1A95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556" y="1863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待补功能</a:t>
            </a:r>
          </a:p>
        </p:txBody>
      </p:sp>
      <p:sp>
        <p:nvSpPr>
          <p:cNvPr id="34" name="Polygon 34">
            <a:extLst xmlns:a="http://schemas.openxmlformats.org/drawingml/2006/main">
              <a:ext uri="{FF2B5EF4-FFF2-40B4-BE49-F238E27FC236}">
                <a16:creationId xmlns:a16="http://schemas.microsoft.com/office/drawing/2014/main" id="{C4E0FDFD-931C-43D3-8524-E8CC3F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2647950"/>
            <a:ext cx="114300" cy="114300"/>
          </a:xfrm>
          <a:custGeom xmlns:a="http://schemas.openxmlformats.org/drawingml/2006/main">
            <a:rect l="l" t="t" r="r" b="b"/>
            <a:pathLst>
              <a:path w="114300" h="114300">
                <a:moveTo>
                  <a:pt x="57150" y="0"/>
                </a:moveTo>
                <a:lnTo>
                  <a:pt x="114300" y="57150"/>
                </a:lnTo>
                <a:lnTo>
                  <a:pt x="57150" y="114300"/>
                </a:lnTo>
                <a:lnTo>
                  <a:pt x="0" y="57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033892B2-9DF4-4BF4-B757-7FA30402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2742" y="2597468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视觉实测与语音</a:t>
            </a:r>
          </a:p>
        </p:txBody>
      </p:sp>
      <p:sp>
        <p:nvSpPr>
          <p:cNvPr id="36" name="Polygon 36">
            <a:extLst xmlns:a="http://schemas.openxmlformats.org/drawingml/2006/main">
              <a:ext uri="{FF2B5EF4-FFF2-40B4-BE49-F238E27FC236}">
                <a16:creationId xmlns:a16="http://schemas.microsoft.com/office/drawing/2014/main" id="{23F1D492-2330-45EA-9608-4E5BD24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105150"/>
            <a:ext cx="114300" cy="114300"/>
          </a:xfrm>
          <a:custGeom xmlns:a="http://schemas.openxmlformats.org/drawingml/2006/main">
            <a:rect l="l" t="t" r="r" b="b"/>
            <a:pathLst>
              <a:path w="114300" h="114300">
                <a:moveTo>
                  <a:pt x="57150" y="0"/>
                </a:moveTo>
                <a:lnTo>
                  <a:pt x="114300" y="57150"/>
                </a:lnTo>
                <a:lnTo>
                  <a:pt x="57150" y="114300"/>
                </a:lnTo>
                <a:lnTo>
                  <a:pt x="0" y="57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D0238D-00E1-4248-97DF-E33CF7B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2742" y="30546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微信等渠道接入</a:t>
            </a:r>
          </a:p>
        </p:txBody>
      </p:sp>
      <p:sp>
        <p:nvSpPr>
          <p:cNvPr id="38" name="Polygon 38">
            <a:extLst xmlns:a="http://schemas.openxmlformats.org/drawingml/2006/main">
              <a:ext uri="{FF2B5EF4-FFF2-40B4-BE49-F238E27FC236}">
                <a16:creationId xmlns:a16="http://schemas.microsoft.com/office/drawing/2014/main" id="{DD79A089-7003-4DE9-BA5C-B25FDF8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562350"/>
            <a:ext cx="114300" cy="114300"/>
          </a:xfrm>
          <a:custGeom xmlns:a="http://schemas.openxmlformats.org/drawingml/2006/main">
            <a:rect l="l" t="t" r="r" b="b"/>
            <a:pathLst>
              <a:path w="114300" h="114300">
                <a:moveTo>
                  <a:pt x="57150" y="0"/>
                </a:moveTo>
                <a:lnTo>
                  <a:pt x="114300" y="57150"/>
                </a:lnTo>
                <a:lnTo>
                  <a:pt x="57150" y="114300"/>
                </a:lnTo>
                <a:lnTo>
                  <a:pt x="0" y="57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E8C7B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6483E9F-BC5C-4150-AABF-A163076C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2742" y="3511868"/>
            <a:ext cx="200710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语义检索（</a:t>
            </a:r>
            <a:r>
              <a:rPr sz="1350">
                <a:solidFill>
                  <a:srgbClr val="22302B"/>
                </a:solidFill>
                <a:latin typeface="Arial"/>
                <a:ea typeface="Arial"/>
                <a:cs typeface="Arial"/>
              </a:rPr>
              <a:t>Embedding</a:t>
            </a:r>
            <a:r>
              <a:rPr sz="1350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41" name="Line 41">
            <a:extLst xmlns:a="http://schemas.openxmlformats.org/drawingml/2006/main">
              <a:ext uri="{FF2B5EF4-FFF2-40B4-BE49-F238E27FC236}">
                <a16:creationId xmlns:a16="http://schemas.microsoft.com/office/drawing/2014/main" id="{8AF4E55B-EDED-437D-9177-1CC61DE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1714500"/>
            <a:ext cx="9525" cy="2762250"/>
          </a:xfrm>
          <a:custGeom xmlns:a="http://schemas.openxmlformats.org/drawingml/2006/main"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2" name="Line 42">
            <a:extLst xmlns:a="http://schemas.openxmlformats.org/drawingml/2006/main">
              <a:ext uri="{FF2B5EF4-FFF2-40B4-BE49-F238E27FC236}">
                <a16:creationId xmlns:a16="http://schemas.microsoft.com/office/drawing/2014/main" id="{D65E07CF-4125-4D70-AE01-6D2BE3E7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2400" y="1714500"/>
            <a:ext cx="9525" cy="2762250"/>
          </a:xfrm>
          <a:custGeom xmlns:a="http://schemas.openxmlformats.org/drawingml/2006/main"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4" name="Line 44">
            <a:extLst xmlns:a="http://schemas.openxmlformats.org/drawingml/2006/main">
              <a:ext uri="{FF2B5EF4-FFF2-40B4-BE49-F238E27FC236}">
                <a16:creationId xmlns:a16="http://schemas.microsoft.com/office/drawing/2014/main" id="{A4892D02-B33E-4528-9F07-D4A5003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9530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2CC4F9EE-8AEB-4A65-882B-35F9C4BB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5218748"/>
            <a:ext cx="4180332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图片可上传，真实识别仍待验证。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D62523FD-4940-4FA8-AE2E-BD5C820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5721668"/>
            <a:ext cx="910056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图片支持预览、保存和恢复；当前</a:t>
            </a: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 Mock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不能识别图片，语音暂未支持。只使用合成数据演示。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1BFA683-742D-46E1-979C-C1AA92B7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808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0C4D1CA7-0A6A-47F2-A890-14557E8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808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7960686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601840-17AB-49DE-AA8A-218C71E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0611D54-1DEC-46D2-A777-198C913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4360"/>
            <a:ext cx="154807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1200" b="1" spc="300">
                <a:solidFill>
                  <a:srgbClr val="D97B29"/>
                </a:solidFill>
                <a:latin typeface="Arial"/>
                <a:ea typeface="Arial"/>
                <a:cs typeface="Arial"/>
              </a:rPr>
              <a:t> · </a:t>
            </a:r>
            <a:r>
              <a:rPr sz="1200" b="1" spc="300">
                <a:solidFill>
                  <a:srgbClr val="D97B29"/>
                </a:solidFill>
                <a:latin typeface="Microsoft YaHei"/>
                <a:ea typeface="Microsoft YaHei"/>
                <a:cs typeface="Microsoft YaHei"/>
              </a:rPr>
              <a:t>开源说明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5A49E27-AACB-4AA6-A21E-C12A959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783908"/>
            <a:ext cx="6618427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E4D40"/>
                </a:solidFill>
                <a:latin typeface="SimSun"/>
                <a:ea typeface="SimSun"/>
                <a:cs typeface="SimSun"/>
              </a:rPr>
              <a:t>开发分工与开源组件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AF83E742-DF5C-4AC3-A4A6-D026E24D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352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986665E-0D9D-4427-AA75-0890E5F9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2944" y="1876425"/>
            <a:ext cx="119062" cy="9525"/>
          </a:xfrm>
          <a:custGeom xmlns:a="http://schemas.openxmlformats.org/drawingml/2006/main">
            <a:rect l="l" t="t" r="r" b="b"/>
            <a:pathLst>
              <a:path w="119062" h="9525">
                <a:moveTo>
                  <a:pt x="0" y="0"/>
                </a:moveTo>
                <a:lnTo>
                  <a:pt x="119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61E5ECF-DA16-4E1F-9609-A3E50FC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038" y="1697831"/>
            <a:ext cx="142875" cy="11906"/>
          </a:xfrm>
          <a:custGeom xmlns:a="http://schemas.openxmlformats.org/drawingml/2006/main">
            <a:rect l="l" t="t" r="r" b="b"/>
            <a:pathLst>
              <a:path w="142875" h="11906">
                <a:moveTo>
                  <a:pt x="0" y="11906"/>
                </a:moveTo>
                <a:lnTo>
                  <a:pt x="71438" y="0"/>
                </a:lnTo>
                <a:lnTo>
                  <a:pt x="142875" y="1190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CD3BD4F-3D5C-46C6-A9B1-F7CE735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" y="1674019"/>
            <a:ext cx="9525" cy="202406"/>
          </a:xfrm>
          <a:custGeom xmlns:a="http://schemas.openxmlformats.org/drawingml/2006/main">
            <a:rect l="l" t="t" r="r" b="b"/>
            <a:pathLst>
              <a:path w="9525" h="202406">
                <a:moveTo>
                  <a:pt x="0" y="0"/>
                </a:moveTo>
                <a:lnTo>
                  <a:pt x="0" y="20240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7724EF1-9054-4A93-B503-91876490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19" y="1709738"/>
            <a:ext cx="71438" cy="107156"/>
          </a:xfrm>
          <a:custGeom xmlns:a="http://schemas.openxmlformats.org/drawingml/2006/main">
            <a:rect l="l" t="t" r="r" b="b"/>
            <a:pathLst>
              <a:path w="71438" h="107156">
                <a:moveTo>
                  <a:pt x="71438" y="71438"/>
                </a:moveTo>
                <a:lnTo>
                  <a:pt x="35719" y="0"/>
                </a:lnTo>
                <a:lnTo>
                  <a:pt x="0" y="71438"/>
                </a:lnTo>
                <a:cubicBezTo>
                  <a:pt x="0" y="91164"/>
                  <a:pt x="15992" y="107156"/>
                  <a:pt x="35719" y="107156"/>
                </a:cubicBezTo>
                <a:cubicBezTo>
                  <a:pt x="55446" y="107156"/>
                  <a:pt x="71438" y="91164"/>
                  <a:pt x="71438" y="714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7C207D6-0156-4B41-97A0-1B70A2E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194" y="1709738"/>
            <a:ext cx="71438" cy="107156"/>
          </a:xfrm>
          <a:custGeom xmlns:a="http://schemas.openxmlformats.org/drawingml/2006/main">
            <a:rect l="l" t="t" r="r" b="b"/>
            <a:pathLst>
              <a:path w="71438" h="107156">
                <a:moveTo>
                  <a:pt x="71438" y="71438"/>
                </a:moveTo>
                <a:lnTo>
                  <a:pt x="35719" y="0"/>
                </a:lnTo>
                <a:lnTo>
                  <a:pt x="0" y="71438"/>
                </a:lnTo>
                <a:cubicBezTo>
                  <a:pt x="0" y="91164"/>
                  <a:pt x="15992" y="107156"/>
                  <a:pt x="35719" y="107156"/>
                </a:cubicBezTo>
                <a:cubicBezTo>
                  <a:pt x="55446" y="107156"/>
                  <a:pt x="71438" y="91164"/>
                  <a:pt x="71438" y="714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EB7AE6E-D184-4AC2-B5B9-F2DD2377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130" y="1704975"/>
            <a:ext cx="1703794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开源组件</a:t>
            </a:r>
            <a:r>
              <a:rPr sz="15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 License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6CEEE1-B751-44B9-8B4A-43623A5F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955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D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863BFE-40BE-4BC5-9B45-BA3FD0A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342" y="2235518"/>
            <a:ext cx="3953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E4D40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F226B7-1132-480D-8A54-E2D047B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2235518"/>
            <a:ext cx="70623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E4D40"/>
                </a:solidFill>
                <a:latin typeface="Arial"/>
                <a:ea typeface="Arial"/>
                <a:cs typeface="Arial"/>
              </a:rPr>
              <a:t>License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64D37BF-053A-4D92-AE5F-3155730C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342" y="2749868"/>
            <a:ext cx="190831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Next.js/React/Zod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E317B72-B949-4765-89F9-C7AC1B9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2749868"/>
            <a:ext cx="32095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MIT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1F645F4B-51CD-4943-8E75-117A4783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048000"/>
            <a:ext cx="5905500" cy="9525"/>
          </a:xfrm>
          <a:custGeom xmlns:a="http://schemas.openxmlformats.org/drawingml/2006/main"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0E024EE-B91D-4629-95FC-A33514CE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342" y="3359468"/>
            <a:ext cx="60993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Prisma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A251623-67D6-49BA-B3A3-D9C7CE6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3359468"/>
            <a:ext cx="102269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Apache-2.0</a:t>
            </a:r>
          </a:p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35C9505D-A2E4-4FAB-883A-77FB136A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657600"/>
            <a:ext cx="5905500" cy="9525"/>
          </a:xfrm>
          <a:custGeom xmlns:a="http://schemas.openxmlformats.org/drawingml/2006/main"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4E8E1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F22C6D7-A9DF-44F2-9F96-6EF2FCF4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342" y="3969068"/>
            <a:ext cx="113372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Lucide React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89C94C8-516D-4926-8A0F-296FFCF3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142" y="3969068"/>
            <a:ext cx="28255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22302B"/>
                </a:solidFill>
                <a:latin typeface="Consolas"/>
                <a:ea typeface="Consolas"/>
                <a:cs typeface="Consolas"/>
              </a:rPr>
              <a:t>ISC</a:t>
            </a:r>
          </a:p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07C78CC3-1EF0-472B-A5FA-B79DD4C5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267200"/>
            <a:ext cx="5905500" cy="9525"/>
          </a:xfrm>
          <a:custGeom xmlns:a="http://schemas.openxmlformats.org/drawingml/2006/main"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650EC4A-3CE0-4D2D-9329-CCDD4DB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4556760"/>
            <a:ext cx="628497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2026-08-31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核对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 27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个直接依赖（含开发工具）：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MIT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Apache-2.0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ISC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0158394-AC3A-41B9-891B-BB857BF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8151" y="1674019"/>
            <a:ext cx="232508" cy="212479"/>
          </a:xfrm>
          <a:custGeom xmlns:a="http://schemas.openxmlformats.org/drawingml/2006/main"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3DC645F-CC36-4741-A759-49838525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7094" y="1840706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E4D40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17F26A6-E58F-4D04-A3E8-87A023E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9030" y="1704975"/>
            <a:ext cx="86334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开发工作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D9D7A2E0-C9F2-4A35-9E88-0F18793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1642" y="2216468"/>
            <a:ext cx="383019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OneCase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由参赛者独立开发，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4453283C-55B8-490C-B4CF-5096359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1642" y="2502218"/>
            <a:ext cx="401193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负责产品设计、业务规则、代码和测试。</a:t>
            </a:r>
          </a:p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F91E6F3C-9711-4C9A-9599-8CDE6309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3143250"/>
            <a:ext cx="4533900" cy="9525"/>
          </a:xfrm>
          <a:custGeom xmlns:a="http://schemas.openxmlformats.org/drawingml/2006/main">
            <a:rect l="l" t="t" r="r" b="b"/>
            <a:pathLst>
              <a:path w="4533900" h="9525">
                <a:moveTo>
                  <a:pt x="0" y="0"/>
                </a:moveTo>
                <a:lnTo>
                  <a:pt x="453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1BF50E7B-E10F-4CF0-A5CC-B1417C16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880" y="3457575"/>
            <a:ext cx="161704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2302B"/>
                </a:solidFill>
                <a:latin typeface="Arial"/>
                <a:ea typeface="Arial"/>
                <a:cs typeface="Arial"/>
              </a:rPr>
              <a:t>AI </a:t>
            </a:r>
            <a:r>
              <a:rPr sz="1500" b="1">
                <a:solidFill>
                  <a:srgbClr val="22302B"/>
                </a:solidFill>
                <a:latin typeface="Microsoft YaHei"/>
                <a:ea typeface="Microsoft YaHei"/>
                <a:cs typeface="Microsoft YaHei"/>
              </a:rPr>
              <a:t>辅助开发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12E0799-C811-419F-8F35-567BBA9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1642" y="3969068"/>
            <a:ext cx="355655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Arial"/>
                <a:ea typeface="Arial"/>
                <a:cs typeface="Arial"/>
              </a:rPr>
              <a:t>AI </a:t>
            </a: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编程工具用于辅助写代码和测试；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BAD04DB-8405-4164-8DF7-A6A9824E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1642" y="4254818"/>
            <a:ext cx="36484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需求、方案和最终检查由开发者负责。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AF511F9C-9945-4363-BBF2-63F98F7A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1642" y="4540568"/>
            <a:ext cx="36484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C6B64"/>
                </a:solidFill>
                <a:latin typeface="Microsoft YaHei"/>
                <a:ea typeface="Microsoft YaHei"/>
                <a:cs typeface="Microsoft YaHei"/>
              </a:rPr>
              <a:t>框架、模型和第三方代码注明来源。</a:t>
            </a:r>
          </a:p>
        </p:txBody>
      </p:sp>
      <p:sp>
        <p:nvSpPr>
          <p:cNvPr id="41" name="Line 41">
            <a:extLst xmlns:a="http://schemas.openxmlformats.org/drawingml/2006/main">
              <a:ext uri="{FF2B5EF4-FFF2-40B4-BE49-F238E27FC236}">
                <a16:creationId xmlns:a16="http://schemas.microsoft.com/office/drawing/2014/main" id="{71467D33-EDA5-42A0-8A45-E38AE339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1435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ED6"/>
            </a:solidFill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0DFDF2C-F512-444D-89B4-947389C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32" y="5488305"/>
            <a:ext cx="901232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1E4D40"/>
                </a:solidFill>
                <a:latin typeface="SimSun"/>
                <a:ea typeface="SimSun"/>
                <a:cs typeface="SimSun"/>
              </a:rPr>
              <a:t>这里列出主要组件及开发分工，不把第三方代码算作自己的成果。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169CEFA-5C91-4585-93BE-DFCA9275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80810"/>
            <a:ext cx="152243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OneCase · </a:t>
            </a:r>
            <a:r>
              <a:rPr sz="1200">
                <a:solidFill>
                  <a:srgbClr val="8A968F"/>
                </a:solidFill>
                <a:latin typeface="Microsoft YaHei"/>
                <a:ea typeface="Microsoft YaHei"/>
                <a:cs typeface="Microsoft YaHei"/>
              </a:rPr>
              <a:t>初赛路演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E66EEAF4-5FA7-4699-90C6-AC680958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5132" y="6480810"/>
            <a:ext cx="5533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8A968F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21061865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3504AC-E022-44CA-8D38-EEE1F52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40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12263BF-B5DC-49CD-9BC0-465D22EC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1295400"/>
            <a:ext cx="195620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OneCase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A60C9C2A-0C17-4EAD-9717-A19D162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9431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E8C7B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C4489B9-C530-4366-BB74-98CA98D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689860"/>
            <a:ext cx="9292697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AI </a:t>
            </a:r>
            <a:r>
              <a:rPr sz="4200" b="1">
                <a:solidFill>
                  <a:srgbClr val="FAFAF7"/>
                </a:solidFill>
                <a:latin typeface="SimSun"/>
                <a:ea typeface="SimSun"/>
                <a:cs typeface="SimSun"/>
              </a:rPr>
              <a:t>先整理，</a:t>
            </a:r>
            <a:r>
              <a:rPr sz="4200" b="1">
                <a:solidFill>
                  <a:srgbClr val="D97B29"/>
                </a:solidFill>
                <a:latin typeface="SimSun"/>
                <a:ea typeface="SimSun"/>
                <a:cs typeface="SimSun"/>
              </a:rPr>
              <a:t>工作人员再确认。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CD169A6-366E-4165-9B01-A4F397E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3691890"/>
            <a:ext cx="413766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保留反馈来源，跟进处理进度。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7D6E522-5203-4C39-906F-2A5A88CD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4712018"/>
            <a:ext cx="86788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225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试用计划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09124F2-6690-4700-AF35-B807A7BA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980" y="5095875"/>
            <a:ext cx="290283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了解流程</a:t>
            </a:r>
            <a:r>
              <a:rPr sz="1500">
                <a:solidFill>
                  <a:srgbClr val="F0F2ED"/>
                </a:solidFill>
                <a:latin typeface="Arial"/>
                <a:ea typeface="Arial"/>
                <a:cs typeface="Arial"/>
              </a:rPr>
              <a:t> · </a:t>
            </a:r>
            <a:r>
              <a:rPr sz="15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试用比较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054D55-CA53-428D-934E-AC78A6C3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547360"/>
            <a:ext cx="340461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希望和社区工作人员一起试用。欢迎提问。</a:t>
            </a:r>
          </a:p>
        </p:txBody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FE097F39-30C5-4F96-9578-1C70CDED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1722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E8C7B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B0FB05B-9465-403E-84B6-45DE87CB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404610"/>
            <a:ext cx="217993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个人参赛</a:t>
            </a:r>
            <a:r>
              <a:rPr sz="1200">
                <a:solidFill>
                  <a:srgbClr val="F0F2ED"/>
                </a:solidFill>
                <a:latin typeface="Arial"/>
                <a:ea typeface="Arial"/>
                <a:cs typeface="Arial"/>
              </a:rPr>
              <a:t> · AI+</a:t>
            </a:r>
            <a:r>
              <a:rPr sz="1200">
                <a:solidFill>
                  <a:srgbClr val="F0F2ED"/>
                </a:solidFill>
                <a:latin typeface="Microsoft YaHei"/>
                <a:ea typeface="Microsoft YaHei"/>
                <a:cs typeface="Microsoft YaHei"/>
              </a:rPr>
              <a:t>民生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5E3F2B-E737-4201-8B57-E4E49D6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90022" y="6404610"/>
            <a:ext cx="119847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F0F2ED"/>
                </a:solidFill>
                <a:latin typeface="Arial"/>
                <a:ea typeface="Arial"/>
                <a:cs typeface="Arial"/>
              </a:rPr>
              <a:t>Q &amp; A · 14 / 14</a:t>
            </a:r>
          </a:p>
        </p:txBody>
      </p:sp>
    </p:spTree>
    <p:extLst>
      <p:ext uri="{BB962C8B-B14F-4D97-AF65-F5344CB8AC3E}">
        <p14:creationId xmlns:p14="http://schemas.microsoft.com/office/powerpoint/2010/main" val="21271195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2026-08-31T12:44:30.9180000Z</dcterms:created>
  <dcterms:modified xsi:type="dcterms:W3CDTF">2026-08-31T12:44:30.9180000Z</dcterms:modified>
</coreProperties>
</file>