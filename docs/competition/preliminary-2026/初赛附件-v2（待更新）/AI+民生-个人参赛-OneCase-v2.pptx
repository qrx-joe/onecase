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大家好，我以个人身份参加 AI+民生赛道，项目叫 OneCase。它帮社区工作人员整理居民的文字反馈：先生成草稿，由人检查，再新建事项或关联已有事项，之后继续跟进处理进度。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看这条合成的留言：灯坏了，垃圾也没人清。它是一条消息，但说了两件需要分别处理的事。如果另一位居民已经报过这盏灯，还要核对是不是同一个问题。OneCase 想帮忙做的，就是记入台账前的这段整理工作。不过，这类工作在真实社区有多频繁、花多少时间，我还需要去了解。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由我一个人开发。我先设计反馈如何拆分、什么时候需要确认、状态怎么变更，再实现页面、模型接口和数据存储，最后补测试和文档。目前我还缺少社区一线经验，所以接下来想找工作人员一起核对流程，看看这些设计是不是用得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分析完，系统不会直接创建正式事项。工作人员要先看草稿，必要时修改，再选择新建、关联或拒绝。原始反馈、草稿和正式事项分开保存，后面也能回看来源。这样，录入什么内容、关联哪件事，都要经过人的确认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边是把一条反馈里的几个问题拆开，分别处理。右边是几条反馈都在说同一件事，经人工确认后，把来源关联到已有事项。系统根据标题词汇、地点、类别和时间列出候选，也会提示地点差异。这些提示只帮助判断，不保证没有误判，系统也不会自动合并事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演示使用合成数据，开始前我会说明当前用的是真实模型还是 Mock；Mock 只用于检查操作流程。先贴入灯坏了和垃圾没清的留言，再检查两个草稿和相似事项。接着把照明问题关联到已有事项，为清运问题新建一条记录。最后打开详情，看看新增的来源、处理记录和首页统计。具体结果以现场输出为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草稿有错，可以先修改。新建事项使用修改后的字段；关联已有事项只增加反馈来源，不会直接改写原有内容。批量确认时，有草稿未处理就不提交这批记录，已经确认的反馈也不能重复提交。AI 失败后可以重试，符合条件时可以手动创建。这些规则有代码和测试，真实多人使用时仍需要进一步检查。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模型负责把文字整理成结构化草稿，程序检查字段格式、相似候选、人工确认和状态变更。页面通过 API 读写数据库，原始反馈和处理记录都会保存。项目已有 Qwen、OpenAI 接口和 Mock 测试模式，但接口写好不代表模型效果已经测好。当前查重用的是词汇、地点、类别和时间，没有使用 Embedding。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这里列的是 2026 年 8 月 31 日已有的本地测试记录：116 项单元测试、87 项业务不变量检查、22 项端到端流程测试，以及 6 个子包的类型检查都通过了。源码、脚本和用例可以供检查。这些结果说明程序通过了哪些检查，不能说明真实社区用了以后能省多少时间。目前还没有可展示的客户或合作数据。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费方式还没有验证。我想先找一个愿意试用的社区服务方，把使用流程和需要补的条件理清楚，再做小范围比较。如果确实有用，再讨论部署配置和持续运维怎么收费。谁有预算、谁负责采购，以及模型调用和维护成本，都需要逐项确认；目前没有可验证的价格、合同或收入数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我想先测两件事：整理一条反馈要多久，整理完有没有漏项或关联错事项。做法是用同一批经授权、脱敏的反馈，比较人工整理和 OneCase 辅助整理，记录中位耗时、字段错误和修改次数，同时算模型失败率、转人工次数和单次成本。什么结果算值得继续做，要和社区工作人员事先商量。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能演示的是文字输入、草稿编辑、人工确认和事项跟踪。图片和语音虽然有入口样式，但还不能用；微信接入和语义检索也没做。真实试点前还要补认证权限、组织数据隔离、访问频率限制和待确认草稿列表。目前已有带 ID 的页面恢复，不等于草稿管理已经完整。现阶段只用合成数据演示。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这里列了主要开源组件及许可证。项目由我独立开发，产品设计、业务规则、代码和测试都由我负责，写代码和测试时使用 AI 编程工具辅助。需求怎么定、方案怎么选、结果是否可用，仍由我检查。框架、模型和第三方代码会注明来源，不算作自己的原创成果。直接依赖的核对不覆盖所有传递依赖和素材。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OneCase 目前做到了把文字反馈整理成草稿，由人确认后持续跟进。下一步，我希望和社区工作人员一起试用，用授权后的脱敏样本看看它能不能减少整理时间、会不会带来新的错误。谢谢，欢迎提问。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3504" y="289560"/>
            <a:ext cx="10984992" cy="348615"/>
            <a:chOff x="603504" y="289560"/>
            <a:chExt cx="10984992" cy="34861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289560"/>
              <a:ext cx="3183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5C6B64"/>
                  </a:solidFill>
                  <a:latin typeface="Georgia"/>
                  <a:ea typeface="SimSun"/>
                  <a:cs typeface="Georgia"/>
                </a:rPr>
                <a:t>江岸计划 · AI 黑客松创新大赛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29548" y="289560"/>
              <a:ext cx="2558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spc="225" dirty="0">
                  <a:solidFill>
                    <a:srgbClr val="5C6B64"/>
                  </a:solidFill>
                  <a:latin typeface="Georgia"/>
                  <a:ea typeface="Georgia"/>
                  <a:cs typeface="Georgia"/>
                </a:rPr>
                <a:t>PRELIMINARY · 2026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552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" y="628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3504" y="1203960"/>
            <a:ext cx="3633765" cy="234696"/>
            <a:chOff x="603504" y="1203960"/>
            <a:chExt cx="3633765" cy="234696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1203960"/>
              <a:ext cx="3633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75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AI+民生赛道 · 个人参赛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1912620"/>
            <a:ext cx="5872734" cy="1440942"/>
            <a:chOff x="552450" y="1912620"/>
            <a:chExt cx="5872734" cy="1440942"/>
          </a:xfrm>
        </p:grpSpPr>
        <p:sp>
          <p:nvSpPr>
            <p:cNvPr id="10" name="TextBox 10"/>
            <p:cNvSpPr txBox="1"/>
            <p:nvPr/>
          </p:nvSpPr>
          <p:spPr>
            <a:xfrm>
              <a:off x="552450" y="1912620"/>
              <a:ext cx="350440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OneCase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7408" y="2884170"/>
              <a:ext cx="58277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2302B"/>
                  </a:solidFill>
                  <a:latin typeface="Georgia"/>
                  <a:ea typeface="SimSun"/>
                  <a:cs typeface="Georgia"/>
                </a:rPr>
                <a:t>把居民反馈整理成事项，跟进处理进度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3886200"/>
            <a:ext cx="7842809" cy="990600"/>
            <a:chOff x="609600" y="3886200"/>
            <a:chExt cx="7842809" cy="990600"/>
          </a:xfrm>
        </p:grpSpPr>
        <p:sp>
          <p:nvSpPr>
            <p:cNvPr id="13" name="Line 13"/>
            <p:cNvSpPr/>
            <p:nvPr/>
          </p:nvSpPr>
          <p:spPr>
            <a:xfrm>
              <a:off x="609600" y="38862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38100">
              <a:solidFill>
                <a:srgbClr val="D97B2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3732" y="4002405"/>
              <a:ext cx="75486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2302B"/>
                  </a:solidFill>
                  <a:latin typeface="Georgia"/>
                  <a:ea typeface="SimSun"/>
                  <a:cs typeface="Georgia"/>
                </a:rPr>
                <a:t>“三栋二单元的灯又坏了……另外楼下垃圾今天也没人清。”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4540568"/>
              <a:ext cx="6431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合成示例：灯坏了、垃圾没人清，需要分别跟进。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504" y="6172200"/>
            <a:ext cx="10984992" cy="467106"/>
            <a:chOff x="603504" y="6172200"/>
            <a:chExt cx="10984992" cy="467106"/>
          </a:xfrm>
        </p:grpSpPr>
        <p:sp>
          <p:nvSpPr>
            <p:cNvPr id="17" name="Line 17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504" y="64046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个人参赛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54717" y="6404610"/>
              <a:ext cx="1433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2026.09 · 南京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25981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问题 · 反馈如何记入台账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56775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一条留言，说了两件事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97408" y="1760220"/>
            <a:ext cx="7213092" cy="897255"/>
            <a:chOff x="597408" y="1760220"/>
            <a:chExt cx="7213092" cy="897255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17602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19606" y="1767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一条消息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1892" y="2140268"/>
              <a:ext cx="56657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灯坏了、垃圾没人清，需要分开记录和处理。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264795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97408" y="3093720"/>
            <a:ext cx="7213092" cy="897255"/>
            <a:chOff x="597408" y="3093720"/>
            <a:chExt cx="7213092" cy="897255"/>
          </a:xfrm>
        </p:grpSpPr>
        <p:sp>
          <p:nvSpPr>
            <p:cNvPr id="12" name="TextBox 12"/>
            <p:cNvSpPr txBox="1"/>
            <p:nvPr/>
          </p:nvSpPr>
          <p:spPr>
            <a:xfrm>
              <a:off x="597408" y="30937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606" y="31013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不同居民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1892" y="3473768"/>
              <a:ext cx="4938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可能反映同一个问题，记入台账前要先核对。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398145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97408" y="4427220"/>
            <a:ext cx="6126747" cy="644081"/>
            <a:chOff x="597408" y="4427220"/>
            <a:chExt cx="6126747" cy="644081"/>
          </a:xfrm>
        </p:grpSpPr>
        <p:sp>
          <p:nvSpPr>
            <p:cNvPr id="17" name="TextBox 17"/>
            <p:cNvSpPr txBox="1"/>
            <p:nvPr/>
          </p:nvSpPr>
          <p:spPr>
            <a:xfrm>
              <a:off x="597408" y="44272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9606" y="4434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工作人员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21892" y="4807268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需要拆开问题、核对重复，再记入台账。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382000" y="1714500"/>
            <a:ext cx="3200400" cy="1905000"/>
            <a:chOff x="8382000" y="1714500"/>
            <a:chExt cx="32004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8382000" y="1714500"/>
              <a:ext cx="3200400" cy="19050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729662" y="2024062"/>
              <a:ext cx="257175" cy="257176"/>
              <a:chOff x="8729662" y="2024062"/>
              <a:chExt cx="257175" cy="25717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758238" y="20240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29662" y="219551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915400" y="202592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943975" y="219765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679942" y="2597468"/>
              <a:ext cx="837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直接用户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77656" y="2891790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社区工作人员 · 网格员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80704" y="32613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居民是信息来源，暂不需要操作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82000" y="4000500"/>
            <a:ext cx="2779776" cy="1333500"/>
            <a:chOff x="8382000" y="4000500"/>
            <a:chExt cx="2779776" cy="1333500"/>
          </a:xfrm>
        </p:grpSpPr>
        <p:sp>
          <p:nvSpPr>
            <p:cNvPr id="31" name="Line 31"/>
            <p:cNvSpPr/>
            <p:nvPr/>
          </p:nvSpPr>
          <p:spPr>
            <a:xfrm>
              <a:off x="8382000" y="4000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28575">
              <a:solidFill>
                <a:srgbClr val="D97B2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3742" y="4159568"/>
              <a:ext cx="837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目前情况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03742" y="45024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整理反馈的频率和耗时，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03742" y="4769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还需要实地了解。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团队 · 单人参赛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一个人的开发工作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714500"/>
            <a:ext cx="3048000" cy="4191000"/>
            <a:chOff x="609600" y="1714500"/>
            <a:chExt cx="30480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714500"/>
              <a:ext cx="3048000" cy="41910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19175" y="2109787"/>
              <a:ext cx="209550" cy="314325"/>
              <a:chOff x="1019175" y="2109787"/>
              <a:chExt cx="209550" cy="3143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54100" y="2109787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19175" y="2319337"/>
                <a:ext cx="2095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04775">
                    <a:moveTo>
                      <a:pt x="0" y="104775"/>
                    </a:moveTo>
                    <a:lnTo>
                      <a:pt x="0" y="69850"/>
                    </a:lnTo>
                    <a:cubicBezTo>
                      <a:pt x="0" y="31273"/>
                      <a:pt x="31273" y="0"/>
                      <a:pt x="69850" y="0"/>
                    </a:cubicBezTo>
                    <a:lnTo>
                      <a:pt x="139700" y="0"/>
                    </a:lnTo>
                    <a:cubicBezTo>
                      <a:pt x="178277" y="0"/>
                      <a:pt x="209550" y="31273"/>
                      <a:pt x="209550" y="69850"/>
                    </a:cubicBezTo>
                    <a:lnTo>
                      <a:pt x="209550" y="104775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98398" y="2669858"/>
              <a:ext cx="14433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1 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3245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个人参赛 · 独立开发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14400" y="37147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7542" y="3930968"/>
              <a:ext cx="2039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AI+民生赛道 · 个人参赛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43500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OneCase 由我独立开发，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4616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从产品设计、功能实现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7542" y="4883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到测试，都由我负责。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64558" y="1905000"/>
            <a:ext cx="2018157" cy="2175701"/>
            <a:chOff x="4464558" y="1905000"/>
            <a:chExt cx="2018157" cy="2175701"/>
          </a:xfrm>
        </p:grpSpPr>
        <p:sp>
          <p:nvSpPr>
            <p:cNvPr id="19" name="Line 19"/>
            <p:cNvSpPr/>
            <p:nvPr/>
          </p:nvSpPr>
          <p:spPr>
            <a:xfrm>
              <a:off x="447675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64558" y="2236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67606" y="2815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产品设计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69892" y="32832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社区事项整理的流程设计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69892" y="3549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以及状态变更规则、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69892" y="38166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人工确认和查重方式。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26808" y="1905000"/>
            <a:ext cx="2902190" cy="2175701"/>
            <a:chOff x="7226808" y="1905000"/>
            <a:chExt cx="2902190" cy="2175701"/>
          </a:xfrm>
        </p:grpSpPr>
        <p:sp>
          <p:nvSpPr>
            <p:cNvPr id="26" name="Line 26"/>
            <p:cNvSpPr/>
            <p:nvPr/>
          </p:nvSpPr>
          <p:spPr>
            <a:xfrm>
              <a:off x="723900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26808" y="2236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29856" y="2815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功能开发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32142" y="3283268"/>
              <a:ext cx="2130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Web 工作台、AI Provider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32142" y="3549968"/>
              <a:ext cx="2896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适配（Mock / Qwen / OpenAI）、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2142" y="3816668"/>
              <a:ext cx="1300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数据层与 API。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989058" y="1905000"/>
            <a:ext cx="1836420" cy="2175701"/>
            <a:chOff x="9989058" y="1905000"/>
            <a:chExt cx="1836420" cy="2175701"/>
          </a:xfrm>
        </p:grpSpPr>
        <p:sp>
          <p:nvSpPr>
            <p:cNvPr id="33" name="Line 33"/>
            <p:cNvSpPr/>
            <p:nvPr/>
          </p:nvSpPr>
          <p:spPr>
            <a:xfrm>
              <a:off x="1000125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89058" y="2236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92106" y="2815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测试与文档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94392" y="32832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单元测试、业务不变量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94392" y="3549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测试、端到端流程测试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94392" y="3816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与产品文档。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466082" y="1714500"/>
            <a:ext cx="7668654" cy="3699701"/>
            <a:chOff x="4466082" y="1714500"/>
            <a:chExt cx="7668654" cy="3699701"/>
          </a:xfrm>
        </p:grpSpPr>
        <p:sp>
          <p:nvSpPr>
            <p:cNvPr id="40" name="Line 40"/>
            <p:cNvSpPr/>
            <p:nvPr/>
          </p:nvSpPr>
          <p:spPr>
            <a:xfrm>
              <a:off x="6781800" y="1714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544050" y="1714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4476750" y="4476750"/>
              <a:ext cx="7105650" cy="9525"/>
            </a:xfrm>
            <a:custGeom>
              <a:avLst/>
              <a:gdLst/>
              <a:ahLst/>
              <a:cxnLst/>
              <a:rect l="l" t="t" r="r" b="b"/>
              <a:pathLst>
                <a:path w="7105650" h="9525">
                  <a:moveTo>
                    <a:pt x="0" y="0"/>
                  </a:moveTo>
                  <a:lnTo>
                    <a:pt x="710565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66082" y="4650105"/>
              <a:ext cx="5995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先把反馈整理、确认和跟踪做完。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69892" y="5150168"/>
              <a:ext cx="76648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我还缺少社区业务经验，希望和一线工作人员一起核对流程、安排试用。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03504" y="594360"/>
            <a:ext cx="1758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spc="300" dirty="0">
                <a:solidFill>
                  <a:srgbClr val="D97B29"/>
                </a:solidFill>
                <a:latin typeface="Arial"/>
                <a:ea typeface="Microsoft YaHei"/>
                <a:cs typeface="Arial"/>
              </a:rPr>
              <a:t>流程 · 人工确认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90550" y="2021205"/>
            <a:ext cx="7321906" cy="2954846"/>
            <a:chOff x="590550" y="2021205"/>
            <a:chExt cx="7321906" cy="2954846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2021205"/>
              <a:ext cx="572633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AI 先整理，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0550" y="2973705"/>
              <a:ext cx="460827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D97B29"/>
                  </a:solidFill>
                  <a:latin typeface="Georgia"/>
                  <a:ea typeface="SimSun"/>
                  <a:cs typeface="Georgia"/>
                </a:rPr>
                <a:t>人检查后确认。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400050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0456" y="4282440"/>
              <a:ext cx="73120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AI 分析完成后，仍要由工作人员检查，再决定新建或关联。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2742" y="4712018"/>
              <a:ext cx="5227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原始反馈、AI 草稿和正式事项分开保存，方便回看来源。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2742" y="5509260"/>
            <a:ext cx="10979658" cy="819341"/>
            <a:chOff x="602742" y="5509260"/>
            <a:chExt cx="10979658" cy="819341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5509260"/>
              <a:ext cx="7815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225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处理流程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2742" y="6064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居民文字反馈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0002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07742" y="6064568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AI 事项草稿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9052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12742" y="6064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人工检查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6197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127242" y="60645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新建或关联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4866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94142" y="6064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持续跟踪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758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机制 · 拆分与关联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2661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问题拆开，来源保留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42938" y="1682750"/>
            <a:ext cx="4852987" cy="2927350"/>
            <a:chOff x="642938" y="1682750"/>
            <a:chExt cx="4852987" cy="2927350"/>
          </a:xfrm>
        </p:grpSpPr>
        <p:grpSp>
          <p:nvGrpSpPr>
            <p:cNvPr id="11" name="Group 11"/>
            <p:cNvGrpSpPr/>
            <p:nvPr/>
          </p:nvGrpSpPr>
          <p:grpSpPr>
            <a:xfrm>
              <a:off x="642938" y="1682750"/>
              <a:ext cx="200026" cy="177800"/>
              <a:chOff x="642938" y="1682750"/>
              <a:chExt cx="200026" cy="177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42938" y="1771650"/>
                <a:ext cx="200026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55563">
                    <a:moveTo>
                      <a:pt x="200026" y="55563"/>
                    </a:moveTo>
                    <a:lnTo>
                      <a:pt x="140051" y="55563"/>
                    </a:lnTo>
                    <a:cubicBezTo>
                      <a:pt x="121920" y="55561"/>
                      <a:pt x="104931" y="46714"/>
                      <a:pt x="94534" y="31860"/>
                    </a:cubicBezTo>
                    <a:lnTo>
                      <a:pt x="88822" y="23703"/>
                    </a:lnTo>
                    <a:cubicBezTo>
                      <a:pt x="78426" y="8849"/>
                      <a:pt x="61436" y="1"/>
                      <a:pt x="4330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42938" y="1716087"/>
                <a:ext cx="200026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55563">
                    <a:moveTo>
                      <a:pt x="200026" y="1"/>
                    </a:moveTo>
                    <a:lnTo>
                      <a:pt x="140073" y="1"/>
                    </a:lnTo>
                    <a:cubicBezTo>
                      <a:pt x="121931" y="0"/>
                      <a:pt x="104930" y="8857"/>
                      <a:pt x="94534" y="23726"/>
                    </a:cubicBezTo>
                    <a:lnTo>
                      <a:pt x="88867" y="31838"/>
                    </a:lnTo>
                    <a:cubicBezTo>
                      <a:pt x="78473" y="46704"/>
                      <a:pt x="61478" y="55561"/>
                      <a:pt x="43339" y="55563"/>
                    </a:cubicBezTo>
                    <a:lnTo>
                      <a:pt x="0" y="55563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09626" y="1682750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09626" y="1793875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83742" y="1702118"/>
              <a:ext cx="2742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拆开 · 一条反馈 → 多个事项草稿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400300" y="2114550"/>
              <a:ext cx="1619250" cy="5715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84907" y="2314575"/>
              <a:ext cx="1050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居民反馈 A</a:t>
              </a:r>
            </a:p>
          </p:txBody>
        </p:sp>
        <p:sp>
          <p:nvSpPr>
            <p:cNvPr id="15" name="Line 15"/>
            <p:cNvSpPr/>
            <p:nvPr/>
          </p:nvSpPr>
          <p:spPr>
            <a:xfrm flipH="1">
              <a:off x="1905000" y="2686050"/>
              <a:ext cx="10477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3467100" y="2686050"/>
              <a:ext cx="10477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23925" y="4038600"/>
              <a:ext cx="1809750" cy="5715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76731" y="4254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草稿 1 · 照明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86175" y="4038600"/>
              <a:ext cx="1809750" cy="5715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38981" y="4254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草稿 2 · 清运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50049" y="1677321"/>
            <a:ext cx="4375151" cy="2932779"/>
            <a:chOff x="6750049" y="1677321"/>
            <a:chExt cx="4375151" cy="2932779"/>
          </a:xfrm>
        </p:grpSpPr>
        <p:grpSp>
          <p:nvGrpSpPr>
            <p:cNvPr id="25" name="Group 25"/>
            <p:cNvGrpSpPr/>
            <p:nvPr/>
          </p:nvGrpSpPr>
          <p:grpSpPr>
            <a:xfrm>
              <a:off x="6750049" y="1677321"/>
              <a:ext cx="183215" cy="188636"/>
              <a:chOff x="6750049" y="1677321"/>
              <a:chExt cx="183215" cy="18863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05613" y="173831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27838" y="1677321"/>
                <a:ext cx="105426" cy="105442"/>
              </a:xfrm>
              <a:custGeom>
                <a:avLst/>
                <a:gdLst/>
                <a:ahLst/>
                <a:cxnLst/>
                <a:rect l="l" t="t" r="r" b="b"/>
                <a:pathLst>
                  <a:path w="105426" h="105442">
                    <a:moveTo>
                      <a:pt x="0" y="27655"/>
                    </a:moveTo>
                    <a:lnTo>
                      <a:pt x="5145" y="21698"/>
                    </a:lnTo>
                    <a:cubicBezTo>
                      <a:pt x="26847" y="0"/>
                      <a:pt x="62029" y="2"/>
                      <a:pt x="83727" y="21704"/>
                    </a:cubicBezTo>
                    <a:cubicBezTo>
                      <a:pt x="105426" y="43405"/>
                      <a:pt x="105423" y="78588"/>
                      <a:pt x="83722" y="100286"/>
                    </a:cubicBezTo>
                    <a:lnTo>
                      <a:pt x="77788" y="105442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50049" y="1760538"/>
                <a:ext cx="100014" cy="105419"/>
              </a:xfrm>
              <a:custGeom>
                <a:avLst/>
                <a:gdLst/>
                <a:ahLst/>
                <a:cxnLst/>
                <a:rect l="l" t="t" r="r" b="b"/>
                <a:pathLst>
                  <a:path w="100014" h="105419">
                    <a:moveTo>
                      <a:pt x="100014" y="77788"/>
                    </a:moveTo>
                    <a:lnTo>
                      <a:pt x="95603" y="83722"/>
                    </a:lnTo>
                    <a:cubicBezTo>
                      <a:pt x="73661" y="105419"/>
                      <a:pt x="38345" y="105419"/>
                      <a:pt x="16404" y="83722"/>
                    </a:cubicBezTo>
                    <a:cubicBezTo>
                      <a:pt x="5907" y="73343"/>
                      <a:pt x="0" y="59195"/>
                      <a:pt x="0" y="44433"/>
                    </a:cubicBezTo>
                    <a:cubicBezTo>
                      <a:pt x="0" y="29672"/>
                      <a:pt x="5907" y="15524"/>
                      <a:pt x="16404" y="5145"/>
                    </a:cubicBezTo>
                    <a:lnTo>
                      <a:pt x="22227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079742" y="1702118"/>
              <a:ext cx="2360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关联 · 多条反馈 → 同一事项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81800" y="2114550"/>
              <a:ext cx="1619250" cy="5715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79767" y="2314575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反馈 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505950" y="2114550"/>
              <a:ext cx="1619250" cy="5715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003917" y="2314575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反馈 B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905750" y="2686050"/>
              <a:ext cx="8572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 flipH="1">
              <a:off x="9144000" y="2686050"/>
              <a:ext cx="8572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36737" y="3223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人工确认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29575" y="4038600"/>
              <a:ext cx="1905000" cy="5715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25507" y="42548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同一事项 + 来源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0" y="1638300"/>
            <a:ext cx="9525" cy="3124200"/>
            <a:chOff x="6096000" y="1638300"/>
            <a:chExt cx="9525" cy="3124200"/>
          </a:xfrm>
        </p:grpSpPr>
        <p:sp>
          <p:nvSpPr>
            <p:cNvPr id="37" name="Line 37"/>
            <p:cNvSpPr/>
            <p:nvPr/>
          </p:nvSpPr>
          <p:spPr>
            <a:xfrm>
              <a:off x="6096000" y="163830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603504" y="5200650"/>
            <a:ext cx="10978896" cy="1051751"/>
            <a:chOff x="603504" y="5200650"/>
            <a:chExt cx="10978896" cy="1051751"/>
          </a:xfrm>
        </p:grpSpPr>
        <p:sp>
          <p:nvSpPr>
            <p:cNvPr id="39" name="Line 39"/>
            <p:cNvSpPr/>
            <p:nvPr/>
          </p:nvSpPr>
          <p:spPr>
            <a:xfrm>
              <a:off x="609600" y="5200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3504" y="543306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候选依据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5734050"/>
              <a:ext cx="9144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7616" y="5823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标题词汇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638300" y="5734050"/>
              <a:ext cx="6096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775460" y="5823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地点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362200" y="5734050"/>
              <a:ext cx="6096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499360" y="5823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类别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086100" y="5734050"/>
              <a:ext cx="6096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223260" y="5823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时间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84142" y="5721668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候选会列出匹配依据，地点不同时会提醒。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184142" y="59883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由工作人员核对，系统不自动合并。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52" name="TextBox 52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演示 · 操作步骤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1479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现场演示：关联一件，新建一件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143250" y="2114550"/>
            <a:ext cx="5867400" cy="1"/>
            <a:chOff x="3143250" y="2114550"/>
            <a:chExt cx="5867400" cy="1"/>
          </a:xfrm>
        </p:grpSpPr>
        <p:sp>
          <p:nvSpPr>
            <p:cNvPr id="7" name="Line 7"/>
            <p:cNvSpPr/>
            <p:nvPr/>
          </p:nvSpPr>
          <p:spPr>
            <a:xfrm>
              <a:off x="3143250" y="2114550"/>
              <a:ext cx="285750" cy="1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5934075" y="2114550"/>
              <a:ext cx="285750" cy="1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8724900" y="2114550"/>
              <a:ext cx="285750" cy="1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91312" y="1878330"/>
            <a:ext cx="1842516" cy="1935671"/>
            <a:chOff x="591312" y="1878330"/>
            <a:chExt cx="1842516" cy="1935671"/>
          </a:xfrm>
        </p:grpSpPr>
        <p:sp>
          <p:nvSpPr>
            <p:cNvPr id="11" name="TextBox 11"/>
            <p:cNvSpPr txBox="1"/>
            <p:nvPr/>
          </p:nvSpPr>
          <p:spPr>
            <a:xfrm>
              <a:off x="591312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5E8C7B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0456" y="2815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粘贴一段反馈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3283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同时包含照明与清运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3549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两个问题的一段原文。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82137" y="1878330"/>
            <a:ext cx="1808455" cy="1935671"/>
            <a:chOff x="3382137" y="1878330"/>
            <a:chExt cx="1808455" cy="1935671"/>
          </a:xfrm>
        </p:grpSpPr>
        <p:sp>
          <p:nvSpPr>
            <p:cNvPr id="17" name="TextBox 17"/>
            <p:cNvSpPr txBox="1"/>
            <p:nvPr/>
          </p:nvSpPr>
          <p:spPr>
            <a:xfrm>
              <a:off x="3382137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5E8C7B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400425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1281" y="28155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检查草稿与候选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93567" y="3283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两个草稿，各带相似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93567" y="3549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事项候选与依据。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72962" y="1878330"/>
            <a:ext cx="1660779" cy="1935671"/>
            <a:chOff x="6172962" y="1878330"/>
            <a:chExt cx="1660779" cy="1935671"/>
          </a:xfrm>
        </p:grpSpPr>
        <p:sp>
          <p:nvSpPr>
            <p:cNvPr id="23" name="TextBox 23"/>
            <p:cNvSpPr txBox="1"/>
            <p:nvPr/>
          </p:nvSpPr>
          <p:spPr>
            <a:xfrm>
              <a:off x="6172962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D97B29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191250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D97B2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82106" y="2815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关联或新建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84392" y="3283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照明关联已有事项；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4392" y="3549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清运问题新建事项。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963787" y="1878330"/>
            <a:ext cx="1554023" cy="1935671"/>
            <a:chOff x="8963787" y="1878330"/>
            <a:chExt cx="1554023" cy="1935671"/>
          </a:xfrm>
        </p:grpSpPr>
        <p:sp>
          <p:nvSpPr>
            <p:cNvPr id="29" name="TextBox 29"/>
            <p:cNvSpPr txBox="1"/>
            <p:nvPr/>
          </p:nvSpPr>
          <p:spPr>
            <a:xfrm>
              <a:off x="8963787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5E8C7B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982075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72931" y="2815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查看处理结果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75217" y="3283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来源、处理记录与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75217" y="3549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首页统计变化。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4476750"/>
            <a:ext cx="10972800" cy="1238250"/>
            <a:chOff x="609600" y="4476750"/>
            <a:chExt cx="10972800" cy="1238250"/>
          </a:xfrm>
        </p:grpSpPr>
        <p:sp>
          <p:nvSpPr>
            <p:cNvPr id="35" name="Rectangle 35"/>
            <p:cNvSpPr/>
            <p:nvPr/>
          </p:nvSpPr>
          <p:spPr>
            <a:xfrm>
              <a:off x="609600" y="4476750"/>
              <a:ext cx="10972800" cy="12382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5642" y="4845368"/>
              <a:ext cx="837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演示说明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5642" y="5207318"/>
              <a:ext cx="79479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演示使用合成数据，现场说明使用真实模型还是 Mock。Mock 只检查操作流程，不代表模型效果。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25981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容错 · 修改、重试与手动处理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1479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草稿能修改，分析失败可重试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1714500"/>
            <a:ext cx="10972800" cy="4191000"/>
            <a:chOff x="609600" y="1714500"/>
            <a:chExt cx="10972800" cy="4191000"/>
          </a:xfrm>
        </p:grpSpPr>
        <p:sp>
          <p:nvSpPr>
            <p:cNvPr id="7" name="Line 7"/>
            <p:cNvSpPr/>
            <p:nvPr/>
          </p:nvSpPr>
          <p:spPr>
            <a:xfrm>
              <a:off x="6096000" y="17145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3810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98932" y="1844040"/>
            <a:ext cx="4015740" cy="1768983"/>
            <a:chOff x="598932" y="1844040"/>
            <a:chExt cx="4015740" cy="1768983"/>
          </a:xfrm>
        </p:grpSpPr>
        <p:grpSp>
          <p:nvGrpSpPr>
            <p:cNvPr id="12" name="Group 12"/>
            <p:cNvGrpSpPr/>
            <p:nvPr/>
          </p:nvGrpSpPr>
          <p:grpSpPr>
            <a:xfrm>
              <a:off x="660400" y="1846522"/>
              <a:ext cx="198178" cy="198178"/>
              <a:chOff x="660400" y="1846522"/>
              <a:chExt cx="198178" cy="19817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60400" y="1846522"/>
                <a:ext cx="198178" cy="198178"/>
              </a:xfrm>
              <a:custGeom>
                <a:avLst/>
                <a:gdLst/>
                <a:ahLst/>
                <a:cxnLst/>
                <a:rect l="l" t="t" r="r" b="b"/>
                <a:pathLst>
                  <a:path w="198178" h="198178">
                    <a:moveTo>
                      <a:pt x="0" y="198178"/>
                    </a:moveTo>
                    <a:lnTo>
                      <a:pt x="50800" y="198178"/>
                    </a:lnTo>
                    <a:lnTo>
                      <a:pt x="184150" y="64828"/>
                    </a:lnTo>
                    <a:cubicBezTo>
                      <a:pt x="198178" y="50800"/>
                      <a:pt x="198178" y="28056"/>
                      <a:pt x="184150" y="14028"/>
                    </a:cubicBezTo>
                    <a:cubicBezTo>
                      <a:pt x="170122" y="0"/>
                      <a:pt x="147378" y="0"/>
                      <a:pt x="133350" y="14028"/>
                    </a:cubicBezTo>
                    <a:lnTo>
                      <a:pt x="0" y="147378"/>
                    </a:lnTo>
                    <a:lnTo>
                      <a:pt x="0" y="198178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81050" y="18732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508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57656" y="18440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草稿可修改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23879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新建事项采用人工确认后的标题、地点、优先级，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26736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并留下修改记录。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8932" y="320230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94932" y="1841500"/>
            <a:ext cx="3107055" cy="1771523"/>
            <a:chOff x="6694932" y="1841500"/>
            <a:chExt cx="3107055" cy="1771523"/>
          </a:xfrm>
        </p:grpSpPr>
        <p:grpSp>
          <p:nvGrpSpPr>
            <p:cNvPr id="22" name="Group 22"/>
            <p:cNvGrpSpPr/>
            <p:nvPr/>
          </p:nvGrpSpPr>
          <p:grpSpPr>
            <a:xfrm>
              <a:off x="6769100" y="1841500"/>
              <a:ext cx="190500" cy="215899"/>
              <a:chOff x="6769100" y="1841500"/>
              <a:chExt cx="190500" cy="21589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769100" y="184150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883400" y="200659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819900" y="189230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819900" y="19431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7153656" y="1844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批量确认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98742" y="23879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新建、关联和处理记录一起保存；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98742" y="2673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草稿未处理完就不提交。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4932" y="320230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98932" y="4114800"/>
            <a:ext cx="2380107" cy="1765173"/>
            <a:chOff x="598932" y="4114800"/>
            <a:chExt cx="2380107" cy="1765173"/>
          </a:xfrm>
        </p:grpSpPr>
        <p:grpSp>
          <p:nvGrpSpPr>
            <p:cNvPr id="30" name="Group 30"/>
            <p:cNvGrpSpPr/>
            <p:nvPr/>
          </p:nvGrpSpPr>
          <p:grpSpPr>
            <a:xfrm>
              <a:off x="647700" y="4114800"/>
              <a:ext cx="228599" cy="228599"/>
              <a:chOff x="647700" y="4114800"/>
              <a:chExt cx="228599" cy="22859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47700" y="41148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3900" y="42037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57656" y="41300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防重复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2742" y="4673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已确认的反馈拒绝重复确认；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2742" y="4959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状态只能按规定顺序变更。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8932" y="546925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94932" y="4122600"/>
            <a:ext cx="2925318" cy="1757373"/>
            <a:chOff x="6694932" y="4122600"/>
            <a:chExt cx="2925318" cy="1757373"/>
          </a:xfrm>
        </p:grpSpPr>
        <p:grpSp>
          <p:nvGrpSpPr>
            <p:cNvPr id="38" name="Group 38"/>
            <p:cNvGrpSpPr/>
            <p:nvPr/>
          </p:nvGrpSpPr>
          <p:grpSpPr>
            <a:xfrm>
              <a:off x="6756400" y="4122600"/>
              <a:ext cx="203199" cy="213000"/>
              <a:chOff x="6756400" y="4122600"/>
              <a:chExt cx="203199" cy="213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756400" y="41226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203199" y="93800"/>
                    </a:moveTo>
                    <a:cubicBezTo>
                      <a:pt x="196815" y="47858"/>
                      <a:pt x="160475" y="11871"/>
                      <a:pt x="114473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56400" y="42418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0" y="0"/>
                    </a:moveTo>
                    <a:cubicBezTo>
                      <a:pt x="6385" y="45942"/>
                      <a:pt x="42724" y="81928"/>
                      <a:pt x="88726" y="87864"/>
                    </a:cubicBezTo>
                    <a:cubicBezTo>
                      <a:pt x="134728" y="93800"/>
                      <a:pt x="179012" y="68216"/>
                      <a:pt x="196850" y="25400"/>
                    </a:cubicBezTo>
                    <a:moveTo>
                      <a:pt x="203199" y="76200"/>
                    </a:moveTo>
                    <a:lnTo>
                      <a:pt x="203199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53656" y="4130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失败处理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98742" y="4673918"/>
              <a:ext cx="1770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AI 分析失败可重试；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98742" y="49596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符合条件时，可以手动创建事项。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94932" y="546925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44" name="TextBox 44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架构 · 分层职责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6184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模型整理文字，程序检查规则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600200"/>
            <a:ext cx="10972800" cy="838200"/>
            <a:chOff x="609600" y="1600200"/>
            <a:chExt cx="10972800" cy="838200"/>
          </a:xfrm>
        </p:grpSpPr>
        <p:sp>
          <p:nvSpPr>
            <p:cNvPr id="7" name="Rectangle 7"/>
            <p:cNvSpPr/>
            <p:nvPr/>
          </p:nvSpPr>
          <p:spPr>
            <a:xfrm>
              <a:off x="609600" y="16002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05098" y="17678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AFAF7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8440" y="2102168"/>
              <a:ext cx="9673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Web 工作台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67000" y="16002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926205" y="1949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638800" y="16002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16268" y="194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草稿检查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610600" y="16002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88068" y="194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事项跟踪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2590800"/>
            <a:ext cx="10972800" cy="842201"/>
            <a:chOff x="609600" y="2590800"/>
            <a:chExt cx="10972800" cy="842201"/>
          </a:xfrm>
        </p:grpSpPr>
        <p:sp>
          <p:nvSpPr>
            <p:cNvPr id="17" name="Rectangle 17"/>
            <p:cNvSpPr/>
            <p:nvPr/>
          </p:nvSpPr>
          <p:spPr>
            <a:xfrm>
              <a:off x="609600" y="25908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462088" y="2738438"/>
              <a:ext cx="200025" cy="200025"/>
              <a:chOff x="1462088" y="2738438"/>
              <a:chExt cx="200025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484313" y="2760663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144463" y="0"/>
                    </a:lnTo>
                    <a:cubicBezTo>
                      <a:pt x="150600" y="0"/>
                      <a:pt x="155575" y="4975"/>
                      <a:pt x="155575" y="11113"/>
                    </a:cubicBezTo>
                    <a:lnTo>
                      <a:pt x="155575" y="144463"/>
                    </a:lnTo>
                    <a:cubicBezTo>
                      <a:pt x="155575" y="150600"/>
                      <a:pt x="150600" y="155575"/>
                      <a:pt x="144463" y="155575"/>
                    </a:cubicBezTo>
                    <a:lnTo>
                      <a:pt x="11113" y="155575"/>
                    </a:lnTo>
                    <a:cubicBezTo>
                      <a:pt x="4975" y="155575"/>
                      <a:pt x="0" y="150600"/>
                      <a:pt x="0" y="1444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528763" y="280511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66675"/>
                    </a:lnTo>
                    <a:lnTo>
                      <a:pt x="0" y="666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462088" y="28162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462088" y="28606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539875" y="27384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584325" y="27384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639888" y="28162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639888" y="28606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584325" y="29162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539875" y="29162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52804" y="3168968"/>
              <a:ext cx="618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AI 适配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667000" y="25908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86771" y="2940368"/>
              <a:ext cx="456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Mock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638800" y="25908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40141" y="2940368"/>
              <a:ext cx="492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Qwen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610600" y="25908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47861" y="2940368"/>
              <a:ext cx="621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OpenAI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9600" y="3581400"/>
            <a:ext cx="10972800" cy="838200"/>
            <a:chOff x="609600" y="3581400"/>
            <a:chExt cx="10972800" cy="838200"/>
          </a:xfrm>
        </p:grpSpPr>
        <p:sp>
          <p:nvSpPr>
            <p:cNvPr id="37" name="Rectangle 37"/>
            <p:cNvSpPr/>
            <p:nvPr/>
          </p:nvSpPr>
          <p:spPr>
            <a:xfrm>
              <a:off x="609600" y="35814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05098" y="37490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AFAF7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91768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业务控制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667000" y="35814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006407" y="3930968"/>
              <a:ext cx="11309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Schema 校验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4895850" y="3581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12219" y="3930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候选排序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705600" y="3581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16895" y="3930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人工确认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353550" y="3581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174881" y="39309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状态机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9600" y="4572000"/>
            <a:ext cx="10972800" cy="842201"/>
            <a:chOff x="609600" y="4572000"/>
            <a:chExt cx="10972800" cy="842201"/>
          </a:xfrm>
        </p:grpSpPr>
        <p:sp>
          <p:nvSpPr>
            <p:cNvPr id="49" name="Rectangle 49"/>
            <p:cNvSpPr/>
            <p:nvPr/>
          </p:nvSpPr>
          <p:spPr>
            <a:xfrm>
              <a:off x="609600" y="45720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1473200" y="4719638"/>
              <a:ext cx="177801" cy="200025"/>
              <a:chOff x="1473200" y="4719638"/>
              <a:chExt cx="177801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473200" y="471963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473200" y="475297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473200" y="481965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191768" y="5150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数据记录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667000" y="45720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934843" y="4921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原始反馈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408622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535805" y="4921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536257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812155" y="4921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事项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63892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88505" y="4921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791527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59368" y="4921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处理记录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3504" y="5715000"/>
            <a:ext cx="10984992" cy="499301"/>
            <a:chOff x="603504" y="5715000"/>
            <a:chExt cx="10984992" cy="499301"/>
          </a:xfrm>
        </p:grpSpPr>
        <p:sp>
          <p:nvSpPr>
            <p:cNvPr id="66" name="Line 66"/>
            <p:cNvSpPr/>
            <p:nvPr/>
          </p:nvSpPr>
          <p:spPr>
            <a:xfrm>
              <a:off x="609600" y="5715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3504" y="596646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技术基础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707642" y="5950268"/>
              <a:ext cx="4713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Next.js/React/TypeScript/Zod/Prisma/SQLite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80528" y="5966460"/>
              <a:ext cx="3807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模型效果还需实测；相似事项暂未用 Embedding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3504" y="6442710"/>
            <a:ext cx="10984992" cy="234696"/>
            <a:chOff x="603504" y="6442710"/>
            <a:chExt cx="10984992" cy="234696"/>
          </a:xfrm>
        </p:grpSpPr>
        <p:sp>
          <p:nvSpPr>
            <p:cNvPr id="71" name="TextBox 71"/>
            <p:cNvSpPr txBox="1"/>
            <p:nvPr/>
          </p:nvSpPr>
          <p:spPr>
            <a:xfrm>
              <a:off x="603504" y="64427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35132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背书 · 工程证据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已完成的功能和测试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91312" y="1714500"/>
            <a:ext cx="3371088" cy="1724406"/>
            <a:chOff x="591312" y="1714500"/>
            <a:chExt cx="3371088" cy="1724406"/>
          </a:xfrm>
        </p:grpSpPr>
        <p:sp>
          <p:nvSpPr>
            <p:cNvPr id="7" name="Line 7"/>
            <p:cNvSpPr/>
            <p:nvPr/>
          </p:nvSpPr>
          <p:spPr>
            <a:xfrm>
              <a:off x="6096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1312" y="2164080"/>
              <a:ext cx="9237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116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2867025"/>
              <a:ext cx="21673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项单元测试 · 全部通过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504" y="3204210"/>
              <a:ext cx="26493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检查 AI 数据格式、业务规则和查重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248912" y="1714500"/>
            <a:ext cx="3371088" cy="1724406"/>
            <a:chOff x="4248912" y="1714500"/>
            <a:chExt cx="3371088" cy="1724406"/>
          </a:xfrm>
        </p:grpSpPr>
        <p:sp>
          <p:nvSpPr>
            <p:cNvPr id="12" name="Line 12"/>
            <p:cNvSpPr/>
            <p:nvPr/>
          </p:nvSpPr>
          <p:spPr>
            <a:xfrm>
              <a:off x="42672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48912" y="216408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87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59580" y="286702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项业务不变量 · 全部通过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61104" y="3204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在数据库上检查业务规则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06512" y="1714500"/>
            <a:ext cx="3371088" cy="1724406"/>
            <a:chOff x="7906512" y="1714500"/>
            <a:chExt cx="3371088" cy="1724406"/>
          </a:xfrm>
        </p:grpSpPr>
        <p:sp>
          <p:nvSpPr>
            <p:cNvPr id="17" name="Line 17"/>
            <p:cNvSpPr/>
            <p:nvPr/>
          </p:nvSpPr>
          <p:spPr>
            <a:xfrm>
              <a:off x="79248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06512" y="216408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22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17180" y="286702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项端到端流程 · 全部通过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18704" y="3204210"/>
              <a:ext cx="2307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浏览器流程，含 AI 失败后的处理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114800" y="1714500"/>
            <a:ext cx="3667125" cy="1714500"/>
            <a:chOff x="4114800" y="1714500"/>
            <a:chExt cx="3667125" cy="1714500"/>
          </a:xfrm>
        </p:grpSpPr>
        <p:sp>
          <p:nvSpPr>
            <p:cNvPr id="22" name="Line 22"/>
            <p:cNvSpPr/>
            <p:nvPr/>
          </p:nvSpPr>
          <p:spPr>
            <a:xfrm>
              <a:off x="4114800" y="17145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772400" y="17145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1980" y="3810000"/>
            <a:ext cx="10980420" cy="2093595"/>
            <a:chOff x="601980" y="3810000"/>
            <a:chExt cx="10980420" cy="2093595"/>
          </a:xfrm>
        </p:grpSpPr>
        <p:sp>
          <p:nvSpPr>
            <p:cNvPr id="25" name="Line 25"/>
            <p:cNvSpPr/>
            <p:nvPr/>
          </p:nvSpPr>
          <p:spPr>
            <a:xfrm>
              <a:off x="609600" y="3810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980" y="4086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项目成果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79142" y="4102418"/>
              <a:ext cx="5755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已实现文字整理、人工确认和事项跟踪；AI 失败后可重试或按条件转人工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4572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65163" y="4833938"/>
              <a:ext cx="155575" cy="200026"/>
              <a:chOff x="665163" y="4833938"/>
              <a:chExt cx="155575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65175" y="48339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5163" y="48339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09613" y="490061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09613" y="49450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9613" y="49895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82980" y="4848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工程证据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79142" y="486441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有源码、演示脚本和自动化测试用例，可供检查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533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1980" y="5610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目前情况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79142" y="5626418"/>
              <a:ext cx="6392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个人开发项目，尚无可展示的客户或合作数据；实际使用效果还需验证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3504" y="6118860"/>
            <a:ext cx="6191250" cy="234696"/>
            <a:chOff x="603504" y="6118860"/>
            <a:chExt cx="6191250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603504" y="6118860"/>
              <a:ext cx="6191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来源：仓库自动化测试套件 · 2026-08-31 本机实测 · 另含 6 个子包类型检查全部通过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03504" y="64808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351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商业 · 落地路径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2661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先试用，再讨论收费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714500"/>
            <a:ext cx="10972800" cy="683895"/>
            <a:chOff x="609600" y="1714500"/>
            <a:chExt cx="10972800" cy="683895"/>
          </a:xfrm>
        </p:grpSpPr>
        <p:sp>
          <p:nvSpPr>
            <p:cNvPr id="7" name="Polygon 7"/>
            <p:cNvSpPr/>
            <p:nvPr/>
          </p:nvSpPr>
          <p:spPr>
            <a:xfrm>
              <a:off x="609600" y="1714500"/>
              <a:ext cx="3905250" cy="666750"/>
            </a:xfrm>
            <a:custGeom>
              <a:avLst/>
              <a:gdLst/>
              <a:ahLst/>
              <a:cxnLst/>
              <a:rect l="l" t="t" r="r" b="b"/>
              <a:pathLst>
                <a:path w="3905250" h="666750">
                  <a:moveTo>
                    <a:pt x="0" y="0"/>
                  </a:moveTo>
                  <a:lnTo>
                    <a:pt x="3619500" y="0"/>
                  </a:lnTo>
                  <a:lnTo>
                    <a:pt x="3905250" y="333375"/>
                  </a:lnTo>
                  <a:lnTo>
                    <a:pt x="36195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F0F2ED"/>
            </a:solidFill>
            <a:ln w="14288">
              <a:solidFill>
                <a:srgbClr val="1E4D4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46758" y="188976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150" dirty="0">
                  <a:solidFill>
                    <a:srgbClr val="5C6B64"/>
                  </a:solidFill>
                  <a:latin typeface="Arial"/>
                  <a:ea typeface="Arial"/>
                  <a:cs typeface="Arial"/>
                </a:rPr>
                <a:t>STEP 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92427" y="2105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梳理流程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4229100" y="1714500"/>
              <a:ext cx="3905250" cy="666750"/>
            </a:xfrm>
            <a:custGeom>
              <a:avLst/>
              <a:gdLst/>
              <a:ahLst/>
              <a:cxnLst/>
              <a:rect l="l" t="t" r="r" b="b"/>
              <a:pathLst>
                <a:path w="3905250" h="666750">
                  <a:moveTo>
                    <a:pt x="0" y="0"/>
                  </a:moveTo>
                  <a:lnTo>
                    <a:pt x="3619500" y="0"/>
                  </a:lnTo>
                  <a:lnTo>
                    <a:pt x="3905250" y="333375"/>
                  </a:lnTo>
                  <a:lnTo>
                    <a:pt x="3619500" y="666750"/>
                  </a:lnTo>
                  <a:lnTo>
                    <a:pt x="0" y="666750"/>
                  </a:lnTo>
                  <a:lnTo>
                    <a:pt x="285750" y="333375"/>
                  </a:lnTo>
                  <a:close/>
                </a:path>
              </a:pathLst>
            </a:custGeom>
            <a:solidFill>
              <a:srgbClr val="F0F2ED"/>
            </a:solidFill>
            <a:ln w="14288">
              <a:solidFill>
                <a:srgbClr val="1E4D4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1508" y="188976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150" dirty="0">
                  <a:solidFill>
                    <a:srgbClr val="5C6B64"/>
                  </a:solidFill>
                  <a:latin typeface="Arial"/>
                  <a:ea typeface="Arial"/>
                  <a:cs typeface="Arial"/>
                </a:rPr>
                <a:t>STEP 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07177" y="2105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试用比较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7848600" y="1714500"/>
              <a:ext cx="3733800" cy="666750"/>
            </a:xfrm>
            <a:custGeom>
              <a:avLst/>
              <a:gdLst/>
              <a:ahLst/>
              <a:cxnLst/>
              <a:rect l="l" t="t" r="r" b="b"/>
              <a:pathLst>
                <a:path w="3733800" h="666750">
                  <a:moveTo>
                    <a:pt x="0" y="0"/>
                  </a:moveTo>
                  <a:lnTo>
                    <a:pt x="3448050" y="0"/>
                  </a:lnTo>
                  <a:lnTo>
                    <a:pt x="3733800" y="333375"/>
                  </a:lnTo>
                  <a:lnTo>
                    <a:pt x="3448050" y="666750"/>
                  </a:lnTo>
                  <a:lnTo>
                    <a:pt x="0" y="666750"/>
                  </a:lnTo>
                  <a:lnTo>
                    <a:pt x="285750" y="333375"/>
                  </a:lnTo>
                  <a:close/>
                </a:path>
              </a:pathLst>
            </a:custGeom>
            <a:solidFill>
              <a:srgbClr val="1E4D4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42908" y="188976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150" dirty="0">
                  <a:solidFill>
                    <a:srgbClr val="5E8C7B"/>
                  </a:solidFill>
                  <a:latin typeface="Arial"/>
                  <a:ea typeface="Arial"/>
                  <a:cs typeface="Arial"/>
                </a:rPr>
                <a:t>STEP 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88577" y="2105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服务采购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857500"/>
            <a:ext cx="10972800" cy="2857500"/>
            <a:chOff x="609600" y="2857500"/>
            <a:chExt cx="10972800" cy="2857500"/>
          </a:xfrm>
        </p:grpSpPr>
        <p:sp>
          <p:nvSpPr>
            <p:cNvPr id="17" name="Line 17"/>
            <p:cNvSpPr/>
            <p:nvPr/>
          </p:nvSpPr>
          <p:spPr>
            <a:xfrm>
              <a:off x="6096000" y="28575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02742" y="3083719"/>
            <a:ext cx="2030997" cy="1035082"/>
            <a:chOff x="602742" y="3083719"/>
            <a:chExt cx="2030997" cy="1035082"/>
          </a:xfrm>
        </p:grpSpPr>
        <p:grpSp>
          <p:nvGrpSpPr>
            <p:cNvPr id="24" name="Group 24"/>
            <p:cNvGrpSpPr/>
            <p:nvPr/>
          </p:nvGrpSpPr>
          <p:grpSpPr>
            <a:xfrm>
              <a:off x="645319" y="3083719"/>
              <a:ext cx="214313" cy="214313"/>
              <a:chOff x="645319" y="3083719"/>
              <a:chExt cx="214313" cy="2143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69131" y="30837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45319" y="322659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0100" y="308526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3913" y="322838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39368" y="30984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使用者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2742" y="35880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社区工作人员与网格员，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2742" y="3854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每天处理居民反馈的人。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97218" y="3098482"/>
            <a:ext cx="2014347" cy="1020319"/>
            <a:chOff x="6697218" y="3098482"/>
            <a:chExt cx="2014347" cy="1020319"/>
          </a:xfrm>
        </p:grpSpPr>
        <p:sp>
          <p:nvSpPr>
            <p:cNvPr id="29" name="TextBox 29"/>
            <p:cNvSpPr txBox="1"/>
            <p:nvPr/>
          </p:nvSpPr>
          <p:spPr>
            <a:xfrm>
              <a:off x="6697218" y="30984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潜在付费方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98742" y="358806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社区服务运营方，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8742" y="3854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预算和采购流程待确认。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2742" y="4606123"/>
            <a:ext cx="1622088" cy="1036678"/>
            <a:chOff x="602742" y="4606123"/>
            <a:chExt cx="1622088" cy="1036678"/>
          </a:xfrm>
        </p:grpSpPr>
        <p:grpSp>
          <p:nvGrpSpPr>
            <p:cNvPr id="38" name="Group 38"/>
            <p:cNvGrpSpPr/>
            <p:nvPr/>
          </p:nvGrpSpPr>
          <p:grpSpPr>
            <a:xfrm>
              <a:off x="645319" y="4606123"/>
              <a:ext cx="214312" cy="215909"/>
              <a:chOff x="645319" y="4606123"/>
              <a:chExt cx="214312" cy="21590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16756" y="4702969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35719"/>
                    </a:moveTo>
                    <a:cubicBezTo>
                      <a:pt x="0" y="55447"/>
                      <a:pt x="31980" y="71438"/>
                      <a:pt x="71438" y="71438"/>
                    </a:cubicBezTo>
                    <a:cubicBezTo>
                      <a:pt x="110895" y="71438"/>
                      <a:pt x="142875" y="55447"/>
                      <a:pt x="142875" y="35719"/>
                    </a:cubicBezTo>
                    <a:cubicBezTo>
                      <a:pt x="142875" y="15990"/>
                      <a:pt x="110895" y="0"/>
                      <a:pt x="71438" y="0"/>
                    </a:cubicBezTo>
                    <a:cubicBezTo>
                      <a:pt x="31980" y="0"/>
                      <a:pt x="0" y="15990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16756" y="4738688"/>
                <a:ext cx="14287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83344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7342"/>
                      <a:pt x="31980" y="83344"/>
                      <a:pt x="71438" y="83344"/>
                    </a:cubicBezTo>
                    <a:cubicBezTo>
                      <a:pt x="110895" y="83344"/>
                      <a:pt x="142875" y="67342"/>
                      <a:pt x="142875" y="47625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5319" y="4606123"/>
                <a:ext cx="142875" cy="7462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4628">
                    <a:moveTo>
                      <a:pt x="0" y="37314"/>
                    </a:moveTo>
                    <a:cubicBezTo>
                      <a:pt x="0" y="50078"/>
                      <a:pt x="13621" y="61865"/>
                      <a:pt x="35719" y="68247"/>
                    </a:cubicBezTo>
                    <a:cubicBezTo>
                      <a:pt x="57817" y="74628"/>
                      <a:pt x="85058" y="74628"/>
                      <a:pt x="107156" y="68247"/>
                    </a:cubicBezTo>
                    <a:cubicBezTo>
                      <a:pt x="129254" y="61865"/>
                      <a:pt x="142875" y="50078"/>
                      <a:pt x="142875" y="37314"/>
                    </a:cubicBezTo>
                    <a:cubicBezTo>
                      <a:pt x="142875" y="24551"/>
                      <a:pt x="129254" y="12764"/>
                      <a:pt x="107156" y="6382"/>
                    </a:cubicBezTo>
                    <a:cubicBezTo>
                      <a:pt x="85058" y="0"/>
                      <a:pt x="57817" y="0"/>
                      <a:pt x="35719" y="6382"/>
                    </a:cubicBezTo>
                    <a:cubicBezTo>
                      <a:pt x="13621" y="12764"/>
                      <a:pt x="0" y="24551"/>
                      <a:pt x="0" y="37314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5319" y="4643438"/>
                <a:ext cx="238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142875">
                    <a:moveTo>
                      <a:pt x="0" y="0"/>
                    </a:moveTo>
                    <a:lnTo>
                      <a:pt x="0" y="119062"/>
                    </a:lnTo>
                    <a:cubicBezTo>
                      <a:pt x="0" y="129635"/>
                      <a:pt x="9192" y="136327"/>
                      <a:pt x="23812" y="142875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5319" y="470296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0"/>
                    </a:moveTo>
                    <a:cubicBezTo>
                      <a:pt x="0" y="10573"/>
                      <a:pt x="9192" y="17264"/>
                      <a:pt x="23812" y="23812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39368" y="4622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收费设想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2742" y="51120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部署与配置服务费 +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2742" y="53787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持续运维服务费。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698742" y="4602492"/>
            <a:ext cx="1831086" cy="1040309"/>
            <a:chOff x="6698742" y="4602492"/>
            <a:chExt cx="1831086" cy="1040309"/>
          </a:xfrm>
        </p:grpSpPr>
        <p:grpSp>
          <p:nvGrpSpPr>
            <p:cNvPr id="45" name="Group 45"/>
            <p:cNvGrpSpPr/>
            <p:nvPr/>
          </p:nvGrpSpPr>
          <p:grpSpPr>
            <a:xfrm>
              <a:off x="6736092" y="4602492"/>
              <a:ext cx="224766" cy="224766"/>
              <a:chOff x="6736092" y="4602492"/>
              <a:chExt cx="224766" cy="22476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736092" y="4602492"/>
                <a:ext cx="224766" cy="224766"/>
              </a:xfrm>
              <a:custGeom>
                <a:avLst/>
                <a:gdLst/>
                <a:ahLst/>
                <a:cxnLst/>
                <a:rect l="l" t="t" r="r" b="b"/>
                <a:pathLst>
                  <a:path w="224766" h="224766">
                    <a:moveTo>
                      <a:pt x="92440" y="20907"/>
                    </a:moveTo>
                    <a:cubicBezTo>
                      <a:pt x="97512" y="0"/>
                      <a:pt x="127254" y="0"/>
                      <a:pt x="132326" y="20907"/>
                    </a:cubicBezTo>
                    <a:cubicBezTo>
                      <a:pt x="133870" y="27278"/>
                      <a:pt x="138363" y="32528"/>
                      <a:pt x="144419" y="35037"/>
                    </a:cubicBezTo>
                    <a:cubicBezTo>
                      <a:pt x="150474" y="37546"/>
                      <a:pt x="157364" y="37012"/>
                      <a:pt x="162961" y="33599"/>
                    </a:cubicBezTo>
                    <a:cubicBezTo>
                      <a:pt x="181332" y="22408"/>
                      <a:pt x="202371" y="43434"/>
                      <a:pt x="191179" y="61817"/>
                    </a:cubicBezTo>
                    <a:cubicBezTo>
                      <a:pt x="187771" y="67411"/>
                      <a:pt x="187238" y="74296"/>
                      <a:pt x="189744" y="80348"/>
                    </a:cubicBezTo>
                    <a:cubicBezTo>
                      <a:pt x="192250" y="86400"/>
                      <a:pt x="197494" y="90892"/>
                      <a:pt x="203859" y="92440"/>
                    </a:cubicBezTo>
                    <a:cubicBezTo>
                      <a:pt x="224766" y="97512"/>
                      <a:pt x="224766" y="127254"/>
                      <a:pt x="203859" y="132326"/>
                    </a:cubicBezTo>
                    <a:cubicBezTo>
                      <a:pt x="197488" y="133870"/>
                      <a:pt x="192238" y="138363"/>
                      <a:pt x="189729" y="144419"/>
                    </a:cubicBezTo>
                    <a:cubicBezTo>
                      <a:pt x="187220" y="150474"/>
                      <a:pt x="187754" y="157364"/>
                      <a:pt x="191167" y="162961"/>
                    </a:cubicBezTo>
                    <a:cubicBezTo>
                      <a:pt x="202359" y="181332"/>
                      <a:pt x="181332" y="202371"/>
                      <a:pt x="162949" y="191179"/>
                    </a:cubicBezTo>
                    <a:cubicBezTo>
                      <a:pt x="157355" y="187771"/>
                      <a:pt x="150470" y="187238"/>
                      <a:pt x="144418" y="189744"/>
                    </a:cubicBezTo>
                    <a:cubicBezTo>
                      <a:pt x="138366" y="192250"/>
                      <a:pt x="133874" y="197494"/>
                      <a:pt x="132326" y="203859"/>
                    </a:cubicBezTo>
                    <a:cubicBezTo>
                      <a:pt x="127254" y="224766"/>
                      <a:pt x="97512" y="224766"/>
                      <a:pt x="92440" y="203859"/>
                    </a:cubicBezTo>
                    <a:cubicBezTo>
                      <a:pt x="90897" y="197488"/>
                      <a:pt x="86403" y="192238"/>
                      <a:pt x="80348" y="189729"/>
                    </a:cubicBezTo>
                    <a:cubicBezTo>
                      <a:pt x="74292" y="187220"/>
                      <a:pt x="67402" y="187754"/>
                      <a:pt x="61805" y="191167"/>
                    </a:cubicBezTo>
                    <a:cubicBezTo>
                      <a:pt x="43434" y="202359"/>
                      <a:pt x="22396" y="181332"/>
                      <a:pt x="33588" y="162949"/>
                    </a:cubicBezTo>
                    <a:cubicBezTo>
                      <a:pt x="36995" y="157355"/>
                      <a:pt x="37528" y="150470"/>
                      <a:pt x="35022" y="144418"/>
                    </a:cubicBezTo>
                    <a:cubicBezTo>
                      <a:pt x="32516" y="138366"/>
                      <a:pt x="27272" y="133874"/>
                      <a:pt x="20907" y="132326"/>
                    </a:cubicBezTo>
                    <a:cubicBezTo>
                      <a:pt x="0" y="127254"/>
                      <a:pt x="0" y="97512"/>
                      <a:pt x="20907" y="92440"/>
                    </a:cubicBezTo>
                    <a:cubicBezTo>
                      <a:pt x="27278" y="90897"/>
                      <a:pt x="32528" y="86403"/>
                      <a:pt x="35037" y="80348"/>
                    </a:cubicBezTo>
                    <a:cubicBezTo>
                      <a:pt x="37546" y="74292"/>
                      <a:pt x="37012" y="67402"/>
                      <a:pt x="33599" y="61805"/>
                    </a:cubicBezTo>
                    <a:cubicBezTo>
                      <a:pt x="22408" y="43434"/>
                      <a:pt x="43434" y="22396"/>
                      <a:pt x="61817" y="33588"/>
                    </a:cubicBezTo>
                    <a:cubicBezTo>
                      <a:pt x="73724" y="40827"/>
                      <a:pt x="89154" y="34421"/>
                      <a:pt x="92440" y="20907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812756" y="4679156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cubicBezTo>
                      <a:pt x="0" y="55446"/>
                      <a:pt x="15992" y="71438"/>
                      <a:pt x="35719" y="71438"/>
                    </a:cubicBez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135368" y="4622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主要成本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98742" y="5112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模型调用、部署、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8742" y="5378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安全合规与用户支持。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3504" y="5981700"/>
            <a:ext cx="10978896" cy="448056"/>
            <a:chOff x="603504" y="5981700"/>
            <a:chExt cx="10978896" cy="448056"/>
          </a:xfrm>
        </p:grpSpPr>
        <p:sp>
          <p:nvSpPr>
            <p:cNvPr id="50" name="Line 50"/>
            <p:cNvSpPr/>
            <p:nvPr/>
          </p:nvSpPr>
          <p:spPr>
            <a:xfrm>
              <a:off x="609600" y="5981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3504" y="6195060"/>
              <a:ext cx="7459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收费方式仍是设想。先确认实际使用价值，目前没有可验证的价格、合同或收入数据。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758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验证 · 下一步实验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52070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能省多少时间，会不会出错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600" y="1638300"/>
            <a:ext cx="10972800" cy="857250"/>
            <a:chOff x="609600" y="1638300"/>
            <a:chExt cx="10972800" cy="857250"/>
          </a:xfrm>
        </p:grpSpPr>
        <p:sp>
          <p:nvSpPr>
            <p:cNvPr id="7" name="Rectangle 7"/>
            <p:cNvSpPr/>
            <p:nvPr/>
          </p:nvSpPr>
          <p:spPr>
            <a:xfrm>
              <a:off x="609600" y="1638300"/>
              <a:ext cx="10972800" cy="8572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8304" y="188976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对照实验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780" y="2162175"/>
              <a:ext cx="6997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用同一批经授权、脱敏的反馈，比较人工整理和 OneCase 辅助整理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0456" y="2952750"/>
            <a:ext cx="3361944" cy="2486406"/>
            <a:chOff x="600456" y="2952750"/>
            <a:chExt cx="3361944" cy="2486406"/>
          </a:xfrm>
        </p:grpSpPr>
        <p:sp>
          <p:nvSpPr>
            <p:cNvPr id="11" name="Line 11"/>
            <p:cNvSpPr/>
            <p:nvPr/>
          </p:nvSpPr>
          <p:spPr>
            <a:xfrm>
              <a:off x="609600" y="29527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647700" y="3238500"/>
              <a:ext cx="228599" cy="228599"/>
              <a:chOff x="647700" y="3238500"/>
              <a:chExt cx="228599" cy="22859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49300" y="33401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98500" y="32893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47700" y="32385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600456" y="38442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主要指标 · 速度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2742" y="43881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从原始反馈到确认事项的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2742" y="4673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中位耗时。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3504" y="5204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是否真的省时间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258056" y="2952750"/>
            <a:ext cx="3361944" cy="2486406"/>
            <a:chOff x="4258056" y="2952750"/>
            <a:chExt cx="3361944" cy="2486406"/>
          </a:xfrm>
        </p:grpSpPr>
        <p:sp>
          <p:nvSpPr>
            <p:cNvPr id="21" name="Line 21"/>
            <p:cNvSpPr/>
            <p:nvPr/>
          </p:nvSpPr>
          <p:spPr>
            <a:xfrm>
              <a:off x="4267200" y="29527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305300" y="3251200"/>
              <a:ext cx="228600" cy="212724"/>
              <a:chOff x="4305300" y="3251200"/>
              <a:chExt cx="228600" cy="21272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305300" y="335280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457700" y="33020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381500" y="3251200"/>
                <a:ext cx="762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199"/>
                      <a:pt x="635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318000" y="3454399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258056" y="38442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质量指标 · 准确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60342" y="4388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漏项、关键字段错误、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60342" y="46739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误关联、人工修改次数。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61104" y="52044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是否引入新的错误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15656" y="2952750"/>
            <a:ext cx="3361944" cy="2486406"/>
            <a:chOff x="7915656" y="2952750"/>
            <a:chExt cx="3361944" cy="2486406"/>
          </a:xfrm>
        </p:grpSpPr>
        <p:sp>
          <p:nvSpPr>
            <p:cNvPr id="32" name="Line 32"/>
            <p:cNvSpPr/>
            <p:nvPr/>
          </p:nvSpPr>
          <p:spPr>
            <a:xfrm>
              <a:off x="7924800" y="29527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988300" y="3238500"/>
              <a:ext cx="177800" cy="228599"/>
            </a:xfrm>
            <a:custGeom>
              <a:avLst/>
              <a:gdLst/>
              <a:ahLst/>
              <a:cxnLst/>
              <a:rect l="l" t="t" r="r" b="b"/>
              <a:pathLst>
                <a:path w="177800" h="228599">
                  <a:moveTo>
                    <a:pt x="101600" y="0"/>
                  </a:moveTo>
                  <a:lnTo>
                    <a:pt x="101600" y="88900"/>
                  </a:lnTo>
                  <a:lnTo>
                    <a:pt x="177800" y="88900"/>
                  </a:lnTo>
                  <a:lnTo>
                    <a:pt x="76200" y="228599"/>
                  </a:lnTo>
                  <a:lnTo>
                    <a:pt x="76200" y="139700"/>
                  </a:lnTo>
                  <a:lnTo>
                    <a:pt x="0" y="13970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1E4D4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15656" y="38442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运行指标 · 成本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17942" y="4388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模型失败率、转人工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17942" y="46739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次数、单次使用成本。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18704" y="5204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跑起来贵不贵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114800" y="2952750"/>
            <a:ext cx="3667125" cy="2571750"/>
            <a:chOff x="4114800" y="2952750"/>
            <a:chExt cx="3667125" cy="2571750"/>
          </a:xfrm>
        </p:grpSpPr>
        <p:sp>
          <p:nvSpPr>
            <p:cNvPr id="39" name="Line 39"/>
            <p:cNvSpPr/>
            <p:nvPr/>
          </p:nvSpPr>
          <p:spPr>
            <a:xfrm>
              <a:off x="4114800" y="29527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7772400" y="29527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0456" y="5810250"/>
            <a:ext cx="10981944" cy="595884"/>
            <a:chOff x="600456" y="5810250"/>
            <a:chExt cx="10981944" cy="595884"/>
          </a:xfrm>
        </p:grpSpPr>
        <p:sp>
          <p:nvSpPr>
            <p:cNvPr id="42" name="Line 42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0456" y="6054090"/>
              <a:ext cx="7187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和社区工作人员商定试用标准，再看是否值得继续做。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968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进度 · 功能范围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3325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已完成功能与待办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714500"/>
            <a:ext cx="3352800" cy="2518601"/>
            <a:chOff x="609600" y="1714500"/>
            <a:chExt cx="3352800" cy="2518601"/>
          </a:xfrm>
        </p:grpSpPr>
        <p:sp>
          <p:nvSpPr>
            <p:cNvPr id="7" name="Line 7"/>
            <p:cNvSpPr/>
            <p:nvPr/>
          </p:nvSpPr>
          <p:spPr>
            <a:xfrm>
              <a:off x="6096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2E7D5B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28650" y="1885950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76200"/>
                  </a:moveTo>
                  <a:lnTo>
                    <a:pt x="57150" y="133350"/>
                  </a:ln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rgbClr val="2E7D5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863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当前已实现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47700" y="26479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7542" y="2597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文字输入与长度校验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47700" y="31051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7542" y="3054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草稿检查与编辑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47700" y="35623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7542" y="3511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相似候选与人工确认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47700" y="40195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7542" y="39690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事项跟踪与统计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257675" y="1714500"/>
            <a:ext cx="3362325" cy="2518601"/>
            <a:chOff x="4257675" y="1714500"/>
            <a:chExt cx="3362325" cy="2518601"/>
          </a:xfrm>
        </p:grpSpPr>
        <p:sp>
          <p:nvSpPr>
            <p:cNvPr id="19" name="Line 19"/>
            <p:cNvSpPr/>
            <p:nvPr/>
          </p:nvSpPr>
          <p:spPr>
            <a:xfrm>
              <a:off x="42672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B5442E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257675" y="1876425"/>
              <a:ext cx="171450" cy="171450"/>
            </a:xfrm>
            <a:prstGeom prst="ellipse">
              <a:avLst/>
            </a:prstGeom>
            <a:noFill/>
            <a:ln w="23812">
              <a:solidFill>
                <a:srgbClr val="B5442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00956" y="1863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试点前补齐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305300" y="26479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5142" y="2597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身份认证与权限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4305300" y="31051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5142" y="3054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组织数据隔离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305300" y="35623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65142" y="3511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访问频率限制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4305300" y="40195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65142" y="3969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草稿列表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05750" y="1714500"/>
            <a:ext cx="3371850" cy="2061401"/>
            <a:chOff x="7905750" y="1714500"/>
            <a:chExt cx="3371850" cy="2061401"/>
          </a:xfrm>
        </p:grpSpPr>
        <p:sp>
          <p:nvSpPr>
            <p:cNvPr id="31" name="Line 31"/>
            <p:cNvSpPr/>
            <p:nvPr/>
          </p:nvSpPr>
          <p:spPr>
            <a:xfrm>
              <a:off x="79248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5E8C7B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905750" y="18764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lnTo>
                    <a:pt x="190500" y="95250"/>
                  </a:lnTo>
                  <a:lnTo>
                    <a:pt x="95250" y="190500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w="23812">
              <a:solidFill>
                <a:srgbClr val="5E8C7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58556" y="1863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后续评估</a:t>
              </a:r>
            </a:p>
          </p:txBody>
        </p:sp>
        <p:sp>
          <p:nvSpPr>
            <p:cNvPr id="34" name="Polygon 34"/>
            <p:cNvSpPr/>
            <p:nvPr/>
          </p:nvSpPr>
          <p:spPr>
            <a:xfrm>
              <a:off x="7943850" y="26479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114300" y="57150"/>
                  </a:lnTo>
                  <a:lnTo>
                    <a:pt x="57150" y="11430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22742" y="259746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图片 / 语音输入</a:t>
              </a:r>
            </a:p>
          </p:txBody>
        </p:sp>
        <p:sp>
          <p:nvSpPr>
            <p:cNvPr id="36" name="Polygon 36"/>
            <p:cNvSpPr/>
            <p:nvPr/>
          </p:nvSpPr>
          <p:spPr>
            <a:xfrm>
              <a:off x="7943850" y="3105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114300" y="57150"/>
                  </a:lnTo>
                  <a:lnTo>
                    <a:pt x="57150" y="11430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22742" y="3054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微信等渠道接入</a:t>
              </a:r>
            </a:p>
          </p:txBody>
        </p:sp>
        <p:sp>
          <p:nvSpPr>
            <p:cNvPr id="38" name="Polygon 38"/>
            <p:cNvSpPr/>
            <p:nvPr/>
          </p:nvSpPr>
          <p:spPr>
            <a:xfrm>
              <a:off x="7943850" y="35623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114300" y="57150"/>
                  </a:lnTo>
                  <a:lnTo>
                    <a:pt x="57150" y="11430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22742" y="3511868"/>
              <a:ext cx="2007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语义检索（Embedding）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114800" y="1714500"/>
            <a:ext cx="3667125" cy="2762250"/>
            <a:chOff x="4114800" y="1714500"/>
            <a:chExt cx="3667125" cy="2762250"/>
          </a:xfrm>
        </p:grpSpPr>
        <p:sp>
          <p:nvSpPr>
            <p:cNvPr id="41" name="Line 41"/>
            <p:cNvSpPr/>
            <p:nvPr/>
          </p:nvSpPr>
          <p:spPr>
            <a:xfrm>
              <a:off x="4114800" y="171450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7772400" y="171450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99694" y="4953000"/>
            <a:ext cx="10982706" cy="1032701"/>
            <a:chOff x="599694" y="4953000"/>
            <a:chExt cx="10982706" cy="1032701"/>
          </a:xfrm>
        </p:grpSpPr>
        <p:sp>
          <p:nvSpPr>
            <p:cNvPr id="44" name="Line 44"/>
            <p:cNvSpPr/>
            <p:nvPr/>
          </p:nvSpPr>
          <p:spPr>
            <a:xfrm>
              <a:off x="6096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9694" y="5218748"/>
              <a:ext cx="41803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先补安全措施，再做真实试点。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2742" y="5721668"/>
              <a:ext cx="9100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图片、语音入口暂不能使用。目前只用合成数据演示，真实试点前还需补齐安全措施。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603504" y="64808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351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开发 · 开源说明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6184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开发分工与开源组件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03504" y="1674019"/>
            <a:ext cx="6284976" cy="3117437"/>
            <a:chOff x="603504" y="1674019"/>
            <a:chExt cx="6284976" cy="3117437"/>
          </a:xfrm>
        </p:grpSpPr>
        <p:grpSp>
          <p:nvGrpSpPr>
            <p:cNvPr id="12" name="Group 12"/>
            <p:cNvGrpSpPr/>
            <p:nvPr/>
          </p:nvGrpSpPr>
          <p:grpSpPr>
            <a:xfrm>
              <a:off x="645319" y="1674019"/>
              <a:ext cx="214313" cy="211931"/>
              <a:chOff x="645319" y="1674019"/>
              <a:chExt cx="214313" cy="2119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92944" y="1876425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81038" y="1697831"/>
                <a:ext cx="142875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906">
                    <a:moveTo>
                      <a:pt x="0" y="11906"/>
                    </a:moveTo>
                    <a:lnTo>
                      <a:pt x="71438" y="0"/>
                    </a:lnTo>
                    <a:lnTo>
                      <a:pt x="142875" y="11906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52475" y="1674019"/>
                <a:ext cx="9525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2406">
                    <a:moveTo>
                      <a:pt x="0" y="0"/>
                    </a:moveTo>
                    <a:lnTo>
                      <a:pt x="0" y="202406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45319" y="1709738"/>
                <a:ext cx="714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7156">
                    <a:moveTo>
                      <a:pt x="71438" y="71438"/>
                    </a:moveTo>
                    <a:lnTo>
                      <a:pt x="35719" y="0"/>
                    </a:lnTo>
                    <a:lnTo>
                      <a:pt x="0" y="71438"/>
                    </a:lnTo>
                    <a:cubicBezTo>
                      <a:pt x="0" y="91164"/>
                      <a:pt x="15992" y="107156"/>
                      <a:pt x="35719" y="107156"/>
                    </a:cubicBezTo>
                    <a:cubicBezTo>
                      <a:pt x="55446" y="107156"/>
                      <a:pt x="71438" y="91164"/>
                      <a:pt x="71438" y="71438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88194" y="1709738"/>
                <a:ext cx="714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7156">
                    <a:moveTo>
                      <a:pt x="71438" y="71438"/>
                    </a:moveTo>
                    <a:lnTo>
                      <a:pt x="35719" y="0"/>
                    </a:lnTo>
                    <a:lnTo>
                      <a:pt x="0" y="71438"/>
                    </a:lnTo>
                    <a:cubicBezTo>
                      <a:pt x="0" y="91164"/>
                      <a:pt x="15992" y="107156"/>
                      <a:pt x="35719" y="107156"/>
                    </a:cubicBezTo>
                    <a:cubicBezTo>
                      <a:pt x="55446" y="107156"/>
                      <a:pt x="71438" y="91164"/>
                      <a:pt x="71438" y="71438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40130" y="1704975"/>
              <a:ext cx="1703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开源组件 License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2095500"/>
              <a:ext cx="5905500" cy="4572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1342" y="22355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组件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4142" y="223551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D40"/>
                  </a:solidFill>
                  <a:latin typeface="Arial"/>
                  <a:ea typeface="Arial"/>
                  <a:cs typeface="Arial"/>
                </a:rPr>
                <a:t>License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342" y="2749868"/>
              <a:ext cx="1908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Next.js/React/Zod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84142" y="2749868"/>
              <a:ext cx="320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MIT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0480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1342" y="3359468"/>
              <a:ext cx="609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Prisma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4142" y="3359468"/>
              <a:ext cx="1022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Apache-2.0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6576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1342" y="3969068"/>
              <a:ext cx="1133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Lucide React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84142" y="3969068"/>
              <a:ext cx="2825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ISC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42672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19050">
              <a:solidFill>
                <a:srgbClr val="1E4D4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3504" y="4556760"/>
              <a:ext cx="628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2026-08-31 核对 27 个直接依赖（含开发工具）：MIT、Apache-2.0、ISC。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041642" y="1674019"/>
            <a:ext cx="4540758" cy="1478756"/>
            <a:chOff x="7041642" y="1674019"/>
            <a:chExt cx="4540758" cy="1478756"/>
          </a:xfrm>
        </p:grpSpPr>
        <p:grpSp>
          <p:nvGrpSpPr>
            <p:cNvPr id="30" name="Group 30"/>
            <p:cNvGrpSpPr/>
            <p:nvPr/>
          </p:nvGrpSpPr>
          <p:grpSpPr>
            <a:xfrm>
              <a:off x="7068151" y="1674019"/>
              <a:ext cx="232508" cy="214312"/>
              <a:chOff x="7068151" y="1674019"/>
              <a:chExt cx="232508" cy="21431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068151" y="167401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27094" y="184070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479030" y="1704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开发工作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41642" y="22164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OneCase 由参赛者独立开发，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41642" y="25022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负责产品设计、业务规则、代码和测试。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048500" y="31432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040880" y="3457575"/>
            <a:ext cx="3649218" cy="1347026"/>
            <a:chOff x="7040880" y="3457575"/>
            <a:chExt cx="3649218" cy="1347026"/>
          </a:xfrm>
        </p:grpSpPr>
        <p:sp>
          <p:nvSpPr>
            <p:cNvPr id="36" name="TextBox 36"/>
            <p:cNvSpPr txBox="1"/>
            <p:nvPr/>
          </p:nvSpPr>
          <p:spPr>
            <a:xfrm>
              <a:off x="7040880" y="3457575"/>
              <a:ext cx="1617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AI 辅助开发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41642" y="3969068"/>
              <a:ext cx="3556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AI 编程工具用于辅助写代码和测试；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41642" y="42548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需求、方案和最终检查由开发者负责。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41642" y="45405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框架、模型和第三方代码注明来源。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98932" y="5143500"/>
            <a:ext cx="10983468" cy="755523"/>
            <a:chOff x="598932" y="5143500"/>
            <a:chExt cx="10983468" cy="755523"/>
          </a:xfrm>
        </p:grpSpPr>
        <p:sp>
          <p:nvSpPr>
            <p:cNvPr id="41" name="Line 41"/>
            <p:cNvSpPr/>
            <p:nvPr/>
          </p:nvSpPr>
          <p:spPr>
            <a:xfrm>
              <a:off x="609600" y="514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8932" y="5488305"/>
              <a:ext cx="90123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这里列出主要组件及开发分工，不把第三方代码算作自己的成果。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4" name="TextBox 44"/>
            <p:cNvSpPr txBox="1"/>
            <p:nvPr/>
          </p:nvSpPr>
          <p:spPr>
            <a:xfrm>
              <a:off x="603504" y="64808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351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D40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0550" y="1295400"/>
            <a:ext cx="10991850" cy="2748534"/>
            <a:chOff x="590550" y="1295400"/>
            <a:chExt cx="10991850" cy="2748534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1295400"/>
              <a:ext cx="19562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AFAF7"/>
                  </a:solidFill>
                  <a:latin typeface="Georgia"/>
                  <a:ea typeface="Georgia"/>
                  <a:cs typeface="Georgia"/>
                </a:rPr>
                <a:t>OneCase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943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E8C7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90550" y="2689860"/>
              <a:ext cx="92926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AFAF7"/>
                  </a:solidFill>
                  <a:latin typeface="Georgia"/>
                  <a:ea typeface="SimSun"/>
                  <a:cs typeface="Georgia"/>
                </a:rPr>
                <a:t>AI 先整理，</a:t>
              </a:r>
              <a:r>
                <a:rPr lang="zh-CN" sz="4200" b="1" dirty="0">
                  <a:solidFill>
                    <a:srgbClr val="D97B29"/>
                  </a:solidFill>
                  <a:latin typeface="Georgia"/>
                  <a:ea typeface="SimSun"/>
                  <a:cs typeface="Georgia"/>
                </a:rPr>
                <a:t>工作人员再确认。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36918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保留反馈来源，跟进处理进度。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980" y="4712018"/>
            <a:ext cx="3406140" cy="1070038"/>
            <a:chOff x="601980" y="4712018"/>
            <a:chExt cx="3406140" cy="1070038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47120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225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试用计划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5095875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了解流程 · 试用比较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504" y="55473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2ED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希望和社区工作人员一起试用。欢迎提问。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3504" y="6172200"/>
            <a:ext cx="10984992" cy="467106"/>
            <a:chOff x="603504" y="6172200"/>
            <a:chExt cx="10984992" cy="467106"/>
          </a:xfrm>
        </p:grpSpPr>
        <p:sp>
          <p:nvSpPr>
            <p:cNvPr id="12" name="Line 12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E8C7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3504" y="6404610"/>
              <a:ext cx="2179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个人参赛 · AI+民生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90022" y="6404610"/>
              <a:ext cx="1198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0F2ED">
                      <a:alphaMod val="75000"/>
                    </a:srgbClr>
                  </a:solidFill>
                  <a:latin typeface="Arial"/>
                  <a:ea typeface="Arial"/>
                  <a:cs typeface="Arial"/>
                </a:rPr>
                <a:t>Q &amp; A · 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个人参赛</dc:creator>
  <cp:keywords/>
  <dc:description/>
  <dc:language/>
  <cp:lastModifiedBy>个人参赛</cp:lastModifiedBy>
  <cp:revision>1</cp:revision>
  <dcterms:created xsi:type="dcterms:W3CDTF">2026-08-31T09:39:01Z</dcterms:created>
  <dcterms:modified xsi:type="dcterms:W3CDTF">2026-08-31T09:39:01Z</dcterms:modified>
  <cp:category/>
  <cp:contentStatus/>
</cp:coreProperties>
</file>