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大家好，本项目由个人团队「不理不器」参赛，赛道 AI+民生。OneCase 面向社区工作人员：把居民的文字反馈整理成事项草稿，经人确认后创建新事项或关联已有事项，再跟踪处理进度。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这是一个合成示例。灯坏了和垃圾未清运需要分别跟进；如果另一位居民昨天也反馈过同一盏灯，不应因消息不同就重复建档。OneCase 关注信息成为正式事项之前的整理环节。问题在真实社区中的频率和成本，还需通过访谈和流程观察验证。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我本次独立参赛。在 OneCase 中我实际负责产品定义、业务规则设计与全栈实现，其中人工确认门禁与状态机设计最能体现我的贡献。对暂时缺少的社区业务经验，希望通过场景共建补齐，不把尚未建立的合作写成已有能力。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我把原始反馈、AI 草稿和正式事项分开保存。AI 给出结构化建议，但分析成功不会自动生成正式事项。工作人员检查草稿、查看相似候选，再决定新建、关联或拒绝。后续处理围绕正式事项展开，来源信息保留。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OneCase 的重点是这两个关系：先把混在一起的问题拆开，再帮助工作人员判断是否已有对应事项。当前候选通过标题词汇、地点、类别和时间排序；地点不同会提示，但系统不保证零误判，也不会自动合并，最终仍需人核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重点让评委看清三件事：一条反馈拆成两个草稿；两个草稿作出不同决策（关联 vs 新建）；确认后数据如何联动。演示前说明本次使用真实 Provider 还是 Mock——Mock 用于验证交互与业务流程，不能说成证明模型识别准确率。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业务是否可信，取决于建议如何进入记录。新建事项时人工修改的字段会生效并留痕；关联已有事项是新增来源，不会改写既有事项的事实；重复确认和非法状态流转会被拒绝。这些保护有代码实现与自动化测试，但不等同于生产环境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模型只负责从文字提出结构化建议，业务层负责校验与人工确认。已实现 Mock、Qwen、OpenAI 三种 Provider 适配，真实模型效果需专项实测；当前重复候选未使用 Embedding，是词汇、地点、类别与时间的排序。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当前可展示的是项目实现与合成场景演示。仓库有覆盖业务规则、AI 契约、人工确认和浏览器流程的测试，2026 年 8 月 31 日全部实测通过。暂无客户与合作数据，如实说明，不用测试通过代替真实客户验证。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商业化是待验证方案。先找一个愿意共同梳理流程的场景方，确认谁使用、谁有预算、谁采购。只有真实流程证明价值，再讨论部署配置与持续运维收费。目前没有经过验证的价格、合同或收入，不给出没有依据的预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首轮验证同时看速度与质量：用可比较的样本记录两种流程的耗时，核对事项是否完整、是否误关联。验收阈值与场景方共同确定，不先写漂亮的提效比例。试点前还需补齐访问控制、数据授权与脱敏条件。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页面里有图片和语音入口样式，但当前没有打通，不把它们算作已实现能力。当前版本适合受控合成数据演示。下一步优先补安全与可用性，再按真实入口需求评估多模态与渠道集成。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项目使用开源基础组件，主要 License 在左侧列出。本人贡献与 AI 辅助范围如实说明：产品判断、业务设计与实现验收由本人完成，开发中使用 AI 编程工具辅助。完整依赖清单提交前继续核对。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谢谢。OneCase 下一步需要可以共同验证流程的场景方，欢迎就业务价值、人工确认机制和落地边界提问。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E88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AI+民生赛道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94360" y="1600200"/>
            <a:ext cx="914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OneCase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594360" y="28803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2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把居民反馈，整理成可追踪的社区事项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4160520"/>
            <a:ext cx="1481328" cy="475488"/>
          </a:xfrm>
          <a:prstGeom prst="roundRect">
            <a:avLst>
              <a:gd name="adj" fmla="val 15385"/>
            </a:avLst>
          </a:prstGeom>
          <a:solidFill>
            <a:srgbClr val="1B443C"/>
          </a:solidFill>
          <a:ln w="9525">
            <a:solidFill>
              <a:srgbClr val="6FA9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416052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居民反馈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76856" y="4398264"/>
            <a:ext cx="347472" cy="0"/>
          </a:xfrm>
          <a:prstGeom prst="line">
            <a:avLst/>
          </a:prstGeom>
          <a:noFill/>
          <a:ln w="15875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34056" y="4160520"/>
            <a:ext cx="1481328" cy="475488"/>
          </a:xfrm>
          <a:prstGeom prst="roundRect">
            <a:avLst>
              <a:gd name="adj" fmla="val 15385"/>
            </a:avLst>
          </a:prstGeom>
          <a:solidFill>
            <a:srgbClr val="1B443C"/>
          </a:solidFill>
          <a:ln w="9525">
            <a:solidFill>
              <a:srgbClr val="6FA9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34056" y="416052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草稿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25112" y="4398264"/>
            <a:ext cx="347472" cy="0"/>
          </a:xfrm>
          <a:prstGeom prst="line">
            <a:avLst/>
          </a:prstGeom>
          <a:noFill/>
          <a:ln w="15875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782312" y="4160520"/>
            <a:ext cx="1481328" cy="475488"/>
          </a:xfrm>
          <a:prstGeom prst="roundRect">
            <a:avLst>
              <a:gd name="adj" fmla="val 15385"/>
            </a:avLst>
          </a:prstGeom>
          <a:solidFill>
            <a:srgbClr val="1B443C"/>
          </a:solidFill>
          <a:ln w="9525">
            <a:solidFill>
              <a:srgbClr val="6FA9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2312" y="416052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人工确认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73368" y="4398264"/>
            <a:ext cx="347472" cy="0"/>
          </a:xfrm>
          <a:prstGeom prst="line">
            <a:avLst/>
          </a:prstGeom>
          <a:noFill/>
          <a:ln w="15875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830568" y="4160520"/>
            <a:ext cx="1481328" cy="475488"/>
          </a:xfrm>
          <a:prstGeom prst="roundRect">
            <a:avLst>
              <a:gd name="adj" fmla="val 15385"/>
            </a:avLst>
          </a:prstGeom>
          <a:solidFill>
            <a:srgbClr val="1B443C"/>
          </a:solidFill>
          <a:ln w="9525">
            <a:solidFill>
              <a:srgbClr val="6FA9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30568" y="416052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正式事项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421624" y="4398264"/>
            <a:ext cx="347472" cy="0"/>
          </a:xfrm>
          <a:prstGeom prst="line">
            <a:avLst/>
          </a:prstGeom>
          <a:noFill/>
          <a:ln w="15875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878824" y="4160520"/>
            <a:ext cx="1481328" cy="475488"/>
          </a:xfrm>
          <a:prstGeom prst="roundRect">
            <a:avLst>
              <a:gd name="adj" fmla="val 15385"/>
            </a:avLst>
          </a:prstGeom>
          <a:solidFill>
            <a:srgbClr val="1B443C"/>
          </a:solidFill>
          <a:ln w="9525">
            <a:solidFill>
              <a:srgbClr val="6FA99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78824" y="416052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持续跟踪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DB8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不理不器 · 个人参赛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一条反馈，不一定只是一件事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1000232" cy="1572768"/>
          </a:xfrm>
          <a:prstGeom prst="roundRect">
            <a:avLst>
              <a:gd name="adj" fmla="val 4070"/>
            </a:avLst>
          </a:prstGeom>
          <a:solidFill>
            <a:srgbClr val="EAF4F1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234440"/>
            <a:ext cx="1017727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“三栋二单元的灯又坏了……另外楼下垃圾今天也没人清。”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2395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一条居民留言（合成示例）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364992"/>
            <a:ext cx="100584" cy="100584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2461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一条消息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926080" y="324612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可能包含多个需要分别处理的问题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100584" cy="100584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9959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不同居民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926080" y="399592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可能重复反映同一个问题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4864608"/>
            <a:ext cx="100584" cy="100584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7457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工作人员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926080" y="47457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需要拆分、查重，再整理为台账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921240" y="3246120"/>
            <a:ext cx="1691640" cy="2011680"/>
          </a:xfrm>
          <a:prstGeom prst="roundRect">
            <a:avLst>
              <a:gd name="adj" fmla="val 3784"/>
            </a:avLst>
          </a:prstGeom>
          <a:solidFill>
            <a:srgbClr val="F4FAF8"/>
          </a:solidFill>
          <a:ln/>
        </p:spPr>
      </p:sp>
      <p:sp>
        <p:nvSpPr>
          <p:cNvPr id="17" name="Text 15"/>
          <p:cNvSpPr/>
          <p:nvPr/>
        </p:nvSpPr>
        <p:spPr>
          <a:xfrm>
            <a:off x="9921240" y="34290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直接用户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921240" y="379476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社区工作人员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网格员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单人参赛，围绕一个完整场景交付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3749040" cy="4206240"/>
          </a:xfrm>
          <a:prstGeom prst="roundRect">
            <a:avLst>
              <a:gd name="adj" fmla="val 1707"/>
            </a:avLst>
          </a:prstGeom>
          <a:solidFill>
            <a:srgbClr val="EAF4F1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8288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不理不器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2606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个人参赛 · 1 人团队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4709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独立开发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00600" y="14630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A9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669280" y="14813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产品定义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69280" y="1901952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社区事项整理的流程设计与业务规则（状态机、确认门禁、查重策略）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800600" y="28346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A9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0" y="28529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全栈实现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669280" y="3273552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工作台、AI Provider 适配（Mock / Qwen / OpenAI）、数据层与 API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800600" y="42062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A9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669280" y="42245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质量与文档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669280" y="4645152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单元测试、业务不变量测试、端到端流程测试与产品文档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草稿经过确认，才成为正式事项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94360" y="1042416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处理流程示意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50392" y="2148840"/>
            <a:ext cx="1847088" cy="960120"/>
          </a:xfrm>
          <a:prstGeom prst="roundRect">
            <a:avLst>
              <a:gd name="adj" fmla="val 5714"/>
            </a:avLst>
          </a:prstGeom>
          <a:solidFill>
            <a:srgbClr val="EAF4F1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" y="2148840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居民文字反馈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70632" y="2624328"/>
            <a:ext cx="237744" cy="0"/>
          </a:xfrm>
          <a:prstGeom prst="line">
            <a:avLst/>
          </a:prstGeom>
          <a:noFill/>
          <a:ln w="2540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081528" y="2148840"/>
            <a:ext cx="1847088" cy="960120"/>
          </a:xfrm>
          <a:prstGeom prst="roundRect">
            <a:avLst>
              <a:gd name="adj" fmla="val 5714"/>
            </a:avLst>
          </a:prstGeom>
          <a:solidFill>
            <a:srgbClr val="EAF4F1"/>
          </a:solidFill>
          <a:ln/>
        </p:spPr>
      </p:sp>
      <p:sp>
        <p:nvSpPr>
          <p:cNvPr id="9" name="Text 7"/>
          <p:cNvSpPr/>
          <p:nvPr/>
        </p:nvSpPr>
        <p:spPr>
          <a:xfrm>
            <a:off x="3081528" y="2148840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事项草稿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01768" y="2624328"/>
            <a:ext cx="237744" cy="0"/>
          </a:xfrm>
          <a:prstGeom prst="line">
            <a:avLst/>
          </a:prstGeom>
          <a:noFill/>
          <a:ln w="2540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312664" y="2148840"/>
            <a:ext cx="1847088" cy="960120"/>
          </a:xfrm>
          <a:prstGeom prst="roundRect">
            <a:avLst>
              <a:gd name="adj" fmla="val 5714"/>
            </a:avLst>
          </a:prstGeom>
          <a:solidFill>
            <a:srgbClr val="0E6E5C"/>
          </a:solidFill>
          <a:ln/>
        </p:spPr>
      </p:sp>
      <p:sp>
        <p:nvSpPr>
          <p:cNvPr id="12" name="Text 10"/>
          <p:cNvSpPr/>
          <p:nvPr/>
        </p:nvSpPr>
        <p:spPr>
          <a:xfrm>
            <a:off x="5312664" y="2148840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人工检查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232904" y="2624328"/>
            <a:ext cx="237744" cy="0"/>
          </a:xfrm>
          <a:prstGeom prst="line">
            <a:avLst/>
          </a:prstGeom>
          <a:noFill/>
          <a:ln w="2540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543800" y="2148840"/>
            <a:ext cx="1847088" cy="960120"/>
          </a:xfrm>
          <a:prstGeom prst="roundRect">
            <a:avLst>
              <a:gd name="adj" fmla="val 5714"/>
            </a:avLst>
          </a:prstGeom>
          <a:solidFill>
            <a:srgbClr val="0E6E5C"/>
          </a:solidFill>
          <a:ln/>
        </p:spPr>
      </p:sp>
      <p:sp>
        <p:nvSpPr>
          <p:cNvPr id="15" name="Text 13"/>
          <p:cNvSpPr/>
          <p:nvPr/>
        </p:nvSpPr>
        <p:spPr>
          <a:xfrm>
            <a:off x="7543800" y="2148840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新建或关联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464040" y="2624328"/>
            <a:ext cx="237744" cy="0"/>
          </a:xfrm>
          <a:prstGeom prst="line">
            <a:avLst/>
          </a:prstGeom>
          <a:noFill/>
          <a:ln w="2540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774936" y="2148840"/>
            <a:ext cx="1847088" cy="960120"/>
          </a:xfrm>
          <a:prstGeom prst="roundRect">
            <a:avLst>
              <a:gd name="adj" fmla="val 5714"/>
            </a:avLst>
          </a:prstGeom>
          <a:solidFill>
            <a:srgbClr val="EAF4F1"/>
          </a:solidFill>
          <a:ln/>
        </p:spPr>
      </p:sp>
      <p:sp>
        <p:nvSpPr>
          <p:cNvPr id="18" name="Text 16"/>
          <p:cNvSpPr/>
          <p:nvPr/>
        </p:nvSpPr>
        <p:spPr>
          <a:xfrm>
            <a:off x="9774936" y="2148840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持续跟踪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715768" y="322783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建议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62088" y="322783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8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人做决定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4206240"/>
            <a:ext cx="11000232" cy="1234440"/>
          </a:xfrm>
          <a:prstGeom prst="roundRect">
            <a:avLst>
              <a:gd name="adj" fmla="val 5185"/>
            </a:avLst>
          </a:prstGeom>
          <a:solidFill>
            <a:srgbClr val="EAF4F1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4206240"/>
            <a:ext cx="102687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负责提出建议；</a:t>
            </a:r>
            <a:pPr indent="0" marL="0">
              <a:buNone/>
            </a:pPr>
            <a:r>
              <a:rPr lang="en-US" sz="2100" b="1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工作人员决定哪些内容进入正式记录。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594360" y="571500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原始反馈、AI 草稿与正式事项分开保存；分析成功不会自动生成正式事项。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分别处理问题，集中保留来源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拆开：一条反馈 → 多个事项草稿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148840" y="205740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EAF4F1"/>
          </a:solidFill>
          <a:ln/>
        </p:spPr>
      </p:sp>
      <p:sp>
        <p:nvSpPr>
          <p:cNvPr id="6" name="Text 4"/>
          <p:cNvSpPr/>
          <p:nvPr/>
        </p:nvSpPr>
        <p:spPr>
          <a:xfrm>
            <a:off x="2148840" y="2057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居民反馈 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70332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0E6E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703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草稿 1｜照明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66160" y="370332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0E6E5C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3703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草稿 2｜清运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0" y="2697480"/>
            <a:ext cx="-1005840" cy="1005840"/>
          </a:xfrm>
          <a:prstGeom prst="line">
            <a:avLst/>
          </a:prstGeom>
          <a:noFill/>
          <a:ln w="1905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40480" y="2697480"/>
            <a:ext cx="1005840" cy="1005840"/>
          </a:xfrm>
          <a:prstGeom prst="line">
            <a:avLst/>
          </a:prstGeom>
          <a:noFill/>
          <a:ln w="1905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355080" y="1371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关联：多条反馈 → 同一事项（人工确认）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92240" y="205740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EAF4F1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2057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 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326880" y="205740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EAF4F1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0" y="2057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 B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909560" y="370332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0E6E5C"/>
          </a:solidFill>
          <a:ln/>
        </p:spPr>
      </p:sp>
      <p:sp>
        <p:nvSpPr>
          <p:cNvPr id="19" name="Text 17"/>
          <p:cNvSpPr/>
          <p:nvPr/>
        </p:nvSpPr>
        <p:spPr>
          <a:xfrm>
            <a:off x="7909560" y="3703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同一事项 + 来源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 flipH="1">
            <a:off x="7818120" y="2697480"/>
            <a:ext cx="1005840" cy="1005840"/>
          </a:xfrm>
          <a:prstGeom prst="line">
            <a:avLst/>
          </a:prstGeom>
          <a:noFill/>
          <a:ln w="1905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98280" y="2697480"/>
            <a:ext cx="-1005840" cy="1005840"/>
          </a:xfrm>
          <a:prstGeom prst="line">
            <a:avLst/>
          </a:prstGeom>
          <a:noFill/>
          <a:ln w="1905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94360" y="4892040"/>
            <a:ext cx="11000232" cy="1051560"/>
          </a:xfrm>
          <a:prstGeom prst="roundRect">
            <a:avLst>
              <a:gd name="adj" fmla="val 6087"/>
            </a:avLst>
          </a:prstGeom>
          <a:solidFill>
            <a:srgbClr val="F4FAF8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4892040"/>
            <a:ext cx="10268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相似候选展示匹配依据（标题词汇、地点、类别、时间）；地点不同会给出提示——但最终由人核对，系统不自动合并。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 Demo：一条反馈，两种去向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2606040" cy="2834640"/>
          </a:xfrm>
          <a:prstGeom prst="roundRect">
            <a:avLst>
              <a:gd name="adj" fmla="val 2456"/>
            </a:avLst>
          </a:prstGeom>
          <a:solidFill>
            <a:srgbClr val="F4FAF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FA9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粘贴一段反馈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同时包含照明与清运两个问题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27832" y="2880360"/>
            <a:ext cx="182880" cy="0"/>
          </a:xfrm>
          <a:prstGeom prst="line">
            <a:avLst/>
          </a:prstGeom>
          <a:noFill/>
          <a:ln w="1905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47288" y="1463040"/>
            <a:ext cx="2606040" cy="2834640"/>
          </a:xfrm>
          <a:prstGeom prst="roundRect">
            <a:avLst>
              <a:gd name="adj" fmla="val 2456"/>
            </a:avLst>
          </a:prstGeom>
          <a:solidFill>
            <a:srgbClr val="F4FAF8"/>
          </a:solidFill>
          <a:ln/>
        </p:spPr>
      </p:sp>
      <p:sp>
        <p:nvSpPr>
          <p:cNvPr id="10" name="Text 8"/>
          <p:cNvSpPr/>
          <p:nvPr/>
        </p:nvSpPr>
        <p:spPr>
          <a:xfrm>
            <a:off x="3721608" y="16916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FA9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721608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检查草稿与候选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721608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两个草稿，各带相似事项候选与依据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080760" y="2880360"/>
            <a:ext cx="182880" cy="0"/>
          </a:xfrm>
          <a:prstGeom prst="line">
            <a:avLst/>
          </a:prstGeom>
          <a:noFill/>
          <a:ln w="1905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00216" y="1463040"/>
            <a:ext cx="2606040" cy="2834640"/>
          </a:xfrm>
          <a:prstGeom prst="roundRect">
            <a:avLst>
              <a:gd name="adj" fmla="val 2456"/>
            </a:avLst>
          </a:prstGeom>
          <a:solidFill>
            <a:srgbClr val="EAF4F1"/>
          </a:solidFill>
          <a:ln/>
        </p:spPr>
      </p:sp>
      <p:sp>
        <p:nvSpPr>
          <p:cNvPr id="15" name="Text 13"/>
          <p:cNvSpPr/>
          <p:nvPr/>
        </p:nvSpPr>
        <p:spPr>
          <a:xfrm>
            <a:off x="6574536" y="16916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8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574536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分别作出决策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74536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照明问题关联已有事项；清运问题新建事项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933688" y="2880360"/>
            <a:ext cx="182880" cy="0"/>
          </a:xfrm>
          <a:prstGeom prst="line">
            <a:avLst/>
          </a:prstGeom>
          <a:noFill/>
          <a:ln w="1905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53144" y="1463040"/>
            <a:ext cx="2606040" cy="2834640"/>
          </a:xfrm>
          <a:prstGeom prst="roundRect">
            <a:avLst>
              <a:gd name="adj" fmla="val 2456"/>
            </a:avLst>
          </a:prstGeom>
          <a:solidFill>
            <a:srgbClr val="F4FAF8"/>
          </a:solidFill>
          <a:ln/>
        </p:spPr>
      </p:sp>
      <p:sp>
        <p:nvSpPr>
          <p:cNvPr id="20" name="Text 18"/>
          <p:cNvSpPr/>
          <p:nvPr/>
        </p:nvSpPr>
        <p:spPr>
          <a:xfrm>
            <a:off x="9427464" y="16916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FA9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9427464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查看结果联动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427464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来源、处理记录与首页统计变化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94360" y="4709160"/>
            <a:ext cx="11000232" cy="1188720"/>
          </a:xfrm>
          <a:prstGeom prst="roundRect">
            <a:avLst>
              <a:gd name="adj" fmla="val 5385"/>
            </a:avLst>
          </a:prstGeom>
          <a:solidFill>
            <a:srgbClr val="EAF4F1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4709160"/>
            <a:ext cx="10268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演示说明：</a:t>
            </a:r>
            <a:pPr indent="0" marL="0">
              <a:buNone/>
            </a:pPr>
            <a:r>
              <a:rPr lang="en-US" sz="16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演示数据为合成样例；现场标注实际运行的模型模式（真实 Provider 或 Mock 流程验证）。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确认、修改和失败，都有处理路径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5349240" cy="2011680"/>
          </a:xfrm>
          <a:prstGeom prst="roundRect">
            <a:avLst>
              <a:gd name="adj" fmla="val 3182"/>
            </a:avLst>
          </a:prstGeom>
          <a:solidFill>
            <a:srgbClr val="F4FAF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47088"/>
            <a:ext cx="118872" cy="118872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6" name="Text 4"/>
          <p:cNvSpPr/>
          <p:nvPr/>
        </p:nvSpPr>
        <p:spPr>
          <a:xfrm>
            <a:off x="1161288" y="16642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草稿可修改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61288" y="224028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新建事项采用人工确认后的标题、地点与优先级，并留下修改记录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349240" cy="2011680"/>
          </a:xfrm>
          <a:prstGeom prst="roundRect">
            <a:avLst>
              <a:gd name="adj" fmla="val 3182"/>
            </a:avLst>
          </a:prstGeom>
          <a:solidFill>
            <a:srgbClr val="F4FAF8"/>
          </a:solidFill>
          <a:ln/>
        </p:spPr>
      </p:sp>
      <p:sp>
        <p:nvSpPr>
          <p:cNvPr id="9" name="Shape 7"/>
          <p:cNvSpPr/>
          <p:nvPr/>
        </p:nvSpPr>
        <p:spPr>
          <a:xfrm>
            <a:off x="6537960" y="1847088"/>
            <a:ext cx="118872" cy="118872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10" name="Text 8"/>
          <p:cNvSpPr/>
          <p:nvPr/>
        </p:nvSpPr>
        <p:spPr>
          <a:xfrm>
            <a:off x="6784848" y="16642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批量确认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784848" y="224028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新建、关联与处理记录写入同一事务，部分决策不完整则整体拒绝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3749040"/>
            <a:ext cx="5349240" cy="2011680"/>
          </a:xfrm>
          <a:prstGeom prst="roundRect">
            <a:avLst>
              <a:gd name="adj" fmla="val 3182"/>
            </a:avLst>
          </a:prstGeom>
          <a:solidFill>
            <a:srgbClr val="F4FAF8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4133088"/>
            <a:ext cx="118872" cy="118872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14" name="Text 12"/>
          <p:cNvSpPr/>
          <p:nvPr/>
        </p:nvSpPr>
        <p:spPr>
          <a:xfrm>
            <a:off x="1161288" y="39502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防重复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61288" y="452628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已确认的反馈拒绝重复确认（409），状态门禁拦住非法流转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17920" y="3749040"/>
            <a:ext cx="5349240" cy="2011680"/>
          </a:xfrm>
          <a:prstGeom prst="roundRect">
            <a:avLst>
              <a:gd name="adj" fmla="val 3182"/>
            </a:avLst>
          </a:prstGeom>
          <a:solidFill>
            <a:srgbClr val="F4FA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537960" y="4133088"/>
            <a:ext cx="118872" cy="118872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18" name="Text 16"/>
          <p:cNvSpPr/>
          <p:nvPr/>
        </p:nvSpPr>
        <p:spPr>
          <a:xfrm>
            <a:off x="6784848" y="39502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失败兜底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784848" y="452628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分析失败可重试；符合条件的反馈可转人工手动创建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模型提取，与业务规则分开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0E6E5C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4173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工作台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566160" y="1417320"/>
            <a:ext cx="8028432" cy="868680"/>
          </a:xfrm>
          <a:prstGeom prst="roundRect">
            <a:avLst>
              <a:gd name="adj" fmla="val 7368"/>
            </a:avLst>
          </a:prstGeom>
          <a:solidFill>
            <a:srgbClr val="EAF4F1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0" y="1417320"/>
            <a:ext cx="7479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输入、草稿检查、事项跟踪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94360" y="2450592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2E8574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45059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适配层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566160" y="2450592"/>
            <a:ext cx="8028432" cy="868680"/>
          </a:xfrm>
          <a:prstGeom prst="roundRect">
            <a:avLst>
              <a:gd name="adj" fmla="val 7368"/>
            </a:avLst>
          </a:prstGeom>
          <a:solidFill>
            <a:srgbClr val="F4FAF8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2450592"/>
            <a:ext cx="7479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Mock / Qwen / OpenAI 三种 Provider，结构化提取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94360" y="3483864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3E9284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483864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业务控制层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566160" y="3483864"/>
            <a:ext cx="8028432" cy="868680"/>
          </a:xfrm>
          <a:prstGeom prst="roundRect">
            <a:avLst>
              <a:gd name="adj" fmla="val 7368"/>
            </a:avLst>
          </a:prstGeom>
          <a:solidFill>
            <a:srgbClr val="EAF4F1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0" y="3483864"/>
            <a:ext cx="7479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 校验、候选排序、人工确认门禁、状态机规则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94360" y="4517136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6FA99C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51713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数据记录层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3566160" y="4517136"/>
            <a:ext cx="8028432" cy="868680"/>
          </a:xfrm>
          <a:prstGeom prst="roundRect">
            <a:avLst>
              <a:gd name="adj" fmla="val 7368"/>
            </a:avLst>
          </a:prstGeom>
          <a:solidFill>
            <a:srgbClr val="F4FAF8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0" y="4517136"/>
            <a:ext cx="7479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原始反馈、分析草稿、事项、来源、处理记录全程留痕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94360" y="580644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技术基础  </a:t>
            </a:r>
            <a:pPr indent="0" marL="0">
              <a:buNone/>
            </a:pPr>
            <a:r>
              <a:rPr lang="en-US" sz="15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Next.js · React · TypeScript · Zod · Prisma · SQLite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案例与背书：可核验的工程成果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3429000" cy="2651760"/>
          </a:xfrm>
          <a:prstGeom prst="roundRect">
            <a:avLst>
              <a:gd name="adj" fmla="val 2414"/>
            </a:avLst>
          </a:prstGeom>
          <a:solidFill>
            <a:srgbClr val="F4FAF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116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项单元测试 全部通过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321868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 AI 契约、业务规则、查重服务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429000" cy="2651760"/>
          </a:xfrm>
          <a:prstGeom prst="roundRect">
            <a:avLst>
              <a:gd name="adj" fmla="val 2414"/>
            </a:avLst>
          </a:prstGeom>
          <a:solidFill>
            <a:srgbClr val="F4FAF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6916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87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617720" y="27889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项业务不变量 全部通过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7720" y="321868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真实数据库上的集成断言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429000" cy="2651760"/>
          </a:xfrm>
          <a:prstGeom prst="roundRect">
            <a:avLst>
              <a:gd name="adj" fmla="val 2414"/>
            </a:avLst>
          </a:prstGeom>
          <a:solidFill>
            <a:srgbClr val="F4FAF8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16916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8366760" y="27889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项端到端流程 全部通过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66760" y="321868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浏览器全链路（含 AI 降级路径）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535424"/>
            <a:ext cx="100584" cy="100584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434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项目成果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06040" y="443484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从文字整理到事项跟踪的 MVP 完整实现，含 AI 降级与人工兜底路径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5102352"/>
            <a:ext cx="100584" cy="100584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0017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工程证据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606040" y="500176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源码仓库、演示脚本与全部自动化测试用例，可现场复核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40080" y="5669280"/>
            <a:ext cx="100584" cy="100584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56869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如实说明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606040" y="5568696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个人参赛项目，暂无客户与合作数据——以工程证据呈现，不以演示代替客户验证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94360" y="62636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数据来源：仓库自动化测试套件，2026-08-31 本机实测通过（另含 6 个子包类型检查全过）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商业路径：从一个受控场景开始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280160" y="1554480"/>
            <a:ext cx="3017520" cy="868680"/>
          </a:xfrm>
          <a:prstGeom prst="roundRect">
            <a:avLst>
              <a:gd name="adj" fmla="val 6316"/>
            </a:avLst>
          </a:prstGeom>
          <a:solidFill>
            <a:srgbClr val="EAF4F1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15544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场景共建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389120" y="1984248"/>
            <a:ext cx="411480" cy="0"/>
          </a:xfrm>
          <a:prstGeom prst="line">
            <a:avLst/>
          </a:prstGeom>
          <a:noFill/>
          <a:ln w="2540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892040" y="1554480"/>
            <a:ext cx="3017520" cy="868680"/>
          </a:xfrm>
          <a:prstGeom prst="roundRect">
            <a:avLst>
              <a:gd name="adj" fmla="val 6316"/>
            </a:avLst>
          </a:prstGeom>
          <a:solidFill>
            <a:srgbClr val="EAF4F1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15544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流程验证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001000" y="1984248"/>
            <a:ext cx="411480" cy="0"/>
          </a:xfrm>
          <a:prstGeom prst="line">
            <a:avLst/>
          </a:prstGeom>
          <a:noFill/>
          <a:ln w="2540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503920" y="1554480"/>
            <a:ext cx="3017520" cy="868680"/>
          </a:xfrm>
          <a:prstGeom prst="roundRect">
            <a:avLst>
              <a:gd name="adj" fmla="val 6316"/>
            </a:avLst>
          </a:prstGeom>
          <a:solidFill>
            <a:srgbClr val="0E6E5C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15544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服务采购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2880360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0E6E5C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8803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使用者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17520" y="2907792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社区工作人员与网格员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4360" y="3593592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2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5935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潜在付费方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017520" y="3621024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社区服务运营主体——预算与采购路径需验证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4360" y="4306824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0E6E5C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430682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候选收入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017520" y="4334256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部署与配置服务费 + 持续运维服务费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4360" y="5020056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2E8574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502005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主要成本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017520" y="5047488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模型调用、部署、安全合规与用户支持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4360" y="589788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商业化目前为待验证方案：先在真实流程中证明价值，再谈服务收费；当前无已验证价格、合同或收入。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下一步验证：是否省时，是否增加误判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11000232" cy="1051560"/>
          </a:xfrm>
          <a:prstGeom prst="roundRect">
            <a:avLst>
              <a:gd name="adj" fmla="val 6087"/>
            </a:avLst>
          </a:prstGeom>
          <a:solidFill>
            <a:srgbClr val="EAF4F1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371600"/>
            <a:ext cx="10268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同一批经授权、脱敏的反馈：人工整理 vs OneCase 辅助整理，对照测量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2743200"/>
            <a:ext cx="3429000" cy="2148840"/>
          </a:xfrm>
          <a:prstGeom prst="roundRect">
            <a:avLst>
              <a:gd name="adj" fmla="val 2979"/>
            </a:avLst>
          </a:prstGeom>
          <a:solidFill>
            <a:srgbClr val="F4FAF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0175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主要指标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从原始反馈到确认事项的中位耗时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43400" y="2743200"/>
            <a:ext cx="3429000" cy="2148840"/>
          </a:xfrm>
          <a:prstGeom prst="roundRect">
            <a:avLst>
              <a:gd name="adj" fmla="val 2979"/>
            </a:avLst>
          </a:prstGeom>
          <a:solidFill>
            <a:srgbClr val="F4FAF8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30175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质量指标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17720" y="35204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漏项、关键字段错误、误关联、人工修改次数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92440" y="2743200"/>
            <a:ext cx="3429000" cy="2148840"/>
          </a:xfrm>
          <a:prstGeom prst="roundRect">
            <a:avLst>
              <a:gd name="adj" fmla="val 2979"/>
            </a:avLst>
          </a:prstGeom>
          <a:solidFill>
            <a:srgbClr val="F4FAF8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30175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运行指标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66760" y="35204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模型失败率、人工兜底频次、单次使用成本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94360" y="530352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验收阈值与场景方共同确定；是否继续投入，由实测数据决定。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当前只展示已实现的文字链路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3429000" cy="566928"/>
          </a:xfrm>
          <a:prstGeom prst="roundRect">
            <a:avLst>
              <a:gd name="adj" fmla="val 9677"/>
            </a:avLst>
          </a:prstGeom>
          <a:solidFill>
            <a:srgbClr val="0E6E5C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46304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当前已实现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94360" y="2148840"/>
            <a:ext cx="3429000" cy="3246120"/>
          </a:xfrm>
          <a:prstGeom prst="roundRect">
            <a:avLst>
              <a:gd name="adj" fmla="val 1972"/>
            </a:avLst>
          </a:prstGeom>
          <a:solidFill>
            <a:srgbClr val="EAF4F1"/>
          </a:solidFill>
          <a:ln/>
        </p:spPr>
      </p:sp>
      <p:sp>
        <p:nvSpPr>
          <p:cNvPr id="7" name="Shape 5"/>
          <p:cNvSpPr/>
          <p:nvPr/>
        </p:nvSpPr>
        <p:spPr>
          <a:xfrm>
            <a:off x="886968" y="2560320"/>
            <a:ext cx="91440" cy="91440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8" name="Text 6"/>
          <p:cNvSpPr/>
          <p:nvPr/>
        </p:nvSpPr>
        <p:spPr>
          <a:xfrm>
            <a:off x="1124712" y="2468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文字输入与长度校验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86968" y="3273552"/>
            <a:ext cx="91440" cy="91440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10" name="Text 8"/>
          <p:cNvSpPr/>
          <p:nvPr/>
        </p:nvSpPr>
        <p:spPr>
          <a:xfrm>
            <a:off x="1124712" y="31821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草稿检查与编辑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86968" y="3986784"/>
            <a:ext cx="91440" cy="91440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12" name="Text 10"/>
          <p:cNvSpPr/>
          <p:nvPr/>
        </p:nvSpPr>
        <p:spPr>
          <a:xfrm>
            <a:off x="1124712" y="389534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相似候选与人工确认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86968" y="4700016"/>
            <a:ext cx="91440" cy="91440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14" name="Text 12"/>
          <p:cNvSpPr/>
          <p:nvPr/>
        </p:nvSpPr>
        <p:spPr>
          <a:xfrm>
            <a:off x="1124712" y="460857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事项跟踪与统计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343400" y="1463040"/>
            <a:ext cx="3429000" cy="566928"/>
          </a:xfrm>
          <a:prstGeom prst="roundRect">
            <a:avLst>
              <a:gd name="adj" fmla="val 9677"/>
            </a:avLst>
          </a:prstGeom>
          <a:solidFill>
            <a:srgbClr val="2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4343400" y="146304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试点前补齐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343400" y="2148840"/>
            <a:ext cx="3429000" cy="3246120"/>
          </a:xfrm>
          <a:prstGeom prst="roundRect">
            <a:avLst>
              <a:gd name="adj" fmla="val 1972"/>
            </a:avLst>
          </a:prstGeom>
          <a:solidFill>
            <a:srgbClr val="F4FAF8"/>
          </a:solidFill>
          <a:ln/>
        </p:spPr>
      </p:sp>
      <p:sp>
        <p:nvSpPr>
          <p:cNvPr id="18" name="Shape 16"/>
          <p:cNvSpPr/>
          <p:nvPr/>
        </p:nvSpPr>
        <p:spPr>
          <a:xfrm>
            <a:off x="4636008" y="2560320"/>
            <a:ext cx="91440" cy="91440"/>
          </a:xfrm>
          <a:prstGeom prst="ellipse">
            <a:avLst/>
          </a:prstGeom>
          <a:solidFill>
            <a:srgbClr val="6FA99C"/>
          </a:solidFill>
          <a:ln/>
        </p:spPr>
      </p:sp>
      <p:sp>
        <p:nvSpPr>
          <p:cNvPr id="19" name="Text 17"/>
          <p:cNvSpPr/>
          <p:nvPr/>
        </p:nvSpPr>
        <p:spPr>
          <a:xfrm>
            <a:off x="4873752" y="2468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身份认证与权限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636008" y="3273552"/>
            <a:ext cx="91440" cy="91440"/>
          </a:xfrm>
          <a:prstGeom prst="ellipse">
            <a:avLst/>
          </a:prstGeom>
          <a:solidFill>
            <a:srgbClr val="6FA99C"/>
          </a:solidFill>
          <a:ln/>
        </p:spPr>
      </p:sp>
      <p:sp>
        <p:nvSpPr>
          <p:cNvPr id="21" name="Text 19"/>
          <p:cNvSpPr/>
          <p:nvPr/>
        </p:nvSpPr>
        <p:spPr>
          <a:xfrm>
            <a:off x="4873752" y="31821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组织数据隔离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636008" y="3986784"/>
            <a:ext cx="91440" cy="91440"/>
          </a:xfrm>
          <a:prstGeom prst="ellipse">
            <a:avLst/>
          </a:prstGeom>
          <a:solidFill>
            <a:srgbClr val="6FA99C"/>
          </a:solidFill>
          <a:ln/>
        </p:spPr>
      </p:sp>
      <p:sp>
        <p:nvSpPr>
          <p:cNvPr id="23" name="Text 21"/>
          <p:cNvSpPr/>
          <p:nvPr/>
        </p:nvSpPr>
        <p:spPr>
          <a:xfrm>
            <a:off x="4873752" y="389534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输入与访问限制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636008" y="4700016"/>
            <a:ext cx="91440" cy="91440"/>
          </a:xfrm>
          <a:prstGeom prst="ellipse">
            <a:avLst/>
          </a:prstGeom>
          <a:solidFill>
            <a:srgbClr val="6FA99C"/>
          </a:solidFill>
          <a:ln/>
        </p:spPr>
      </p:sp>
      <p:sp>
        <p:nvSpPr>
          <p:cNvPr id="25" name="Text 23"/>
          <p:cNvSpPr/>
          <p:nvPr/>
        </p:nvSpPr>
        <p:spPr>
          <a:xfrm>
            <a:off x="4873752" y="460857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草稿找回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092440" y="1463040"/>
            <a:ext cx="3429000" cy="566928"/>
          </a:xfrm>
          <a:prstGeom prst="roundRect">
            <a:avLst>
              <a:gd name="adj" fmla="val 9677"/>
            </a:avLst>
          </a:prstGeom>
          <a:solidFill>
            <a:srgbClr val="6FA99C"/>
          </a:solidFill>
          <a:ln/>
        </p:spPr>
      </p:sp>
      <p:sp>
        <p:nvSpPr>
          <p:cNvPr id="27" name="Text 25"/>
          <p:cNvSpPr/>
          <p:nvPr/>
        </p:nvSpPr>
        <p:spPr>
          <a:xfrm>
            <a:off x="8092440" y="146304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后续评估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8092440" y="2148840"/>
            <a:ext cx="3429000" cy="3246120"/>
          </a:xfrm>
          <a:prstGeom prst="roundRect">
            <a:avLst>
              <a:gd name="adj" fmla="val 1972"/>
            </a:avLst>
          </a:prstGeom>
          <a:solidFill>
            <a:srgbClr val="F4FAF8"/>
          </a:solidFill>
          <a:ln/>
        </p:spPr>
      </p:sp>
      <p:sp>
        <p:nvSpPr>
          <p:cNvPr id="29" name="Shape 27"/>
          <p:cNvSpPr/>
          <p:nvPr/>
        </p:nvSpPr>
        <p:spPr>
          <a:xfrm>
            <a:off x="8385048" y="2560320"/>
            <a:ext cx="91440" cy="91440"/>
          </a:xfrm>
          <a:prstGeom prst="ellipse">
            <a:avLst/>
          </a:prstGeom>
          <a:solidFill>
            <a:srgbClr val="6FA99C"/>
          </a:solidFill>
          <a:ln/>
        </p:spPr>
      </p:sp>
      <p:sp>
        <p:nvSpPr>
          <p:cNvPr id="30" name="Text 28"/>
          <p:cNvSpPr/>
          <p:nvPr/>
        </p:nvSpPr>
        <p:spPr>
          <a:xfrm>
            <a:off x="8622792" y="2468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 / 语音输入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385048" y="3273552"/>
            <a:ext cx="91440" cy="91440"/>
          </a:xfrm>
          <a:prstGeom prst="ellipse">
            <a:avLst/>
          </a:prstGeom>
          <a:solidFill>
            <a:srgbClr val="6FA99C"/>
          </a:solidFill>
          <a:ln/>
        </p:spPr>
      </p:sp>
      <p:sp>
        <p:nvSpPr>
          <p:cNvPr id="32" name="Text 30"/>
          <p:cNvSpPr/>
          <p:nvPr/>
        </p:nvSpPr>
        <p:spPr>
          <a:xfrm>
            <a:off x="8622792" y="31821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微信等渠道接入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385048" y="3986784"/>
            <a:ext cx="91440" cy="91440"/>
          </a:xfrm>
          <a:prstGeom prst="ellipse">
            <a:avLst/>
          </a:prstGeom>
          <a:solidFill>
            <a:srgbClr val="6FA99C"/>
          </a:solidFill>
          <a:ln/>
        </p:spPr>
      </p:sp>
      <p:sp>
        <p:nvSpPr>
          <p:cNvPr id="34" name="Text 32"/>
          <p:cNvSpPr/>
          <p:nvPr/>
        </p:nvSpPr>
        <p:spPr>
          <a:xfrm>
            <a:off x="8622792" y="389534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语义检索（Embedding）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94360" y="571500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页面中的图片、语音入口样式尚未打通，不计入已实现能力；当前版本面向受控演示，不声称满足真实部署条件。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项目贡献与 AI 辅助说明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主要开源组件 License</a:t>
            </a:r>
            <a:endParaRPr lang="en-US" sz="1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74520"/>
          <a:ext cx="50292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920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License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E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Next.js / React / Zod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E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MIT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E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Prisma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E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Apache-2.0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E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Lucide React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E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ISC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" y="4069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License 依据本机安装包元数据核对；完整依赖清单提交前复核。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126480" y="1371600"/>
            <a:ext cx="5486400" cy="2103120"/>
          </a:xfrm>
          <a:prstGeom prst="roundRect">
            <a:avLst>
              <a:gd name="adj" fmla="val 3043"/>
            </a:avLst>
          </a:prstGeom>
          <a:solidFill>
            <a:srgbClr val="EAF4F1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项目贡献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00800" y="20574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OneCase 由不理不器个人团队独立开发，负责产品定义、业务规则、功能实现与验证。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26480" y="3657600"/>
            <a:ext cx="5486400" cy="2103120"/>
          </a:xfrm>
          <a:prstGeom prst="roundRect">
            <a:avLst>
              <a:gd name="adj" fmla="val 3043"/>
            </a:avLst>
          </a:prstGeom>
          <a:solidFill>
            <a:srgbClr val="F4FAF8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0" y="3886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辅助使用说明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400800" y="434340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AI 编程工具辅助编码与测试；产品判断、方案取舍与最终验收由参赛者负责。框架、模型及第三方代码按来源说明。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3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5544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OneCase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94360" y="2606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整理建议，人确认事实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3246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让每条反馈有去向，每个事项可追踪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41148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DB8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期待共建：真实场景 · 脱敏样本 · 流程评估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8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不理不器 · AI+民生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不理不器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OneCase — 社区事项 AI 工作台</dc:title>
  <dc:subject>PptxGenJS Presentation</dc:subject>
  <dc:creator>不理不器</dc:creator>
  <cp:lastModifiedBy>不理不器</cp:lastModifiedBy>
  <cp:revision>1</cp:revision>
  <dcterms:created xsi:type="dcterms:W3CDTF">2026-08-31T07:07:57Z</dcterms:created>
  <dcterms:modified xsi:type="dcterms:W3CDTF">2026-08-31T07:07:57Z</dcterms:modified>
</cp:coreProperties>
</file>