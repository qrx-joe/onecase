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各位评委好，本项目由个人团队不理不器参赛，赛道是 AI 加民生。开始之前，先念一条居民的留言：三栋二单元的灯又坏了，另外楼下垃圾今天也没人清。今天的项目就从这条留言讲起——OneCase 要做的，就是把这样的居民反馈，整理成可追踪的社区事项。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注意，刚才那条留言里其实藏着两件事：灯坏了是一件，垃圾没人清是另一件，要分别跟进。而另一位居民，可能昨天就报过同一盏灯——不应只因消息不同，就重复建档。于是在反馈和正式台账之间，就出现了拆分、查重、誊录这段整理环节，这是社区工作人员和网格员每天的重复劳动。如实说明，这个问题的真实频率和成本我们还没有实测，它目前是一个待验证的假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我一个人参赛，围绕这一个完整场景，独立做了三件事：产品定义，包括状态机、确认门禁和查重策略这些业务规则；全栈实现，从 Web 工作台到三种模型适配，再到数据层；以及质量和文档，单元测试、不变量测试和端到端测试。我的想法很简单：把一个场景做完整，胜过把十个场景做一半。暂缺的社区业务经验，希望后续通过场景共建来补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那这个问题怎么解？OneCase 的第一原则是：AI 提出建议，人决定事实。系统把原始反馈、AI 草稿和正式事项分开保存，分析成功不会自动生成正式事项——每一条正式记录，都必须经过人工确认。您看下面这条链路：居民反馈进来，AI 生成草稿，人检查之后决定新建还是关联，然后持续跟踪。AI 负责提建议，人对事实负责。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来说，整理就是两种关系。左边是拆开：一条反馈拆成照明、清运两个草稿，分别处理。右边是汇拢：不同居民的反馈，经人工确认后关联到同一个事项，并且保留各自的来源。系统会按标题词汇、地点、类别和时间给出相似候选，并展示匹配依据；地点不同会给出提示。但请注意——系统不自动合并，最终由人核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用两分钟做现场演示。第一步，粘贴一段同时包含照明和清运问题的反馈原文。第二步，检查拆出的两个草稿，以及各自带的相似事项候选和依据。第三步是关键：照明问题关联到已有事项，清运问题新建事项——一条反馈，两种去向。第四步，打开事项详情，看来源、处理记录和首页统计的联动。先说明两点：演示数据是合成样例；实际运行的模型模式我会在现场如实标注，是真实模型，还是用于流程验证的 Mock。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要进入正式记录，每条路径都有保护。草稿可以修改，新建事项采用人工确认后的字段，并留下修改记录；批量确认时，新建、关联和记录写入同一个事务，决策不完整就整体拒绝；已确认的反馈拒绝重复确认，状态门禁拦住非法流转；AI 失败可以重试，符合条件的反馈还能转人工手动创建。这些保护都有代码和测试兜底。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技术上，模型提取和业务规则是分开的。最上面是 Web 工作台；往下是 AI 适配层，实现了 Mock、通义千问和 OpenAI 三种提供方；再往下是业务控制层，Schema 校验、候选排序、人工确认门禁和状态机都在这一层——这是系统的核心；底层是数据记录，原始反馈、草稿、事项、来源和处理记录全程留痕。技术栈是 Next.js、React、TypeScript、Zod、Prisma 和 SQLite。如实说明：真实模型效果还需专项实测，重复候选目前没有用向量检索。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能核验的，才是可信的。八月三十一日本机实测：一百一十六项单元测试、八十七项业务不变量、二十二项端到端流程，全部通过，另外六个子包的类型检查也全部通过。这些数字不是宣传，是仓库里的测试套件，欢迎现场复核。同样如实说明：这是个人参赛项目，目前没有客户与合作数据，我不拿演示代替客户验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商业上，我们从一个受控场景开始：先场景共建，再流程验证，最后才是服务采购。使用者是社区工作人员和网格员；潜在付费方是社区服务运营主体，预算和采购路径还需要验证；候选收入是部署配置费加持续运维费；主要成本在模型调用、部署、安全合规和用户支持。如实说：商业化目前是待验证方案，当前没有已验证的价格、合同或收入——先在真实流程里证明价值，再谈收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下一步，用对照实验回答两个问题：是否省时，是否增加误判。做法是拿同一批经过授权和脱敏的反馈，人工整理和 OneCase 辅助整理各跑一遍，逐条对照。看三类指标：速度上，从原始反馈到确认事项的中位耗时；质量上，漏项、字段错误、误关联和人工修改次数；运行上，模型失败率、兜底频次和单次成本。验收阈值和场景方共同确定，是否继续投入，由实测数据决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如实划界。当前已实现的，是文字输入校验、草稿检查编辑、相似候选与人工确认、事项跟踪统计这一条完整链路。试点之前要补齐的，是身份认证权限、组织数据隔离、访问限制和草稿找回。图片语音输入、微信渠道、语义检索，属于后续评估——页面里的入口样式尚未打通，不计入已实现能力。如实划界，比夸大更能建立信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项目贡献与 AI 辅助说明。组件上，Next.js、React、Zod 是 MIT，Prisma 是 Apache 二点零，Lucide 是 ISC；八月三十一日全量扫描了二十七个直接依赖，没有 GPL 等传染性协议。贡献上，OneCase 由不理不器个人团队独立开发，负责产品定义、业务规则、功能实现与验证。开发中使用了 AI 编程工具辅助编码与测试，但产品判断、方案取舍与最终验收由参赛者负责，框架、模型及第三方代码按来源说明。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回到那句话：AI 整理建议，人确认事实。让每条反馈有去向，每个事项可追踪。OneCase 下一步需要的，是可以共同验证流程的场景方——真实场景、脱敏样本、流程评估。谢谢各位，欢迎提问。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3504" y="289560"/>
            <a:ext cx="10984992" cy="348615"/>
            <a:chOff x="603504" y="289560"/>
            <a:chExt cx="10984992" cy="34861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289560"/>
              <a:ext cx="3183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5C6B64"/>
                  </a:solidFill>
                  <a:latin typeface="Georgia"/>
                  <a:ea typeface="SimSun"/>
                  <a:cs typeface="Georgia"/>
                </a:rPr>
                <a:t>江岸计划 · AI 黑客松创新大赛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29548" y="289560"/>
              <a:ext cx="255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spc="225" dirty="0">
                  <a:solidFill>
                    <a:srgbClr val="5C6B64"/>
                  </a:solidFill>
                  <a:latin typeface="Georgia"/>
                  <a:ea typeface="Georgia"/>
                  <a:cs typeface="Georgia"/>
                </a:rPr>
                <a:t>PRELIMINARY · 2026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552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628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3504" y="1203960"/>
            <a:ext cx="3633765" cy="234696"/>
            <a:chOff x="603504" y="1203960"/>
            <a:chExt cx="3633765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203960"/>
              <a:ext cx="363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75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AI+民生赛道 · 参赛团队 不理不器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912620"/>
            <a:ext cx="5872734" cy="1440942"/>
            <a:chOff x="552450" y="1912620"/>
            <a:chExt cx="5872734" cy="1440942"/>
          </a:xfrm>
        </p:grpSpPr>
        <p:sp>
          <p:nvSpPr>
            <p:cNvPr id="10" name="TextBox 10"/>
            <p:cNvSpPr txBox="1"/>
            <p:nvPr/>
          </p:nvSpPr>
          <p:spPr>
            <a:xfrm>
              <a:off x="552450" y="1912620"/>
              <a:ext cx="350440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288417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把居民反馈，整理成可追踪的社区事项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3886200"/>
            <a:ext cx="7842809" cy="990600"/>
            <a:chOff x="609600" y="3886200"/>
            <a:chExt cx="7842809" cy="990600"/>
          </a:xfrm>
        </p:grpSpPr>
        <p:sp>
          <p:nvSpPr>
            <p:cNvPr id="13" name="Line 13"/>
            <p:cNvSpPr/>
            <p:nvPr/>
          </p:nvSpPr>
          <p:spPr>
            <a:xfrm>
              <a:off x="609600" y="38862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38100">
              <a:solidFill>
                <a:srgbClr val="D97B2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3732" y="4002405"/>
              <a:ext cx="7548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“三栋二单元的灯又坏了……另外楼下垃圾今天也没人清。”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540568"/>
              <a:ext cx="643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—— 一条居民留言（合成示例）。OneCase 要把它整理成两件可分别追踪的事。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7" name="Line 17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6404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不理不器 · 个人参赛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54717" y="64046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2026.09 · 南京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问题 · 整理环节的重复劳动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6775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一条居民留言，藏着两件事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7408" y="1760220"/>
            <a:ext cx="7213092" cy="897255"/>
            <a:chOff x="597408" y="1760220"/>
            <a:chExt cx="7213092" cy="897255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760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9606" y="1767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一条消息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140268"/>
              <a:ext cx="566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灯坏了、垃圾没人清——可能包含多个需要分别处理、分别跟进的问题。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26479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7408" y="3093720"/>
            <a:ext cx="7213092" cy="897255"/>
            <a:chOff x="597408" y="3093720"/>
            <a:chExt cx="7213092" cy="897255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0937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101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不同居民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3473768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可能重复反映同一个问题——不应只因消息不同，就重复建档。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9814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97408" y="4427220"/>
            <a:ext cx="6126747" cy="644081"/>
            <a:chOff x="597408" y="4427220"/>
            <a:chExt cx="6126747" cy="644081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427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434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工作人员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480726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需要拆分、查重，再誊入台账——在聊天记录与台账之间来回搬运。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0" y="1714500"/>
            <a:ext cx="3200400" cy="1905000"/>
            <a:chOff x="8382000" y="1714500"/>
            <a:chExt cx="3200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382000" y="1714500"/>
              <a:ext cx="3200400" cy="1905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29662" y="2024062"/>
              <a:ext cx="257175" cy="257176"/>
              <a:chOff x="8729662" y="2024062"/>
              <a:chExt cx="257175" cy="2571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758238" y="20240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29662" y="21955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15400" y="20259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43975" y="21976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679942" y="25974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直接用户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7656" y="28917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社区工作人员 · 网格员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07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居民是信息来源，暂不需要操作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0" y="4000500"/>
            <a:ext cx="2779776" cy="1333500"/>
            <a:chOff x="8382000" y="4000500"/>
            <a:chExt cx="2779776" cy="1333500"/>
          </a:xfrm>
        </p:grpSpPr>
        <p:sp>
          <p:nvSpPr>
            <p:cNvPr id="31" name="Line 31"/>
            <p:cNvSpPr/>
            <p:nvPr/>
          </p:nvSpPr>
          <p:spPr>
            <a:xfrm>
              <a:off x="8382000" y="4000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3742" y="41595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如实说明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3742" y="4502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问题在真实社区中的频率与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3742" y="4769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成本尚未实测，属待验证假设。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团队 · 单人参赛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一个人，一个完整交付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048000" cy="4191000"/>
            <a:chOff x="609600" y="1714500"/>
            <a:chExt cx="3048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048000" cy="4191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175" y="2109787"/>
              <a:ext cx="209550" cy="314325"/>
              <a:chOff x="1019175" y="2109787"/>
              <a:chExt cx="209550" cy="314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54100" y="210978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9175" y="231933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98398" y="2669858"/>
              <a:ext cx="1443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1 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245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不理不器 · 独立开发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" y="37147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542" y="3930968"/>
              <a:ext cx="2039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AI+民生赛道 · 个人参赛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350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围绕社区事项整理这一个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616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完整场景，独立完成从产品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42" y="4883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定义到测试的全流程。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64558" y="1905000"/>
            <a:ext cx="2018157" cy="2175701"/>
            <a:chOff x="4464558" y="1905000"/>
            <a:chExt cx="2018157" cy="2175701"/>
          </a:xfrm>
        </p:grpSpPr>
        <p:sp>
          <p:nvSpPr>
            <p:cNvPr id="19" name="Line 19"/>
            <p:cNvSpPr/>
            <p:nvPr/>
          </p:nvSpPr>
          <p:spPr>
            <a:xfrm>
              <a:off x="44767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645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760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产品定义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9892" y="3283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社区事项整理的流程设计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98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与业务规则：状态机、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989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确认门禁、查重策略。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26808" y="1905000"/>
            <a:ext cx="2902190" cy="2175701"/>
            <a:chOff x="7226808" y="1905000"/>
            <a:chExt cx="2902190" cy="2175701"/>
          </a:xfrm>
        </p:grpSpPr>
        <p:sp>
          <p:nvSpPr>
            <p:cNvPr id="26" name="Line 26"/>
            <p:cNvSpPr/>
            <p:nvPr/>
          </p:nvSpPr>
          <p:spPr>
            <a:xfrm>
              <a:off x="7239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680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985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全栈实现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2142" y="3283268"/>
              <a:ext cx="2130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Web 工作台、AI Provider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142" y="3549968"/>
              <a:ext cx="289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适配（Mock / Qwen / OpenAI）、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142" y="381666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数据层与 API。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89058" y="1905000"/>
            <a:ext cx="1836420" cy="2175701"/>
            <a:chOff x="9989058" y="1905000"/>
            <a:chExt cx="1836420" cy="2175701"/>
          </a:xfrm>
        </p:grpSpPr>
        <p:sp>
          <p:nvSpPr>
            <p:cNvPr id="33" name="Line 33"/>
            <p:cNvSpPr/>
            <p:nvPr/>
          </p:nvSpPr>
          <p:spPr>
            <a:xfrm>
              <a:off x="100012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90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2106" y="2815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质量与文档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94392" y="3283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单元测试、业务不变量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43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测试、端到端流程测试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4392" y="3816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与产品文档。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66082" y="1714500"/>
            <a:ext cx="7668654" cy="3699701"/>
            <a:chOff x="4466082" y="1714500"/>
            <a:chExt cx="7668654" cy="3699701"/>
          </a:xfrm>
        </p:grpSpPr>
        <p:sp>
          <p:nvSpPr>
            <p:cNvPr id="40" name="Line 40"/>
            <p:cNvSpPr/>
            <p:nvPr/>
          </p:nvSpPr>
          <p:spPr>
            <a:xfrm>
              <a:off x="678180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54405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4476750" y="4476750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6082" y="4650105"/>
              <a:ext cx="5995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把一个场景做完整，胜过把十个场景做一半。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9892" y="5150168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暂缺的社区业务经验与交付资源，希望通过场景共建补齐——不把尚未建立的合作写成已有能力。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3504" y="594360"/>
            <a:ext cx="1758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300" dirty="0">
                <a:solidFill>
                  <a:srgbClr val="D97B29"/>
                </a:solidFill>
                <a:latin typeface="Arial"/>
                <a:ea typeface="Microsoft YaHei"/>
                <a:cs typeface="Arial"/>
              </a:rPr>
              <a:t>原则 · 第一性设计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0550" y="2021205"/>
            <a:ext cx="7321906" cy="2954846"/>
            <a:chOff x="590550" y="2021205"/>
            <a:chExt cx="7321906" cy="2954846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021205"/>
              <a:ext cx="572633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AI 提出建议，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973705"/>
              <a:ext cx="460827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人决定事实。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40005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4282440"/>
              <a:ext cx="7312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分析成功，不会自动生成正式事项——每一条正式记录，都经人确认。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4712018"/>
              <a:ext cx="5227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原始反馈、AI 草稿与正式事项分开保存；来源信息全程保留。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2742" y="5509260"/>
            <a:ext cx="10979658" cy="819341"/>
            <a:chOff x="602742" y="5509260"/>
            <a:chExt cx="10979658" cy="819341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5509260"/>
              <a:ext cx="781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225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6064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居民文字反馈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000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07742" y="606456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事项草稿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905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12742" y="606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人工检查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6197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27242" y="60645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新建或关联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866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94142" y="606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持续跟踪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机制 · 拆分与关联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拆开问题，汇拢来源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42938" y="1682750"/>
            <a:ext cx="4852987" cy="2927350"/>
            <a:chOff x="642938" y="1682750"/>
            <a:chExt cx="4852987" cy="2927350"/>
          </a:xfrm>
        </p:grpSpPr>
        <p:grpSp>
          <p:nvGrpSpPr>
            <p:cNvPr id="11" name="Group 11"/>
            <p:cNvGrpSpPr/>
            <p:nvPr/>
          </p:nvGrpSpPr>
          <p:grpSpPr>
            <a:xfrm>
              <a:off x="642938" y="1682750"/>
              <a:ext cx="200026" cy="177800"/>
              <a:chOff x="642938" y="1682750"/>
              <a:chExt cx="200026" cy="177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2938" y="1771650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55563"/>
                    </a:moveTo>
                    <a:lnTo>
                      <a:pt x="140051" y="55563"/>
                    </a:lnTo>
                    <a:cubicBezTo>
                      <a:pt x="121920" y="55561"/>
                      <a:pt x="104931" y="46714"/>
                      <a:pt x="94534" y="31860"/>
                    </a:cubicBezTo>
                    <a:lnTo>
                      <a:pt x="88822" y="23703"/>
                    </a:lnTo>
                    <a:cubicBezTo>
                      <a:pt x="78426" y="8849"/>
                      <a:pt x="61436" y="1"/>
                      <a:pt x="4330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2938" y="1716087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1"/>
                    </a:moveTo>
                    <a:lnTo>
                      <a:pt x="140073" y="1"/>
                    </a:lnTo>
                    <a:cubicBezTo>
                      <a:pt x="121931" y="0"/>
                      <a:pt x="104930" y="8857"/>
                      <a:pt x="94534" y="23726"/>
                    </a:cubicBezTo>
                    <a:lnTo>
                      <a:pt x="88867" y="31838"/>
                    </a:lnTo>
                    <a:cubicBezTo>
                      <a:pt x="78473" y="46704"/>
                      <a:pt x="61478" y="55561"/>
                      <a:pt x="43339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9626" y="168275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9626" y="17938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83742" y="1702118"/>
              <a:ext cx="2742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拆开 · 一条反馈 → 多个事项草稿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003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84907" y="231457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居民反馈 A</a:t>
              </a:r>
            </a:p>
          </p:txBody>
        </p:sp>
        <p:sp>
          <p:nvSpPr>
            <p:cNvPr id="15" name="Line 15"/>
            <p:cNvSpPr/>
            <p:nvPr/>
          </p:nvSpPr>
          <p:spPr>
            <a:xfrm flipH="1">
              <a:off x="19050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2392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673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1 · 照明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3898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2 · 清运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50049" y="1677321"/>
            <a:ext cx="4375151" cy="2932779"/>
            <a:chOff x="6750049" y="1677321"/>
            <a:chExt cx="4375151" cy="2932779"/>
          </a:xfrm>
        </p:grpSpPr>
        <p:grpSp>
          <p:nvGrpSpPr>
            <p:cNvPr id="25" name="Group 25"/>
            <p:cNvGrpSpPr/>
            <p:nvPr/>
          </p:nvGrpSpPr>
          <p:grpSpPr>
            <a:xfrm>
              <a:off x="6750049" y="1677321"/>
              <a:ext cx="183215" cy="188636"/>
              <a:chOff x="6750049" y="1677321"/>
              <a:chExt cx="183215" cy="1886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05613" y="17383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27838" y="167732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50049" y="176053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079742" y="1702118"/>
              <a:ext cx="2360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汇拢 · 多条反馈 → 同一事项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18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7976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0595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0391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B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90575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H="1">
              <a:off x="914400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36737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29575" y="4038600"/>
              <a:ext cx="190500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5507" y="42548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同一事项 + 来源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638300"/>
            <a:ext cx="9525" cy="3124200"/>
            <a:chOff x="6096000" y="1638300"/>
            <a:chExt cx="9525" cy="3124200"/>
          </a:xfrm>
        </p:grpSpPr>
        <p:sp>
          <p:nvSpPr>
            <p:cNvPr id="37" name="Line 37"/>
            <p:cNvSpPr/>
            <p:nvPr/>
          </p:nvSpPr>
          <p:spPr>
            <a:xfrm>
              <a:off x="6096000" y="16383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603504" y="5200650"/>
            <a:ext cx="10978896" cy="1051751"/>
            <a:chOff x="603504" y="5200650"/>
            <a:chExt cx="10978896" cy="1051751"/>
          </a:xfrm>
        </p:grpSpPr>
        <p:sp>
          <p:nvSpPr>
            <p:cNvPr id="39" name="Line 39"/>
            <p:cNvSpPr/>
            <p:nvPr/>
          </p:nvSpPr>
          <p:spPr>
            <a:xfrm>
              <a:off x="609600" y="5200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3504" y="54330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候选依据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734050"/>
              <a:ext cx="9144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7616" y="5823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标题词汇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6383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754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地点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3622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993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0861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2232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84142" y="57216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候选展示匹配依据；地点不同会给出提示——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4142" y="5988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系统不自动合并，最终由人核对。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演示 · 现场环节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两分钟，一条反馈的两种去向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143250" y="2114550"/>
            <a:ext cx="5867400" cy="1"/>
            <a:chOff x="3143250" y="2114550"/>
            <a:chExt cx="5867400" cy="1"/>
          </a:xfrm>
        </p:grpSpPr>
        <p:sp>
          <p:nvSpPr>
            <p:cNvPr id="7" name="Line 7"/>
            <p:cNvSpPr/>
            <p:nvPr/>
          </p:nvSpPr>
          <p:spPr>
            <a:xfrm>
              <a:off x="314325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5934075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872490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1312" y="1878330"/>
            <a:ext cx="1842516" cy="1935671"/>
            <a:chOff x="591312" y="1878330"/>
            <a:chExt cx="1842516" cy="1935671"/>
          </a:xfrm>
        </p:grpSpPr>
        <p:sp>
          <p:nvSpPr>
            <p:cNvPr id="11" name="TextBox 11"/>
            <p:cNvSpPr txBox="1"/>
            <p:nvPr/>
          </p:nvSpPr>
          <p:spPr>
            <a:xfrm>
              <a:off x="59131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粘贴一段反馈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同时包含照明与清运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两个问题的一段原文。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82137" y="1878330"/>
            <a:ext cx="1808455" cy="1935671"/>
            <a:chOff x="3382137" y="1878330"/>
            <a:chExt cx="1808455" cy="1935671"/>
          </a:xfrm>
        </p:grpSpPr>
        <p:sp>
          <p:nvSpPr>
            <p:cNvPr id="17" name="TextBox 17"/>
            <p:cNvSpPr txBox="1"/>
            <p:nvPr/>
          </p:nvSpPr>
          <p:spPr>
            <a:xfrm>
              <a:off x="338213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0042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1281" y="2815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检查草稿与候选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3567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两个草稿，各带相似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93567" y="3549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事项候选与依据。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72962" y="1878330"/>
            <a:ext cx="1660779" cy="1935671"/>
            <a:chOff x="6172962" y="1878330"/>
            <a:chExt cx="1660779" cy="1935671"/>
          </a:xfrm>
        </p:grpSpPr>
        <p:sp>
          <p:nvSpPr>
            <p:cNvPr id="23" name="TextBox 23"/>
            <p:cNvSpPr txBox="1"/>
            <p:nvPr/>
          </p:nvSpPr>
          <p:spPr>
            <a:xfrm>
              <a:off x="617296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D97B29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9125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210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分别作出决策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439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照明关联已有事项；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3549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清运问题新建事项。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963787" y="1878330"/>
            <a:ext cx="1554023" cy="1935671"/>
            <a:chOff x="8963787" y="1878330"/>
            <a:chExt cx="1554023" cy="1935671"/>
          </a:xfrm>
        </p:grpSpPr>
        <p:sp>
          <p:nvSpPr>
            <p:cNvPr id="29" name="TextBox 29"/>
            <p:cNvSpPr txBox="1"/>
            <p:nvPr/>
          </p:nvSpPr>
          <p:spPr>
            <a:xfrm>
              <a:off x="896378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98207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72931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查看结果联动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75217" y="3283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来源、处理记录与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75217" y="3549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首页统计变化。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476750"/>
            <a:ext cx="10972800" cy="1238250"/>
            <a:chOff x="609600" y="4476750"/>
            <a:chExt cx="1097280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4476750"/>
              <a:ext cx="10972800" cy="1238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5642" y="48453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演示说明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642" y="5207318"/>
              <a:ext cx="7947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演示数据为合成样例；现场标注实际运行的模型模式——真实 Provider，或用于流程验证的 Mock。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容错 · 建议进入记录的保护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确认、修改、失败，都有路径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1714500"/>
            <a:ext cx="10972800" cy="4191000"/>
            <a:chOff x="609600" y="1714500"/>
            <a:chExt cx="10972800" cy="4191000"/>
          </a:xfrm>
        </p:grpSpPr>
        <p:sp>
          <p:nvSpPr>
            <p:cNvPr id="7" name="Line 7"/>
            <p:cNvSpPr/>
            <p:nvPr/>
          </p:nvSpPr>
          <p:spPr>
            <a:xfrm>
              <a:off x="60960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932" y="1844040"/>
            <a:ext cx="4015740" cy="1768983"/>
            <a:chOff x="598932" y="1844040"/>
            <a:chExt cx="4015740" cy="1768983"/>
          </a:xfrm>
        </p:grpSpPr>
        <p:grpSp>
          <p:nvGrpSpPr>
            <p:cNvPr id="12" name="Group 12"/>
            <p:cNvGrpSpPr/>
            <p:nvPr/>
          </p:nvGrpSpPr>
          <p:grpSpPr>
            <a:xfrm>
              <a:off x="660400" y="1846522"/>
              <a:ext cx="198178" cy="198178"/>
              <a:chOff x="660400" y="1846522"/>
              <a:chExt cx="198178" cy="19817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60400" y="1846522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1050" y="1873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57656" y="1844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草稿可修改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23879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新建事项采用人工确认后的标题、地点、优先级，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2673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并留下修改记录。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94932" y="1841500"/>
            <a:ext cx="3107055" cy="1771523"/>
            <a:chOff x="6694932" y="1841500"/>
            <a:chExt cx="3107055" cy="1771523"/>
          </a:xfrm>
        </p:grpSpPr>
        <p:grpSp>
          <p:nvGrpSpPr>
            <p:cNvPr id="22" name="Group 22"/>
            <p:cNvGrpSpPr/>
            <p:nvPr/>
          </p:nvGrpSpPr>
          <p:grpSpPr>
            <a:xfrm>
              <a:off x="6769100" y="1841500"/>
              <a:ext cx="190500" cy="215899"/>
              <a:chOff x="6769100" y="1841500"/>
              <a:chExt cx="190500" cy="2158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69100" y="184150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83400" y="20065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19900" y="18923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819900" y="1943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153656" y="1844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批量确认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98742" y="23879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新建、关联与处理记录写入同一事务；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8742" y="2673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决策不完整则整体拒绝。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4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8932" y="4114800"/>
            <a:ext cx="2380107" cy="1765173"/>
            <a:chOff x="598932" y="4114800"/>
            <a:chExt cx="2380107" cy="1765173"/>
          </a:xfrm>
        </p:grpSpPr>
        <p:grpSp>
          <p:nvGrpSpPr>
            <p:cNvPr id="30" name="Group 30"/>
            <p:cNvGrpSpPr/>
            <p:nvPr/>
          </p:nvGrpSpPr>
          <p:grpSpPr>
            <a:xfrm>
              <a:off x="647700" y="4114800"/>
              <a:ext cx="228599" cy="228599"/>
              <a:chOff x="647700" y="4114800"/>
              <a:chExt cx="228599" cy="2285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47700" y="41148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3900" y="42037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57656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防重复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742" y="4673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已确认的反馈拒绝重复确认；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2742" y="4959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状态门禁拦住非法流转。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8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94932" y="4122600"/>
            <a:ext cx="2925318" cy="1757373"/>
            <a:chOff x="6694932" y="4122600"/>
            <a:chExt cx="2925318" cy="1757373"/>
          </a:xfrm>
        </p:grpSpPr>
        <p:grpSp>
          <p:nvGrpSpPr>
            <p:cNvPr id="38" name="Group 38"/>
            <p:cNvGrpSpPr/>
            <p:nvPr/>
          </p:nvGrpSpPr>
          <p:grpSpPr>
            <a:xfrm>
              <a:off x="6756400" y="4122600"/>
              <a:ext cx="203199" cy="213000"/>
              <a:chOff x="6756400" y="4122600"/>
              <a:chExt cx="203199" cy="213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756400" y="41226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56400" y="4241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53656" y="4130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失败兜底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8742" y="467391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分析失败可重试；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8742" y="49596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符合条件的反馈可转人工手动创建。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4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架构 · 分层职责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模型提取与业务规则，各归其位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600200"/>
            <a:ext cx="10972800" cy="838200"/>
            <a:chOff x="609600" y="1600200"/>
            <a:chExt cx="10972800" cy="838200"/>
          </a:xfrm>
        </p:grpSpPr>
        <p:sp>
          <p:nvSpPr>
            <p:cNvPr id="7" name="Rectangle 7"/>
            <p:cNvSpPr/>
            <p:nvPr/>
          </p:nvSpPr>
          <p:spPr>
            <a:xfrm>
              <a:off x="609600" y="16002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5098" y="17678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440" y="2102168"/>
              <a:ext cx="967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Web 工作台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16002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26205" y="1949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388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162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6106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880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2590800"/>
            <a:ext cx="10972800" cy="842201"/>
            <a:chOff x="609600" y="2590800"/>
            <a:chExt cx="10972800" cy="842201"/>
          </a:xfrm>
        </p:grpSpPr>
        <p:sp>
          <p:nvSpPr>
            <p:cNvPr id="17" name="Rectangle 17"/>
            <p:cNvSpPr/>
            <p:nvPr/>
          </p:nvSpPr>
          <p:spPr>
            <a:xfrm>
              <a:off x="609600" y="25908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462088" y="2738438"/>
              <a:ext cx="200025" cy="200025"/>
              <a:chOff x="1462088" y="273843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484313" y="276066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28763" y="28051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4620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4620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53987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58432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6398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398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58432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3987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52804" y="31689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AI 适配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67000" y="25908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86771" y="2940368"/>
              <a:ext cx="456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Mock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6388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0141" y="2940368"/>
              <a:ext cx="492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Qwen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6106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47861" y="2940368"/>
              <a:ext cx="621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OpenAI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3581400"/>
            <a:ext cx="10972800" cy="838200"/>
            <a:chOff x="609600" y="3581400"/>
            <a:chExt cx="10972800" cy="838200"/>
          </a:xfrm>
        </p:grpSpPr>
        <p:sp>
          <p:nvSpPr>
            <p:cNvPr id="37" name="Rectangle 37"/>
            <p:cNvSpPr/>
            <p:nvPr/>
          </p:nvSpPr>
          <p:spPr>
            <a:xfrm>
              <a:off x="609600" y="35814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05098" y="37490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1768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业务控制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67000" y="35814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6407" y="3930968"/>
              <a:ext cx="1130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Schema 校验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8958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12219" y="3930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候选排序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70560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16895" y="3930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人工确认门禁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3535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74881" y="3930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状态机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4572000"/>
            <a:ext cx="10972800" cy="842201"/>
            <a:chOff x="609600" y="4572000"/>
            <a:chExt cx="10972800" cy="842201"/>
          </a:xfrm>
        </p:grpSpPr>
        <p:sp>
          <p:nvSpPr>
            <p:cNvPr id="49" name="Rectangle 49"/>
            <p:cNvSpPr/>
            <p:nvPr/>
          </p:nvSpPr>
          <p:spPr>
            <a:xfrm>
              <a:off x="609600" y="45720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473200" y="4719638"/>
              <a:ext cx="177801" cy="200025"/>
              <a:chOff x="1473200" y="4719638"/>
              <a:chExt cx="177801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473200" y="47196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473200" y="47529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473200" y="48196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191768" y="5150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数据记录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67000" y="45720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934843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原始反馈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0862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358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53625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1215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389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885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79152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9368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处理记录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3504" y="5715000"/>
            <a:ext cx="10984992" cy="499301"/>
            <a:chOff x="603504" y="5715000"/>
            <a:chExt cx="10984992" cy="499301"/>
          </a:xfrm>
        </p:grpSpPr>
        <p:sp>
          <p:nvSpPr>
            <p:cNvPr id="66" name="Line 66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3504" y="59664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技术基础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07642" y="5950268"/>
              <a:ext cx="4713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 · React · TypeScript · Zod · Prisma · SQLite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80528" y="5966460"/>
              <a:ext cx="380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真实模型效果需专项实测 · 重复候选未用 Embedding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3504" y="6442710"/>
            <a:ext cx="10984992" cy="234696"/>
            <a:chOff x="603504" y="644271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4427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51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背书 · 工程证据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可核验的，才是可信的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1312" y="1714500"/>
            <a:ext cx="3371088" cy="1724406"/>
            <a:chOff x="591312" y="1714500"/>
            <a:chExt cx="3371088" cy="1724406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312" y="216408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116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286702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项单元测试 · 全部通过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3204210"/>
              <a:ext cx="2649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覆盖 AI 契约、业务规则、查重服务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48912" y="1714500"/>
            <a:ext cx="3371088" cy="1724406"/>
            <a:chOff x="4248912" y="1714500"/>
            <a:chExt cx="3371088" cy="1724406"/>
          </a:xfrm>
        </p:grpSpPr>
        <p:sp>
          <p:nvSpPr>
            <p:cNvPr id="12" name="Line 12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9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87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95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项业务不变量 · 全部通过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104" y="3204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真实数据库上的集成断言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06512" y="1714500"/>
            <a:ext cx="3371088" cy="1724406"/>
            <a:chOff x="7906512" y="1714500"/>
            <a:chExt cx="3371088" cy="1724406"/>
          </a:xfrm>
        </p:grpSpPr>
        <p:sp>
          <p:nvSpPr>
            <p:cNvPr id="17" name="Line 17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65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22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71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项端到端流程 · 全部通过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8704" y="3204210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浏览器全链路，含 AI 降级路径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114800" y="1714500"/>
            <a:ext cx="3667125" cy="1714500"/>
            <a:chOff x="4114800" y="1714500"/>
            <a:chExt cx="3667125" cy="1714500"/>
          </a:xfrm>
        </p:grpSpPr>
        <p:sp>
          <p:nvSpPr>
            <p:cNvPr id="22" name="Line 22"/>
            <p:cNvSpPr/>
            <p:nvPr/>
          </p:nvSpPr>
          <p:spPr>
            <a:xfrm>
              <a:off x="41148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7724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1980" y="3810000"/>
            <a:ext cx="10980420" cy="2093595"/>
            <a:chOff x="601980" y="3810000"/>
            <a:chExt cx="10980420" cy="2093595"/>
          </a:xfrm>
        </p:grpSpPr>
        <p:sp>
          <p:nvSpPr>
            <p:cNvPr id="25" name="Line 25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980" y="4086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142" y="4102418"/>
              <a:ext cx="5755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从文字整理到事项跟踪的 MVP 完整实现，含 AI 降级与人工兜底路径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5163" y="4833938"/>
              <a:ext cx="155575" cy="200026"/>
              <a:chOff x="665163" y="4833938"/>
              <a:chExt cx="155575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5175" y="48339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5163" y="48339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613" y="49006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9613" y="49450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613" y="49895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82980" y="4848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工程证据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79142" y="48644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源码仓库、演示脚本与全部自动化测试用例，可现场复核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1980" y="561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如实说明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9142" y="5626418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个人参赛项目，暂无客户与合作数据——以工程证据呈现，不以演示代替客户验证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3504" y="6118860"/>
            <a:ext cx="6191250" cy="234696"/>
            <a:chOff x="603504" y="6118860"/>
            <a:chExt cx="6191250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118860"/>
              <a:ext cx="619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来源：仓库自动化测试套件 · 2026-08-31 本机实测 · 另含 6 个子包类型检查全部通过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商业 · 落地路径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从一个受控场景开始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714500"/>
            <a:ext cx="10972800" cy="683895"/>
            <a:chOff x="609600" y="1714500"/>
            <a:chExt cx="10972800" cy="683895"/>
          </a:xfrm>
        </p:grpSpPr>
        <p:sp>
          <p:nvSpPr>
            <p:cNvPr id="7" name="Polygon 7"/>
            <p:cNvSpPr/>
            <p:nvPr/>
          </p:nvSpPr>
          <p:spPr>
            <a:xfrm>
              <a:off x="6096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4675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242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场景共建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42291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5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071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流程验证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7848600" y="1714500"/>
              <a:ext cx="3733800" cy="666750"/>
            </a:xfrm>
            <a:custGeom>
              <a:avLst/>
              <a:gdLst/>
              <a:ahLst/>
              <a:cxnLst/>
              <a:rect l="l" t="t" r="r" b="b"/>
              <a:pathLst>
                <a:path w="3733800" h="666750">
                  <a:moveTo>
                    <a:pt x="0" y="0"/>
                  </a:moveTo>
                  <a:lnTo>
                    <a:pt x="3448050" y="0"/>
                  </a:lnTo>
                  <a:lnTo>
                    <a:pt x="3733800" y="333375"/>
                  </a:lnTo>
                  <a:lnTo>
                    <a:pt x="344805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1E4D4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429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E8C7B"/>
                  </a:solidFill>
                  <a:latin typeface="Arial"/>
                  <a:ea typeface="Arial"/>
                  <a:cs typeface="Arial"/>
                </a:rPr>
                <a:t>STEP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885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服务采购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857500"/>
            <a:ext cx="10972800" cy="2857500"/>
            <a:chOff x="609600" y="2857500"/>
            <a:chExt cx="10972800" cy="2857500"/>
          </a:xfrm>
        </p:grpSpPr>
        <p:sp>
          <p:nvSpPr>
            <p:cNvPr id="17" name="Line 17"/>
            <p:cNvSpPr/>
            <p:nvPr/>
          </p:nvSpPr>
          <p:spPr>
            <a:xfrm>
              <a:off x="6096000" y="28575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2742" y="3083719"/>
            <a:ext cx="2030997" cy="1035082"/>
            <a:chOff x="602742" y="3083719"/>
            <a:chExt cx="2030997" cy="1035082"/>
          </a:xfrm>
        </p:grpSpPr>
        <p:grpSp>
          <p:nvGrpSpPr>
            <p:cNvPr id="24" name="Group 24"/>
            <p:cNvGrpSpPr/>
            <p:nvPr/>
          </p:nvGrpSpPr>
          <p:grpSpPr>
            <a:xfrm>
              <a:off x="645319" y="3083719"/>
              <a:ext cx="214313" cy="214313"/>
              <a:chOff x="645319" y="3083719"/>
              <a:chExt cx="214313" cy="2143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9131" y="3083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45319" y="3226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0100" y="3085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3913" y="3228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39368" y="30984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使用者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742" y="35880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社区工作人员与网格员——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每天处理居民反馈的人。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97218" y="3098482"/>
            <a:ext cx="2014347" cy="1020319"/>
            <a:chOff x="6697218" y="3098482"/>
            <a:chExt cx="2014347" cy="1020319"/>
          </a:xfrm>
        </p:grpSpPr>
        <p:sp>
          <p:nvSpPr>
            <p:cNvPr id="29" name="TextBox 29"/>
            <p:cNvSpPr txBox="1"/>
            <p:nvPr/>
          </p:nvSpPr>
          <p:spPr>
            <a:xfrm>
              <a:off x="6697218" y="3098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潜在付费方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8742" y="358806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社区服务运营主体——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8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预算与采购路径需验证。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4606123"/>
            <a:ext cx="1622088" cy="1036678"/>
            <a:chOff x="602742" y="4606123"/>
            <a:chExt cx="1622088" cy="1036678"/>
          </a:xfrm>
        </p:grpSpPr>
        <p:grpSp>
          <p:nvGrpSpPr>
            <p:cNvPr id="38" name="Group 38"/>
            <p:cNvGrpSpPr/>
            <p:nvPr/>
          </p:nvGrpSpPr>
          <p:grpSpPr>
            <a:xfrm>
              <a:off x="645319" y="4606123"/>
              <a:ext cx="214312" cy="215909"/>
              <a:chOff x="645319" y="4606123"/>
              <a:chExt cx="214312" cy="21590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6756" y="470296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35719"/>
                    </a:moveTo>
                    <a:cubicBezTo>
                      <a:pt x="0" y="55447"/>
                      <a:pt x="31980" y="71438"/>
                      <a:pt x="71438" y="71438"/>
                    </a:cubicBezTo>
                    <a:cubicBezTo>
                      <a:pt x="110895" y="71438"/>
                      <a:pt x="142875" y="55447"/>
                      <a:pt x="142875" y="35719"/>
                    </a:cubicBezTo>
                    <a:cubicBezTo>
                      <a:pt x="142875" y="15990"/>
                      <a:pt x="110895" y="0"/>
                      <a:pt x="71438" y="0"/>
                    </a:cubicBezTo>
                    <a:cubicBezTo>
                      <a:pt x="31980" y="0"/>
                      <a:pt x="0" y="15990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6756" y="4738688"/>
                <a:ext cx="14287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83344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7342"/>
                      <a:pt x="31980" y="83344"/>
                      <a:pt x="71438" y="83344"/>
                    </a:cubicBezTo>
                    <a:cubicBezTo>
                      <a:pt x="110895" y="83344"/>
                      <a:pt x="142875" y="67342"/>
                      <a:pt x="142875" y="47625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5319" y="4606123"/>
                <a:ext cx="142875" cy="7462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4628">
                    <a:moveTo>
                      <a:pt x="0" y="37314"/>
                    </a:moveTo>
                    <a:cubicBezTo>
                      <a:pt x="0" y="50078"/>
                      <a:pt x="13621" y="61865"/>
                      <a:pt x="35719" y="68247"/>
                    </a:cubicBezTo>
                    <a:cubicBezTo>
                      <a:pt x="57817" y="74628"/>
                      <a:pt x="85058" y="74628"/>
                      <a:pt x="107156" y="68247"/>
                    </a:cubicBezTo>
                    <a:cubicBezTo>
                      <a:pt x="129254" y="61865"/>
                      <a:pt x="142875" y="50078"/>
                      <a:pt x="142875" y="37314"/>
                    </a:cubicBezTo>
                    <a:cubicBezTo>
                      <a:pt x="142875" y="24551"/>
                      <a:pt x="129254" y="12764"/>
                      <a:pt x="107156" y="6382"/>
                    </a:cubicBezTo>
                    <a:cubicBezTo>
                      <a:pt x="85058" y="0"/>
                      <a:pt x="57817" y="0"/>
                      <a:pt x="35719" y="6382"/>
                    </a:cubicBezTo>
                    <a:cubicBezTo>
                      <a:pt x="13621" y="12764"/>
                      <a:pt x="0" y="24551"/>
                      <a:pt x="0" y="37314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319" y="4643438"/>
                <a:ext cx="238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29635"/>
                      <a:pt x="9192" y="136327"/>
                      <a:pt x="23812" y="14287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5319" y="47029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0"/>
                    </a:moveTo>
                    <a:cubicBezTo>
                      <a:pt x="0" y="10573"/>
                      <a:pt x="9192" y="17264"/>
                      <a:pt x="23812" y="23812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39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候选收入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742" y="51120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部署与配置服务费 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42" y="5378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持续运维服务费。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98742" y="4602492"/>
            <a:ext cx="1831086" cy="1040309"/>
            <a:chOff x="6698742" y="4602492"/>
            <a:chExt cx="1831086" cy="1040309"/>
          </a:xfrm>
        </p:grpSpPr>
        <p:grpSp>
          <p:nvGrpSpPr>
            <p:cNvPr id="45" name="Group 45"/>
            <p:cNvGrpSpPr/>
            <p:nvPr/>
          </p:nvGrpSpPr>
          <p:grpSpPr>
            <a:xfrm>
              <a:off x="6736092" y="4602492"/>
              <a:ext cx="224766" cy="224766"/>
              <a:chOff x="6736092" y="4602492"/>
              <a:chExt cx="224766" cy="22476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736092" y="4602492"/>
                <a:ext cx="224766" cy="224766"/>
              </a:xfrm>
              <a:custGeom>
                <a:avLst/>
                <a:gdLst/>
                <a:ahLst/>
                <a:cxnLst/>
                <a:rect l="l" t="t" r="r" b="b"/>
                <a:pathLst>
                  <a:path w="224766" h="224766">
                    <a:moveTo>
                      <a:pt x="92440" y="20907"/>
                    </a:moveTo>
                    <a:cubicBezTo>
                      <a:pt x="97512" y="0"/>
                      <a:pt x="127254" y="0"/>
                      <a:pt x="132326" y="20907"/>
                    </a:cubicBezTo>
                    <a:cubicBezTo>
                      <a:pt x="133870" y="27278"/>
                      <a:pt x="138363" y="32528"/>
                      <a:pt x="144419" y="35037"/>
                    </a:cubicBezTo>
                    <a:cubicBezTo>
                      <a:pt x="150474" y="37546"/>
                      <a:pt x="157364" y="37012"/>
                      <a:pt x="162961" y="33599"/>
                    </a:cubicBezTo>
                    <a:cubicBezTo>
                      <a:pt x="181332" y="22408"/>
                      <a:pt x="202371" y="43434"/>
                      <a:pt x="191179" y="61817"/>
                    </a:cubicBezTo>
                    <a:cubicBezTo>
                      <a:pt x="187771" y="67411"/>
                      <a:pt x="187238" y="74296"/>
                      <a:pt x="189744" y="80348"/>
                    </a:cubicBezTo>
                    <a:cubicBezTo>
                      <a:pt x="192250" y="86400"/>
                      <a:pt x="197494" y="90892"/>
                      <a:pt x="203859" y="92440"/>
                    </a:cubicBezTo>
                    <a:cubicBezTo>
                      <a:pt x="224766" y="97512"/>
                      <a:pt x="224766" y="127254"/>
                      <a:pt x="203859" y="132326"/>
                    </a:cubicBezTo>
                    <a:cubicBezTo>
                      <a:pt x="197488" y="133870"/>
                      <a:pt x="192238" y="138363"/>
                      <a:pt x="189729" y="144419"/>
                    </a:cubicBezTo>
                    <a:cubicBezTo>
                      <a:pt x="187220" y="150474"/>
                      <a:pt x="187754" y="157364"/>
                      <a:pt x="191167" y="162961"/>
                    </a:cubicBezTo>
                    <a:cubicBezTo>
                      <a:pt x="202359" y="181332"/>
                      <a:pt x="181332" y="202371"/>
                      <a:pt x="162949" y="191179"/>
                    </a:cubicBezTo>
                    <a:cubicBezTo>
                      <a:pt x="157355" y="187771"/>
                      <a:pt x="150470" y="187238"/>
                      <a:pt x="144418" y="189744"/>
                    </a:cubicBezTo>
                    <a:cubicBezTo>
                      <a:pt x="138366" y="192250"/>
                      <a:pt x="133874" y="197494"/>
                      <a:pt x="132326" y="203859"/>
                    </a:cubicBezTo>
                    <a:cubicBezTo>
                      <a:pt x="127254" y="224766"/>
                      <a:pt x="97512" y="224766"/>
                      <a:pt x="92440" y="203859"/>
                    </a:cubicBezTo>
                    <a:cubicBezTo>
                      <a:pt x="90897" y="197488"/>
                      <a:pt x="86403" y="192238"/>
                      <a:pt x="80348" y="189729"/>
                    </a:cubicBezTo>
                    <a:cubicBezTo>
                      <a:pt x="74292" y="187220"/>
                      <a:pt x="67402" y="187754"/>
                      <a:pt x="61805" y="191167"/>
                    </a:cubicBezTo>
                    <a:cubicBezTo>
                      <a:pt x="43434" y="202359"/>
                      <a:pt x="22396" y="181332"/>
                      <a:pt x="33588" y="162949"/>
                    </a:cubicBezTo>
                    <a:cubicBezTo>
                      <a:pt x="36995" y="157355"/>
                      <a:pt x="37528" y="150470"/>
                      <a:pt x="35022" y="144418"/>
                    </a:cubicBezTo>
                    <a:cubicBezTo>
                      <a:pt x="32516" y="138366"/>
                      <a:pt x="27272" y="133874"/>
                      <a:pt x="20907" y="132326"/>
                    </a:cubicBezTo>
                    <a:cubicBezTo>
                      <a:pt x="0" y="127254"/>
                      <a:pt x="0" y="97512"/>
                      <a:pt x="20907" y="92440"/>
                    </a:cubicBezTo>
                    <a:cubicBezTo>
                      <a:pt x="27278" y="90897"/>
                      <a:pt x="32528" y="86403"/>
                      <a:pt x="35037" y="80348"/>
                    </a:cubicBezTo>
                    <a:cubicBezTo>
                      <a:pt x="37546" y="74292"/>
                      <a:pt x="37012" y="67402"/>
                      <a:pt x="33599" y="61805"/>
                    </a:cubicBezTo>
                    <a:cubicBezTo>
                      <a:pt x="22408" y="43434"/>
                      <a:pt x="43434" y="22396"/>
                      <a:pt x="61817" y="33588"/>
                    </a:cubicBezTo>
                    <a:cubicBezTo>
                      <a:pt x="73724" y="40827"/>
                      <a:pt x="89154" y="34421"/>
                      <a:pt x="92440" y="2090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12756" y="46791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35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主要成本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8742" y="5112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模型调用、部署、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742" y="5378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安全合规与用户支持。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3504" y="5981700"/>
            <a:ext cx="10978896" cy="448056"/>
            <a:chOff x="603504" y="5981700"/>
            <a:chExt cx="10978896" cy="448056"/>
          </a:xfrm>
        </p:grpSpPr>
        <p:sp>
          <p:nvSpPr>
            <p:cNvPr id="50" name="Line 50"/>
            <p:cNvSpPr/>
            <p:nvPr/>
          </p:nvSpPr>
          <p:spPr>
            <a:xfrm>
              <a:off x="609600" y="5981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504" y="6195060"/>
              <a:ext cx="7459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商业化目前为待验证方案：先在真实流程中证明价值，再谈服务收费——当前无已验证价格、合同或收入。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验证 · 下一步实验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207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是否省时，是否增加误判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38300"/>
            <a:ext cx="10972800" cy="857250"/>
            <a:chOff x="609600" y="1638300"/>
            <a:chExt cx="10972800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1638300"/>
              <a:ext cx="10972800" cy="857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304" y="18897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对照实验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62175"/>
              <a:ext cx="6997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同一批经授权、脱敏的反馈——人工整理 vs OneCase 辅助整理，逐条对照测量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0456" y="2952750"/>
            <a:ext cx="3361944" cy="2486406"/>
            <a:chOff x="600456" y="2952750"/>
            <a:chExt cx="3361944" cy="2486406"/>
          </a:xfrm>
        </p:grpSpPr>
        <p:sp>
          <p:nvSpPr>
            <p:cNvPr id="11" name="Line 11"/>
            <p:cNvSpPr/>
            <p:nvPr/>
          </p:nvSpPr>
          <p:spPr>
            <a:xfrm>
              <a:off x="6096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47700" y="3238500"/>
              <a:ext cx="228599" cy="228599"/>
              <a:chOff x="647700" y="3238500"/>
              <a:chExt cx="228599" cy="2285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49300" y="33401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8500" y="32893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47700" y="32385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004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主要指标 · 速度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4388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从原始反馈到确认事项的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4673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中位耗时。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5204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是否真的省时间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58056" y="2952750"/>
            <a:ext cx="3361944" cy="2486406"/>
            <a:chOff x="4258056" y="2952750"/>
            <a:chExt cx="3361944" cy="2486406"/>
          </a:xfrm>
        </p:grpSpPr>
        <p:sp>
          <p:nvSpPr>
            <p:cNvPr id="21" name="Line 21"/>
            <p:cNvSpPr/>
            <p:nvPr/>
          </p:nvSpPr>
          <p:spPr>
            <a:xfrm>
              <a:off x="42672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305300" y="3251200"/>
              <a:ext cx="228600" cy="212724"/>
              <a:chOff x="4305300" y="3251200"/>
              <a:chExt cx="228600" cy="21272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05300" y="33528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457700" y="33020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381500" y="325120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18000" y="345439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2580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质量指标 · 准确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03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漏项、关键字段错误、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0342" y="46739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误关联、人工修改次数。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1104" y="5204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是否引入新的错误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15656" y="2952750"/>
            <a:ext cx="3361944" cy="2486406"/>
            <a:chOff x="7915656" y="2952750"/>
            <a:chExt cx="3361944" cy="2486406"/>
          </a:xfrm>
        </p:grpSpPr>
        <p:sp>
          <p:nvSpPr>
            <p:cNvPr id="32" name="Line 32"/>
            <p:cNvSpPr/>
            <p:nvPr/>
          </p:nvSpPr>
          <p:spPr>
            <a:xfrm>
              <a:off x="79248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88300" y="323850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156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运行指标 · 成本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179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模型失败率、人工兜底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7942" y="4673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频次、单次使用成本。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18704" y="5204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跑起来贵不贵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14800" y="2952750"/>
            <a:ext cx="3667125" cy="2571750"/>
            <a:chOff x="4114800" y="2952750"/>
            <a:chExt cx="3667125" cy="2571750"/>
          </a:xfrm>
        </p:grpSpPr>
        <p:sp>
          <p:nvSpPr>
            <p:cNvPr id="39" name="Line 39"/>
            <p:cNvSpPr/>
            <p:nvPr/>
          </p:nvSpPr>
          <p:spPr>
            <a:xfrm>
              <a:off x="41148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7724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0456" y="5810250"/>
            <a:ext cx="10981944" cy="595884"/>
            <a:chOff x="600456" y="5810250"/>
            <a:chExt cx="10981944" cy="595884"/>
          </a:xfrm>
        </p:grpSpPr>
        <p:sp>
          <p:nvSpPr>
            <p:cNvPr id="42" name="Line 4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0456" y="6054090"/>
              <a:ext cx="7187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验收阈值与场景方共同确定；是否继续投入，由实测数据决定。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968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边界 · 能力如实申报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3325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只讲已经实现的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352800" cy="2518601"/>
            <a:chOff x="609600" y="1714500"/>
            <a:chExt cx="3352800" cy="2518601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2E7D5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28650" y="188595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2E7D5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当前已实现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47700" y="26479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542" y="2597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文字输入与长度校验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47700" y="31051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5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草稿检查与编辑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47700" y="35623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3511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相似候选与人工确认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700" y="40195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542" y="3969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事项跟踪与统计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57675" y="1714500"/>
            <a:ext cx="3362325" cy="2518601"/>
            <a:chOff x="4257675" y="1714500"/>
            <a:chExt cx="3362325" cy="2518601"/>
          </a:xfrm>
        </p:grpSpPr>
        <p:sp>
          <p:nvSpPr>
            <p:cNvPr id="19" name="Line 19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B5442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257675" y="1876425"/>
              <a:ext cx="171450" cy="171450"/>
            </a:xfrm>
            <a:prstGeom prst="ellipse">
              <a:avLst/>
            </a:prstGeom>
            <a:noFill/>
            <a:ln w="23812">
              <a:solidFill>
                <a:srgbClr val="B5442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09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试点前补齐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305300" y="26479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5142" y="2597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身份认证与权限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305300" y="31051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142" y="3054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组织数据隔离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305300" y="35623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65142" y="3511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输入与访问限制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305300" y="40195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65142" y="3969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草稿找回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714500"/>
            <a:ext cx="3371850" cy="2061401"/>
            <a:chOff x="7905750" y="1714500"/>
            <a:chExt cx="3371850" cy="2061401"/>
          </a:xfrm>
        </p:grpSpPr>
        <p:sp>
          <p:nvSpPr>
            <p:cNvPr id="31" name="Line 31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5E8C7B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905750" y="1876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23812">
              <a:solidFill>
                <a:srgbClr val="5E8C7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8556" y="1863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后续评估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7943850" y="26479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22742" y="25974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图片 / 语音输入</a:t>
              </a:r>
            </a:p>
          </p:txBody>
        </p:sp>
        <p:sp>
          <p:nvSpPr>
            <p:cNvPr id="36" name="Polygon 36"/>
            <p:cNvSpPr/>
            <p:nvPr/>
          </p:nvSpPr>
          <p:spPr>
            <a:xfrm>
              <a:off x="7943850" y="3105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27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微信等渠道接入</a:t>
              </a:r>
            </a:p>
          </p:txBody>
        </p:sp>
        <p:sp>
          <p:nvSpPr>
            <p:cNvPr id="38" name="Polygon 38"/>
            <p:cNvSpPr/>
            <p:nvPr/>
          </p:nvSpPr>
          <p:spPr>
            <a:xfrm>
              <a:off x="7943850" y="3562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22742" y="3511868"/>
              <a:ext cx="2007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语义检索（Embedding）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114800" y="1714500"/>
            <a:ext cx="3667125" cy="2762250"/>
            <a:chOff x="4114800" y="1714500"/>
            <a:chExt cx="3667125" cy="2762250"/>
          </a:xfrm>
        </p:grpSpPr>
        <p:sp>
          <p:nvSpPr>
            <p:cNvPr id="41" name="Line 41"/>
            <p:cNvSpPr/>
            <p:nvPr/>
          </p:nvSpPr>
          <p:spPr>
            <a:xfrm>
              <a:off x="41148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77724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99694" y="4953000"/>
            <a:ext cx="10982706" cy="1032701"/>
            <a:chOff x="599694" y="4953000"/>
            <a:chExt cx="10982706" cy="1032701"/>
          </a:xfrm>
        </p:grpSpPr>
        <p:sp>
          <p:nvSpPr>
            <p:cNvPr id="44" name="Line 44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694" y="5218748"/>
              <a:ext cx="4180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如实划界，比夸大更能建立信任。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742" y="5721668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页面中的图片、语音入口样式尚未打通，不计入已实现能力；当前版本面向受控演示，不声称满足真实部署条件。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合规 · 红线对照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项目贡献与 AI 辅助说明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03504" y="1674019"/>
            <a:ext cx="6284976" cy="3117437"/>
            <a:chOff x="603504" y="1674019"/>
            <a:chExt cx="6284976" cy="3117437"/>
          </a:xfrm>
        </p:grpSpPr>
        <p:grpSp>
          <p:nvGrpSpPr>
            <p:cNvPr id="12" name="Group 12"/>
            <p:cNvGrpSpPr/>
            <p:nvPr/>
          </p:nvGrpSpPr>
          <p:grpSpPr>
            <a:xfrm>
              <a:off x="645319" y="1674019"/>
              <a:ext cx="214313" cy="211931"/>
              <a:chOff x="645319" y="1674019"/>
              <a:chExt cx="214313" cy="2119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92944" y="187642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1038" y="1697831"/>
                <a:ext cx="14287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">
                    <a:moveTo>
                      <a:pt x="0" y="11906"/>
                    </a:moveTo>
                    <a:lnTo>
                      <a:pt x="71438" y="0"/>
                    </a:lnTo>
                    <a:lnTo>
                      <a:pt x="142875" y="119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2475" y="1674019"/>
                <a:ext cx="9525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06">
                    <a:moveTo>
                      <a:pt x="0" y="0"/>
                    </a:moveTo>
                    <a:lnTo>
                      <a:pt x="0" y="2024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45319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8194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0130" y="1704975"/>
              <a:ext cx="1703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开源组件 License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095500"/>
              <a:ext cx="5905500" cy="4572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22355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组件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4142" y="22355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D40"/>
                  </a:solidFill>
                  <a:latin typeface="Arial"/>
                  <a:ea typeface="Arial"/>
                  <a:cs typeface="Arial"/>
                </a:rPr>
                <a:t>License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2749868"/>
              <a:ext cx="1908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Next.js/React/Zod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4142" y="2749868"/>
              <a:ext cx="32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MIT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480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3359468"/>
              <a:ext cx="60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Prisma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4142" y="3359468"/>
              <a:ext cx="1022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Apache-2.0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6576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342" y="3969068"/>
              <a:ext cx="1133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Lucide React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4142" y="3969068"/>
              <a:ext cx="282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ISC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2672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504" y="4556760"/>
              <a:ext cx="628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2026-08-31 全量扫描仓库 27 个直接依赖（含开发工具），无 GPL 等传染性协议。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41642" y="1674019"/>
            <a:ext cx="4540758" cy="1478756"/>
            <a:chOff x="7041642" y="1674019"/>
            <a:chExt cx="4540758" cy="1478756"/>
          </a:xfrm>
        </p:grpSpPr>
        <p:grpSp>
          <p:nvGrpSpPr>
            <p:cNvPr id="30" name="Group 30"/>
            <p:cNvGrpSpPr/>
            <p:nvPr/>
          </p:nvGrpSpPr>
          <p:grpSpPr>
            <a:xfrm>
              <a:off x="7068151" y="1674019"/>
              <a:ext cx="232508" cy="214312"/>
              <a:chOff x="7068151" y="1674019"/>
              <a:chExt cx="232508" cy="2143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068151" y="16740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27094" y="18407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479030" y="1704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项目贡献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1642" y="22164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OneCase 由不理不器个人团队独立开发，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1642" y="25022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负责产品定义、业务规则、功能实现与验证。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048500" y="3143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040880" y="3457575"/>
            <a:ext cx="3649218" cy="1347026"/>
            <a:chOff x="7040880" y="3457575"/>
            <a:chExt cx="3649218" cy="1347026"/>
          </a:xfrm>
        </p:grpSpPr>
        <p:sp>
          <p:nvSpPr>
            <p:cNvPr id="36" name="TextBox 36"/>
            <p:cNvSpPr txBox="1"/>
            <p:nvPr/>
          </p:nvSpPr>
          <p:spPr>
            <a:xfrm>
              <a:off x="7040880" y="3457575"/>
              <a:ext cx="1617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 辅助使用说明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1642" y="3969068"/>
              <a:ext cx="355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开发中使用 AI 编程工具辅助编码与测试；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1642" y="42548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产品判断、方案取舍与最终验收由参赛者负责。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1642" y="45405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框架、模型及第三方代码按来源说明。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8932" y="5143500"/>
            <a:ext cx="10983468" cy="755523"/>
            <a:chOff x="598932" y="5143500"/>
            <a:chExt cx="10983468" cy="755523"/>
          </a:xfrm>
        </p:grpSpPr>
        <p:sp>
          <p:nvSpPr>
            <p:cNvPr id="41" name="Line 41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8932" y="5488305"/>
              <a:ext cx="9012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原创边界清晰——参赛材料中的每一条声明，都可回溯到代码与测试。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D40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1295400"/>
            <a:ext cx="10991850" cy="2748534"/>
            <a:chOff x="590550" y="1295400"/>
            <a:chExt cx="10991850" cy="274853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1295400"/>
              <a:ext cx="19562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94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0550" y="2689860"/>
              <a:ext cx="92926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AFAF7"/>
                  </a:solidFill>
                  <a:latin typeface="Georgia"/>
                  <a:ea typeface="SimSun"/>
                  <a:cs typeface="Georgia"/>
                </a:rPr>
                <a:t>AI 整理建议，</a:t>
              </a:r>
              <a:r>
                <a:rPr lang="zh-CN" sz="42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人确认事实。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6918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让每条反馈有去向，每个事项可追踪。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4712018"/>
            <a:ext cx="3406140" cy="1070038"/>
            <a:chOff x="601980" y="4712018"/>
            <a:chExt cx="3406140" cy="1070038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7120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225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期待共建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5095875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真实场景 · 脱敏样本 · 流程评估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55473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欢迎就业务价值、人工确认机制与落地边界提问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2" name="Line 12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6404610"/>
              <a:ext cx="2179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不理不器 · AI+民生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0022" y="640461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Arial"/>
                  <a:cs typeface="Arial"/>
                </a:rPr>
                <a:t>Q &amp; A · 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不理不器</dc:creator>
  <cp:keywords/>
  <dc:description/>
  <dc:language/>
  <cp:lastModifiedBy>不理不器</cp:lastModifiedBy>
  <cp:revision>1</cp:revision>
  <dcterms:created xsi:type="dcterms:W3CDTF">2026-08-31T09:39:01Z</dcterms:created>
  <dcterms:modified xsi:type="dcterms:W3CDTF">2026-08-31T09:39:01Z</dcterms:modified>
  <cp:category/>
  <cp:contentStatus/>
</cp:coreProperties>
</file>